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97280"/>
          </a:xfrm>
          <a:prstGeom prst="rect">
            <a:avLst/>
          </a:prstGeom>
          <a:solidFill>
            <a:srgbClr val="071D49"/>
          </a:solidFill>
          <a:ln>
            <a:solidFill>
              <a:srgbClr val="071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292608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CROSSSIGNAL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58368"/>
            <a:ext cx="40233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AEE2EE"/>
                </a:solidFill>
                <a:latin typeface="Aptos"/>
              </a:defRPr>
            </a:pPr>
            <a:r>
              <a:t>An auditable cross-market options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92608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FFFFFF"/>
                </a:solidFill>
                <a:latin typeface="Aptos"/>
              </a:defRPr>
            </a:pPr>
            <a:r>
              <a:t>Omobolaji E Adeyan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621792"/>
            <a:ext cx="24231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AEE2EE"/>
                </a:solidFill>
                <a:latin typeface="Aptos"/>
              </a:defRPr>
            </a:pPr>
            <a:r>
              <a:t>Alpaca paper: PA3PDTUDIXDU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3337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071D49"/>
                </a:solidFill>
                <a:latin typeface="Aptos"/>
              </a:defRPr>
            </a:pPr>
            <a:r>
              <a:t>STRATEGY AND AI LOGIC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581912"/>
            <a:ext cx="3337560" cy="22860"/>
          </a:xfrm>
          <a:prstGeom prst="rect">
            <a:avLst/>
          </a:prstGeom>
          <a:solidFill>
            <a:srgbClr val="19B5D8"/>
          </a:solidFill>
          <a:ln>
            <a:solidFill>
              <a:srgbClr val="19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3337560" cy="2743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919" b="0">
                <a:solidFill>
                  <a:srgbClr val="455469"/>
                </a:solidFill>
                <a:latin typeface="Aptos"/>
              </a:defRPr>
            </a:pPr>
            <a:r>
              <a:t>CrossSignal asks whether a promising signal deserves execution. It synchronizes six lenses: equity implied volatility, Treasury curve, credit, realized volatility, rate expectations, and options positioning. A deterministic engine ranks cross-market disagreements. Claude proposes a structured thesis; a separate adversarial pass returns the strongest counterargument, missing evidence, alternative explanation, invalidation condition, and confidence penalty. Claude never receives broker authority.</a:t>
            </a:r>
            <a:br/>
            <a:br/>
            <a:r>
              <a:t>The SIGNAL protocol applies ten bounded perturbations, then seals the market snapshot, thesis, challenge, stability result, proposed portfolio, prediction horizon, and invalidation rule into a SHA-256 Decision Contract before any broker call. Later scoring compares the precommitted direction with inverse and cash counterfactuals.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26280"/>
            <a:ext cx="3337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071D49"/>
                </a:solidFill>
                <a:latin typeface="Aptos"/>
              </a:defRPr>
            </a:pPr>
            <a:r>
              <a:t>RISK GATES AND OPTIONS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782312"/>
            <a:ext cx="3337560" cy="22860"/>
          </a:xfrm>
          <a:prstGeom prst="rect">
            <a:avLst/>
          </a:prstGeom>
          <a:solidFill>
            <a:srgbClr val="19B5D8"/>
          </a:solidFill>
          <a:ln>
            <a:solidFill>
              <a:srgbClr val="19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4864608"/>
            <a:ext cx="3337560" cy="2148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455469"/>
                </a:solidFill>
                <a:latin typeface="Aptos"/>
              </a:defRPr>
            </a:pPr>
            <a:r>
              <a:t>Signals map only to defined-risk SPY, HYG, and TLT vertical spreads. Base gates require complete structure, maximum proposed loss ≤ $1,500, post-challenge confidence ≥ 55%, sufficient buying power, diversification, and zero fallback feeds. All legs then pass quote, Greeks, liquidity, bid-ask, stress, margin, and drawdown checks. One failed gate produces ABSTAIN. After entry, a persisted policy takes 50% of maximum profit, stops at 50% of maximum loss, exits after five trading days, or closes two days before expiry. Broker-leg reconciliation, fresh timestamps, an atomic claim, and a deterministic client order ID guard each multi-leg close.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7269480"/>
            <a:ext cx="3337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071D49"/>
                </a:solidFill>
                <a:latin typeface="Aptos"/>
              </a:defRPr>
            </a:pPr>
            <a:r>
              <a:t>ALPACA INFRASTRUCTURE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7525512"/>
            <a:ext cx="3337560" cy="22860"/>
          </a:xfrm>
          <a:prstGeom prst="rect">
            <a:avLst/>
          </a:prstGeom>
          <a:solidFill>
            <a:srgbClr val="19B5D8"/>
          </a:solidFill>
          <a:ln>
            <a:solidFill>
              <a:srgbClr val="19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7607808"/>
            <a:ext cx="3337560" cy="1508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919" b="0">
                <a:solidFill>
                  <a:srgbClr val="455469"/>
                </a:solidFill>
                <a:latin typeface="Aptos"/>
              </a:defRPr>
            </a:pPr>
            <a:r>
              <a:t>Alpaca's official MCP server supplies market data, options Greeks, account state, paper orders, spread valuation, the market clock, and reconciliation. Mutations require the exact paper endpoint and explicit local authorization; automated exits require a second switch. A separate entry kill switch preserves management of open positions. The public demo and GitHub Evidence Watch are read-only.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22191" y="1170432"/>
            <a:ext cx="3538728" cy="8001000"/>
          </a:xfrm>
          <a:prstGeom prst="rect">
            <a:avLst/>
          </a:prstGeom>
          <a:solidFill>
            <a:srgbClr val="EFF7FA"/>
          </a:solidFill>
          <a:ln>
            <a:solidFill>
              <a:srgbClr val="EF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0" y="1325880"/>
            <a:ext cx="3337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071D49"/>
                </a:solidFill>
                <a:latin typeface="Aptos"/>
              </a:defRPr>
            </a:pPr>
            <a:r>
              <a:t>SEPTEMBER 3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581912"/>
            <a:ext cx="3337560" cy="22860"/>
          </a:xfrm>
          <a:prstGeom prst="rect">
            <a:avLst/>
          </a:prstGeom>
          <a:solidFill>
            <a:srgbClr val="19B5D8"/>
          </a:solidFill>
          <a:ln>
            <a:solidFill>
              <a:srgbClr val="19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0" y="1664208"/>
            <a:ext cx="3337560" cy="3794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905" b="0">
                <a:solidFill>
                  <a:srgbClr val="455469"/>
                </a:solidFill>
                <a:latin typeface="Aptos"/>
              </a:defRPr>
            </a:pPr>
            <a:r>
              <a:t>LOCAL CONTRACT — CS-20260903-FE01A097</a:t>
            </a:r>
            <a:br/>
            <a:r>
              <a:t>Signal 82.4/100 · stability 90% · all feeds sourced live</a:t>
            </a:r>
            <a:br/>
            <a:r>
              <a:t>Confidence 68% → 53% · five of six base gates</a:t>
            </a:r>
            <a:br/>
            <a:br/>
            <a:r>
              <a:t>The adversarial review rejected the ‘cheap vol’ framing: IV rank came from a short local history, the put/call value was a narrow ATM proxy, and IV was already 1.26× realized volatility. Confidence fell below the fixed 55% floor, so no option preflight or order occurred.</a:t>
            </a:r>
            <a:br/>
            <a:br/>
            <a:r>
              <a:t>CLOUD CONTRACT — CS-20260903-5C194F65</a:t>
            </a:r>
            <a:br/>
            <a:r>
              <a:t>Signal 82 · stability 90 · execution 87 · 13/15 checks</a:t>
            </a:r>
            <a:br/>
            <a:r>
              <a:t>Confidence cleared at 56% and Greeks coverage was 6/6. Preflight rejected displayed volume 0 &lt; 10 and maximum relative spread 93.33% &gt; 25%. The after-hours option market was not executable; no order was queued.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5806440"/>
            <a:ext cx="3337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071D49"/>
                </a:solidFill>
                <a:latin typeface="Aptos"/>
              </a:defRPr>
            </a:pPr>
            <a:r>
              <a:t>HONEST LIMITATION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6062472"/>
            <a:ext cx="3337560" cy="22860"/>
          </a:xfrm>
          <a:prstGeom prst="rect">
            <a:avLst/>
          </a:prstGeom>
          <a:solidFill>
            <a:srgbClr val="19B5D8"/>
          </a:solidFill>
          <a:ln>
            <a:solidFill>
              <a:srgbClr val="19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6144768"/>
            <a:ext cx="3337560" cy="1417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919" b="0">
                <a:solidFill>
                  <a:srgbClr val="455469"/>
                </a:solidFill>
                <a:latin typeface="Aptos"/>
              </a:defRPr>
            </a:pPr>
            <a:r>
              <a:t>The fresh competition account has $100,000 cash, zero positions, and zero orders. CrossSignal therefore has no competition-account P&amp;L to claim. This weakens the P&amp;L judging dimension but is not an explicit eligibility failure. The agent did not loosen a gate or manufacture an after-hours paper trade for the demo.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7818120"/>
            <a:ext cx="33375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1050" b="1">
                <a:solidFill>
                  <a:srgbClr val="071D49"/>
                </a:solidFill>
                <a:latin typeface="Aptos"/>
              </a:defRPr>
            </a:pPr>
            <a:r>
              <a:t>LINKS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8074152"/>
            <a:ext cx="3337560" cy="22860"/>
          </a:xfrm>
          <a:prstGeom prst="rect">
            <a:avLst/>
          </a:prstGeom>
          <a:solidFill>
            <a:srgbClr val="19B5D8"/>
          </a:solidFill>
          <a:ln>
            <a:solidFill>
              <a:srgbClr val="19B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8156448"/>
            <a:ext cx="3337560" cy="11430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880" b="0">
                <a:solidFill>
                  <a:srgbClr val="455469"/>
                </a:solidFill>
                <a:latin typeface="Aptos"/>
              </a:defRPr>
            </a:pPr>
            <a:r>
              <a:t>Demo: crosssignal-ai-agent.streamlit.app</a:t>
            </a:r>
            <a:br/>
            <a:r>
              <a:t>Code: github.com/omobolajiadeyan/alpaca-cross-market-agent</a:t>
            </a:r>
            <a:br/>
            <a:r>
              <a:t>Evidence: GitHub Actions run 33805502192</a:t>
            </a:r>
            <a:br/>
            <a:br/>
            <a:r>
              <a:t>Paper trading only. Simulated results do not guarantee future performance. Not investment advice.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9555480"/>
            <a:ext cx="69494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spcAft>
                <a:spcPts val="0"/>
              </a:spcAft>
              <a:defRPr sz="940" b="1">
                <a:solidFill>
                  <a:srgbClr val="071D49"/>
                </a:solidFill>
                <a:latin typeface="Aptos"/>
              </a:defRPr>
            </a:pPr>
            <a:r>
              <a:t>59 automated tests · governed entry and exit · $100,000 fresh Alpaca paper account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