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fragmentation, weak AI accountability, and the absence of honest forward scoring.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sponsor-native market evidence and the paper execution lifecycle. Claude reasons, but deterministic code controls broker access.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The same policy evaluates both cases. The authorized replay shows the complete path when every gate passes. The live GitHub Evidence Watch contract scored 85 for signal and 100 for stability, but execution quality was 93 because one of fifteen gates failed—so the correct autonomous decision was abstention. Outcome evidence remains pending until the sealed horizon matures.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thirty-eight tests pass in GitHub, the scheduled cloud watcher sealed a live contract, and the system abstained because one risk gate failed. CrossSignal makes AI trading decisions inspectable, challengeable, reproducible, and measurable. Invite judges to open the live application, repository, and Actions evidence artifact.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4864" cy="384048"/>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67512"/>
            <a:ext cx="6583680" cy="320040"/>
          </a:xfrm>
          <a:prstGeom prst="rect">
            <a:avLst/>
          </a:prstGeom>
          <a:noFill/>
        </p:spPr>
        <p:txBody>
          <a:bodyPr wrap="square" anchor="t">
            <a:spAutoFit/>
          </a:bodyPr>
          <a:lstStyle/>
          <a:p>
            <a:pPr algn="l">
              <a:defRPr sz="1100" b="1">
                <a:solidFill>
                  <a:srgbClr val="72D4E8"/>
                </a:solidFill>
                <a:latin typeface="Aptos"/>
              </a:defRPr>
            </a:pPr>
            <a:r>
              <a:t>DECISION INTELLIGENCE FOR CROSS-MARKET TRADING</a:t>
            </a:r>
          </a:p>
        </p:txBody>
      </p:sp>
      <p:sp>
        <p:nvSpPr>
          <p:cNvPr id="5" name="TextBox 4"/>
          <p:cNvSpPr txBox="1"/>
          <p:nvPr/>
        </p:nvSpPr>
        <p:spPr>
          <a:xfrm>
            <a:off x="658368" y="1417320"/>
            <a:ext cx="8046720" cy="2057400"/>
          </a:xfrm>
          <a:prstGeom prst="rect">
            <a:avLst/>
          </a:prstGeom>
          <a:noFill/>
        </p:spPr>
        <p:txBody>
          <a:bodyPr wrap="square" anchor="t">
            <a:spAutoFit/>
          </a:bodyPr>
          <a:lstStyle/>
          <a:p>
            <a:pPr algn="l">
              <a:defRPr sz="4200" b="1">
                <a:solidFill>
                  <a:srgbClr val="FFFFFF"/>
                </a:solidFill>
                <a:latin typeface="Aptos Display"/>
              </a:defRPr>
            </a:pPr>
            <a:r>
              <a:t>Markets disagree.</a:t>
            </a:r>
            <a:br/>
            <a:r>
              <a:t>We trade the gap.</a:t>
            </a:r>
          </a:p>
        </p:txBody>
      </p:sp>
      <p:sp>
        <p:nvSpPr>
          <p:cNvPr id="6" name="TextBox 5"/>
          <p:cNvSpPr txBox="1"/>
          <p:nvPr/>
        </p:nvSpPr>
        <p:spPr>
          <a:xfrm>
            <a:off x="685800" y="3822191"/>
            <a:ext cx="7498079" cy="685800"/>
          </a:xfrm>
          <a:prstGeom prst="rect">
            <a:avLst/>
          </a:prstGeom>
          <a:noFill/>
        </p:spPr>
        <p:txBody>
          <a:bodyPr wrap="square" anchor="t">
            <a:spAutoFit/>
          </a:bodyPr>
          <a:lstStyle/>
          <a:p>
            <a:pPr algn="l">
              <a:defRPr sz="2000" b="0">
                <a:solidFill>
                  <a:srgbClr val="72D4E8"/>
                </a:solidFill>
                <a:latin typeface="Aptos"/>
              </a:defRPr>
            </a:pPr>
            <a:r>
              <a:t>An auditable AI trading agent that challenges, governs and scores every decision.</a:t>
            </a:r>
          </a:p>
        </p:txBody>
      </p:sp>
      <p:sp>
        <p:nvSpPr>
          <p:cNvPr id="7" name="Rounded Rectangle 6"/>
          <p:cNvSpPr/>
          <p:nvPr/>
        </p:nvSpPr>
        <p:spPr>
          <a:xfrm>
            <a:off x="8869680" y="-548640"/>
            <a:ext cx="4114800" cy="4114800"/>
          </a:xfrm>
          <a:prstGeom prst="round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28048" y="109728"/>
            <a:ext cx="2834640" cy="2834640"/>
          </a:xfrm>
          <a:prstGeom prst="round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715000"/>
            <a:ext cx="3657600" cy="365760"/>
          </a:xfrm>
          <a:prstGeom prst="rect">
            <a:avLst/>
          </a:prstGeom>
          <a:noFill/>
        </p:spPr>
        <p:txBody>
          <a:bodyPr wrap="square" anchor="t">
            <a:spAutoFit/>
          </a:bodyPr>
          <a:lstStyle/>
          <a:p>
            <a:pPr algn="l">
              <a:defRPr sz="1800" b="1">
                <a:solidFill>
                  <a:srgbClr val="FFFFFF"/>
                </a:solidFill>
                <a:latin typeface="Aptos"/>
              </a:defRPr>
            </a:pPr>
            <a:r>
              <a:t>CROSSSIGNAL</a:t>
            </a:r>
          </a:p>
        </p:txBody>
      </p:sp>
      <p:sp>
        <p:nvSpPr>
          <p:cNvPr id="10" name="TextBox 9"/>
          <p:cNvSpPr txBox="1"/>
          <p:nvPr/>
        </p:nvSpPr>
        <p:spPr>
          <a:xfrm>
            <a:off x="685800" y="6126480"/>
            <a:ext cx="4572000" cy="274320"/>
          </a:xfrm>
          <a:prstGeom prst="rect">
            <a:avLst/>
          </a:prstGeom>
          <a:noFill/>
        </p:spPr>
        <p:txBody>
          <a:bodyPr wrap="square" anchor="t">
            <a:spAutoFit/>
          </a:bodyPr>
          <a:lstStyle/>
          <a:p>
            <a:pPr algn="l">
              <a:defRPr sz="1200" b="0">
                <a:solidFill>
                  <a:srgbClr val="72D4E8"/>
                </a:solidFill>
                <a:latin typeface="Aptos"/>
              </a:defRPr>
            </a:pPr>
            <a:r>
              <a:t>Created by Omobolaji E Adeyan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Unmeasured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Most agents do not precommit a forecast and later score whether it was right.</a:t>
            </a:r>
          </a:p>
        </p:txBody>
      </p:sp>
      <p:sp>
        <p:nvSpPr>
          <p:cNvPr id="18" name="TextBox 1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sp>
        <p:nvSpPr>
          <p:cNvPr id="38" name="TextBox 3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9" name="TextBox 3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All-leg preflight</a:t>
            </a:r>
          </a:p>
          <a:p>
            <a:pPr>
              <a:spcAft>
                <a:spcPts val="1400"/>
              </a:spcAft>
              <a:defRPr sz="1500">
                <a:solidFill>
                  <a:srgbClr val="071D49"/>
                </a:solidFill>
                <a:latin typeface="Aptos"/>
              </a:defRPr>
            </a:pPr>
            <a:r>
              <a:t>•  Multi-leg paper orders</a:t>
            </a:r>
          </a:p>
          <a:p>
            <a:pPr>
              <a:spcAft>
                <a:spcPts val="1400"/>
              </a:spcAft>
              <a:defRPr sz="1500">
                <a:solidFill>
                  <a:srgbClr val="071D49"/>
                </a:solidFill>
                <a:latin typeface="Aptos"/>
              </a:defRPr>
            </a:pPr>
            <a:r>
              <a:t>•  Fill reconciliation</a:t>
            </a:r>
          </a:p>
          <a:p>
            <a:pPr>
              <a:spcAft>
                <a:spcPts val="1400"/>
              </a:spcAft>
              <a:defRPr sz="1500">
                <a:solidFill>
                  <a:srgbClr val="071D49"/>
                </a:solidFill>
                <a:latin typeface="Aptos"/>
              </a:defRPr>
            </a:pPr>
            <a:r>
              <a:t>•  Explicit recovery state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7" name="TextBox 16"/>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8" name="TextBox 1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Two defensible decisions.</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85</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100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93</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AUTHORIZED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All deterministic gates passed</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CLOUD EVIDENCE</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700" b="1">
                <a:solidFill>
                  <a:srgbClr val="071D49"/>
                </a:solidFill>
                <a:latin typeface="Aptos"/>
              </a:defRPr>
            </a:pPr>
            <a:r>
              <a:t>ABSTAIN · 14 of 15 gates passed</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CS-20260831-66AAE940 · sealed receipt · zero broker mutations</a:t>
            </a:r>
          </a:p>
        </p:txBody>
      </p:sp>
      <p:sp>
        <p:nvSpPr>
          <p:cNvPr id="26" name="TextBox 25"/>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7" name="TextBox 26"/>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News</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Untrusted context</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sp>
        <p:nvSpPr>
          <p:cNvPr id="32" name="TextBox 31"/>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3" name="TextBox 3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sp>
        <p:nvSpPr>
          <p:cNvPr id="21" name="TextBox 20"/>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2" name="TextBox 21"/>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40080"/>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4" name="TextBox 3"/>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5" name="TextBox 4"/>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38</a:t>
            </a:r>
          </a:p>
        </p:txBody>
      </p:sp>
      <p:sp>
        <p:nvSpPr>
          <p:cNvPr id="6" name="TextBox 5"/>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7" name="TextBox 6"/>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85/100</a:t>
            </a:r>
          </a:p>
        </p:txBody>
      </p:sp>
      <p:sp>
        <p:nvSpPr>
          <p:cNvPr id="8" name="TextBox 7"/>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live signal quality</a:t>
            </a:r>
          </a:p>
        </p:txBody>
      </p:sp>
      <p:sp>
        <p:nvSpPr>
          <p:cNvPr id="9" name="TextBox 8"/>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14/15</a:t>
            </a:r>
          </a:p>
        </p:txBody>
      </p:sp>
      <p:sp>
        <p:nvSpPr>
          <p:cNvPr id="10" name="TextBox 9"/>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risk gates passed</a:t>
            </a:r>
          </a:p>
        </p:txBody>
      </p:sp>
      <p:sp>
        <p:nvSpPr>
          <p:cNvPr id="11" name="Rectangle 10"/>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3" name="TextBox 12"/>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4" name="Rectangle 13"/>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6" name="TextBox 15"/>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7" name="TextBox 16"/>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does not merely recommend a trade.</a:t>
            </a:r>
            <a:br/>
            <a:r>
              <a:t>It proves whether the trade deserves authorization.</a:t>
            </a:r>
          </a:p>
        </p:txBody>
      </p:sp>
      <p:sp>
        <p:nvSpPr>
          <p:cNvPr id="18" name="TextBox 17"/>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