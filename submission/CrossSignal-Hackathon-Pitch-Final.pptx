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Markets often disagree before they reprice. CrossSignal identifies that disagreement, challenges the conclusion, applies deterministic controls, and records whether the prediction was ultimately correct.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Markets transmit information at different speeds. CrossSignal addresses fragmented evidence, weak AI accountability, and the common gap between governed entry and disciplined exit.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decision passes a proof chain. Crucially, abstention is treated as a correct policy outcome when evidence fails a gate.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official Alpaca MCP server powers market evidence and the paper lifecycle. Claude reasons, but deterministic code controls entry and exit. Every spread persists thresholds fixed at entry. Before an exit, CrossSignal reconciles broker legs, rejects stale quote timestamps, atomically claims the transition, and reverses both legs under a deterministic client order ID.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proof slide from the September 3 unattended Evidence Watch. Confidence cleared at 56 percent and all six base gates passed. The all-leg option preflight then found zero displayed volume on the weakest leg and a 93.33 percent relative bid-ask spread, against limits of ten contracts and 25 percent. Only 13 of 15 checks passed, so the agent abstained. The run occurred after the regular options session; it did not queue a non-executable order. The dedicated account therefore has no trade P&amp;L to claim.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CrossSignal follows NIST-aligned risk-management reasoning without claiming certification. Public infrastructure and scheduled GitHub automation have no broker mutation capability. The cloud watcher always runs execute false and exports only a secret-free artifact.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wedge is decision accountability for serious individual and small-team options users, with a path toward broker and enterprise governance integrations.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verified evidence: fifty-nine tests pass, including profit, loss, time, expiry, broker-reconciliation, quote-freshness, uncertain-submission locking, market-clock, atomic-close, audit, and idempotency tests. Ten connected cycles are sealed against the dedicated account; the latest rejected non-executable after-hours quotes. The account remains at 100,000 dollars with no orders or positions, so there is no P&amp;L claim and the lifecycle replay is illustrative rather than broker fill evidence.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640080"/>
            <a:ext cx="54864" cy="384048"/>
          </a:xfrm>
          <a:prstGeom prst="rect">
            <a:avLst/>
          </a:prstGeom>
          <a:solidFill>
            <a:srgbClr val="19B5D8"/>
          </a:solidFill>
          <a:ln>
            <a:solidFill>
              <a:srgbClr val="19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67512"/>
            <a:ext cx="6583680" cy="320040"/>
          </a:xfrm>
          <a:prstGeom prst="rect">
            <a:avLst/>
          </a:prstGeom>
          <a:noFill/>
        </p:spPr>
        <p:txBody>
          <a:bodyPr wrap="square" anchor="t">
            <a:spAutoFit/>
          </a:bodyPr>
          <a:lstStyle/>
          <a:p>
            <a:pPr algn="l">
              <a:defRPr sz="1100" b="1">
                <a:solidFill>
                  <a:srgbClr val="72D4E8"/>
                </a:solidFill>
                <a:latin typeface="Aptos"/>
              </a:defRPr>
            </a:pPr>
            <a:r>
              <a:t>DECISION INTELLIGENCE FOR CROSS-MARKET TRADING</a:t>
            </a:r>
          </a:p>
        </p:txBody>
      </p:sp>
      <p:sp>
        <p:nvSpPr>
          <p:cNvPr id="5" name="TextBox 4"/>
          <p:cNvSpPr txBox="1"/>
          <p:nvPr/>
        </p:nvSpPr>
        <p:spPr>
          <a:xfrm>
            <a:off x="658368" y="1417320"/>
            <a:ext cx="8046720" cy="2057400"/>
          </a:xfrm>
          <a:prstGeom prst="rect">
            <a:avLst/>
          </a:prstGeom>
          <a:noFill/>
        </p:spPr>
        <p:txBody>
          <a:bodyPr wrap="square" anchor="t">
            <a:spAutoFit/>
          </a:bodyPr>
          <a:lstStyle/>
          <a:p>
            <a:pPr algn="l">
              <a:defRPr sz="4200" b="1">
                <a:solidFill>
                  <a:srgbClr val="FFFFFF"/>
                </a:solidFill>
                <a:latin typeface="Aptos Display"/>
              </a:defRPr>
            </a:pPr>
            <a:r>
              <a:t>Markets disagree.</a:t>
            </a:r>
            <a:br/>
            <a:r>
              <a:t>We trade the gap.</a:t>
            </a:r>
          </a:p>
        </p:txBody>
      </p:sp>
      <p:sp>
        <p:nvSpPr>
          <p:cNvPr id="6" name="TextBox 5"/>
          <p:cNvSpPr txBox="1"/>
          <p:nvPr/>
        </p:nvSpPr>
        <p:spPr>
          <a:xfrm>
            <a:off x="685800" y="3822191"/>
            <a:ext cx="7498079" cy="685800"/>
          </a:xfrm>
          <a:prstGeom prst="rect">
            <a:avLst/>
          </a:prstGeom>
          <a:noFill/>
        </p:spPr>
        <p:txBody>
          <a:bodyPr wrap="square" anchor="t">
            <a:spAutoFit/>
          </a:bodyPr>
          <a:lstStyle/>
          <a:p>
            <a:pPr algn="l">
              <a:defRPr sz="2000" b="0">
                <a:solidFill>
                  <a:srgbClr val="72D4E8"/>
                </a:solidFill>
                <a:latin typeface="Aptos"/>
              </a:defRPr>
            </a:pPr>
            <a:r>
              <a:t>An auditable AI trading agent that challenges, governs and scores every decision.</a:t>
            </a:r>
          </a:p>
        </p:txBody>
      </p:sp>
      <p:sp>
        <p:nvSpPr>
          <p:cNvPr id="7" name="Rounded Rectangle 6"/>
          <p:cNvSpPr/>
          <p:nvPr/>
        </p:nvSpPr>
        <p:spPr>
          <a:xfrm>
            <a:off x="8869680" y="-548640"/>
            <a:ext cx="4114800" cy="4114800"/>
          </a:xfrm>
          <a:prstGeom prst="roundRect">
            <a:avLst/>
          </a:prstGeom>
          <a:solidFill>
            <a:srgbClr val="19B5D8"/>
          </a:solidFill>
          <a:ln>
            <a:solidFill>
              <a:srgbClr val="19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528048" y="109728"/>
            <a:ext cx="2834640" cy="2834640"/>
          </a:xfrm>
          <a:prstGeom prst="round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5715000"/>
            <a:ext cx="3657600" cy="365760"/>
          </a:xfrm>
          <a:prstGeom prst="rect">
            <a:avLst/>
          </a:prstGeom>
          <a:noFill/>
        </p:spPr>
        <p:txBody>
          <a:bodyPr wrap="square" anchor="t">
            <a:spAutoFit/>
          </a:bodyPr>
          <a:lstStyle/>
          <a:p>
            <a:pPr algn="l">
              <a:defRPr sz="1800" b="1">
                <a:solidFill>
                  <a:srgbClr val="FFFFFF"/>
                </a:solidFill>
                <a:latin typeface="Aptos"/>
              </a:defRPr>
            </a:pPr>
            <a:r>
              <a:t>CROSSSIGNAL</a:t>
            </a:r>
          </a:p>
        </p:txBody>
      </p:sp>
      <p:sp>
        <p:nvSpPr>
          <p:cNvPr id="10" name="TextBox 9"/>
          <p:cNvSpPr txBox="1"/>
          <p:nvPr/>
        </p:nvSpPr>
        <p:spPr>
          <a:xfrm>
            <a:off x="685800" y="6126480"/>
            <a:ext cx="4572000" cy="274320"/>
          </a:xfrm>
          <a:prstGeom prst="rect">
            <a:avLst/>
          </a:prstGeom>
          <a:noFill/>
        </p:spPr>
        <p:txBody>
          <a:bodyPr wrap="square" anchor="t">
            <a:spAutoFit/>
          </a:bodyPr>
          <a:lstStyle/>
          <a:p>
            <a:pPr algn="l">
              <a:defRPr sz="1200" b="0">
                <a:solidFill>
                  <a:srgbClr val="72D4E8"/>
                </a:solidFill>
                <a:latin typeface="Aptos"/>
              </a:defRPr>
            </a:pPr>
            <a:r>
              <a:t>Created by Omobolaji E Adeyan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02</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THE PROBLEM</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Trading agents generate signals.</a:t>
            </a:r>
            <a:br/>
            <a:r>
              <a:t>Few can defend a decision.</a:t>
            </a:r>
          </a:p>
        </p:txBody>
      </p:sp>
      <p:sp>
        <p:nvSpPr>
          <p:cNvPr id="6" name="Rectangle 5"/>
          <p:cNvSpPr/>
          <p:nvPr/>
        </p:nvSpPr>
        <p:spPr>
          <a:xfrm>
            <a:off x="594360" y="2971800"/>
            <a:ext cx="3474720" cy="2331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246120"/>
            <a:ext cx="457200" cy="320040"/>
          </a:xfrm>
          <a:prstGeom prst="rect">
            <a:avLst/>
          </a:prstGeom>
          <a:noFill/>
        </p:spPr>
        <p:txBody>
          <a:bodyPr wrap="square" anchor="t">
            <a:spAutoFit/>
          </a:bodyPr>
          <a:lstStyle/>
          <a:p>
            <a:pPr algn="l">
              <a:defRPr sz="1200" b="1">
                <a:solidFill>
                  <a:srgbClr val="19B5D8"/>
                </a:solidFill>
                <a:latin typeface="Aptos"/>
              </a:defRPr>
            </a:pPr>
            <a:r>
              <a:t>01</a:t>
            </a:r>
          </a:p>
        </p:txBody>
      </p:sp>
      <p:sp>
        <p:nvSpPr>
          <p:cNvPr id="8" name="TextBox 7"/>
          <p:cNvSpPr txBox="1"/>
          <p:nvPr/>
        </p:nvSpPr>
        <p:spPr>
          <a:xfrm>
            <a:off x="822960" y="3657600"/>
            <a:ext cx="2926080" cy="365760"/>
          </a:xfrm>
          <a:prstGeom prst="rect">
            <a:avLst/>
          </a:prstGeom>
          <a:noFill/>
        </p:spPr>
        <p:txBody>
          <a:bodyPr wrap="square" anchor="t">
            <a:spAutoFit/>
          </a:bodyPr>
          <a:lstStyle/>
          <a:p>
            <a:pPr algn="l">
              <a:defRPr sz="2100" b="1">
                <a:solidFill>
                  <a:srgbClr val="071D49"/>
                </a:solidFill>
                <a:latin typeface="Aptos"/>
              </a:defRPr>
            </a:pPr>
            <a:r>
              <a:t>Fragmented</a:t>
            </a:r>
          </a:p>
        </p:txBody>
      </p:sp>
      <p:sp>
        <p:nvSpPr>
          <p:cNvPr id="9" name="TextBox 8"/>
          <p:cNvSpPr txBox="1"/>
          <p:nvPr/>
        </p:nvSpPr>
        <p:spPr>
          <a:xfrm>
            <a:off x="822960" y="4160520"/>
            <a:ext cx="2926080" cy="777240"/>
          </a:xfrm>
          <a:prstGeom prst="rect">
            <a:avLst/>
          </a:prstGeom>
          <a:noFill/>
        </p:spPr>
        <p:txBody>
          <a:bodyPr wrap="square" anchor="t">
            <a:spAutoFit/>
          </a:bodyPr>
          <a:lstStyle/>
          <a:p>
            <a:pPr algn="l">
              <a:defRPr sz="1400" b="0">
                <a:solidFill>
                  <a:srgbClr val="53657D"/>
                </a:solidFill>
                <a:latin typeface="Aptos"/>
              </a:defRPr>
            </a:pPr>
            <a:r>
              <a:t>Single-market analysis misses information moving between rates, credit and equities.</a:t>
            </a:r>
          </a:p>
        </p:txBody>
      </p:sp>
      <p:sp>
        <p:nvSpPr>
          <p:cNvPr id="10" name="Rectangle 9"/>
          <p:cNvSpPr/>
          <p:nvPr/>
        </p:nvSpPr>
        <p:spPr>
          <a:xfrm>
            <a:off x="4389120" y="2971800"/>
            <a:ext cx="3474720" cy="2331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3246120"/>
            <a:ext cx="457200" cy="320040"/>
          </a:xfrm>
          <a:prstGeom prst="rect">
            <a:avLst/>
          </a:prstGeom>
          <a:noFill/>
        </p:spPr>
        <p:txBody>
          <a:bodyPr wrap="square" anchor="t">
            <a:spAutoFit/>
          </a:bodyPr>
          <a:lstStyle/>
          <a:p>
            <a:pPr algn="l">
              <a:defRPr sz="1200" b="1">
                <a:solidFill>
                  <a:srgbClr val="19B5D8"/>
                </a:solidFill>
                <a:latin typeface="Aptos"/>
              </a:defRPr>
            </a:pPr>
            <a:r>
              <a:t>02</a:t>
            </a:r>
          </a:p>
        </p:txBody>
      </p:sp>
      <p:sp>
        <p:nvSpPr>
          <p:cNvPr id="12" name="TextBox 11"/>
          <p:cNvSpPr txBox="1"/>
          <p:nvPr/>
        </p:nvSpPr>
        <p:spPr>
          <a:xfrm>
            <a:off x="4617720" y="3657600"/>
            <a:ext cx="2926080" cy="365760"/>
          </a:xfrm>
          <a:prstGeom prst="rect">
            <a:avLst/>
          </a:prstGeom>
          <a:noFill/>
        </p:spPr>
        <p:txBody>
          <a:bodyPr wrap="square" anchor="t">
            <a:spAutoFit/>
          </a:bodyPr>
          <a:lstStyle/>
          <a:p>
            <a:pPr algn="l">
              <a:defRPr sz="2100" b="1">
                <a:solidFill>
                  <a:srgbClr val="071D49"/>
                </a:solidFill>
                <a:latin typeface="Aptos"/>
              </a:defRPr>
            </a:pPr>
            <a:r>
              <a:t>Unaccountable</a:t>
            </a:r>
          </a:p>
        </p:txBody>
      </p:sp>
      <p:sp>
        <p:nvSpPr>
          <p:cNvPr id="13" name="TextBox 12"/>
          <p:cNvSpPr txBox="1"/>
          <p:nvPr/>
        </p:nvSpPr>
        <p:spPr>
          <a:xfrm>
            <a:off x="4617720" y="4160520"/>
            <a:ext cx="2926080" cy="777240"/>
          </a:xfrm>
          <a:prstGeom prst="rect">
            <a:avLst/>
          </a:prstGeom>
          <a:noFill/>
        </p:spPr>
        <p:txBody>
          <a:bodyPr wrap="square" anchor="t">
            <a:spAutoFit/>
          </a:bodyPr>
          <a:lstStyle/>
          <a:p>
            <a:pPr algn="l">
              <a:defRPr sz="1400" b="0">
                <a:solidFill>
                  <a:srgbClr val="53657D"/>
                </a:solidFill>
                <a:latin typeface="Aptos"/>
              </a:defRPr>
            </a:pPr>
            <a:r>
              <a:t>LLM conclusions are difficult to reproduce, challenge or audit after the outcome.</a:t>
            </a:r>
          </a:p>
        </p:txBody>
      </p:sp>
      <p:sp>
        <p:nvSpPr>
          <p:cNvPr id="14" name="Rectangle 13"/>
          <p:cNvSpPr/>
          <p:nvPr/>
        </p:nvSpPr>
        <p:spPr>
          <a:xfrm>
            <a:off x="8183880" y="2971800"/>
            <a:ext cx="3474720" cy="2331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0" y="3246120"/>
            <a:ext cx="457200" cy="320040"/>
          </a:xfrm>
          <a:prstGeom prst="rect">
            <a:avLst/>
          </a:prstGeom>
          <a:noFill/>
        </p:spPr>
        <p:txBody>
          <a:bodyPr wrap="square" anchor="t">
            <a:spAutoFit/>
          </a:bodyPr>
          <a:lstStyle/>
          <a:p>
            <a:pPr algn="l">
              <a:defRPr sz="1200" b="1">
                <a:solidFill>
                  <a:srgbClr val="19B5D8"/>
                </a:solidFill>
                <a:latin typeface="Aptos"/>
              </a:defRPr>
            </a:pPr>
            <a:r>
              <a:t>03</a:t>
            </a:r>
          </a:p>
        </p:txBody>
      </p:sp>
      <p:sp>
        <p:nvSpPr>
          <p:cNvPr id="16" name="TextBox 15"/>
          <p:cNvSpPr txBox="1"/>
          <p:nvPr/>
        </p:nvSpPr>
        <p:spPr>
          <a:xfrm>
            <a:off x="8412480" y="3657600"/>
            <a:ext cx="2926080" cy="365760"/>
          </a:xfrm>
          <a:prstGeom prst="rect">
            <a:avLst/>
          </a:prstGeom>
          <a:noFill/>
        </p:spPr>
        <p:txBody>
          <a:bodyPr wrap="square" anchor="t">
            <a:spAutoFit/>
          </a:bodyPr>
          <a:lstStyle/>
          <a:p>
            <a:pPr algn="l">
              <a:defRPr sz="2100" b="1">
                <a:solidFill>
                  <a:srgbClr val="071D49"/>
                </a:solidFill>
                <a:latin typeface="Aptos"/>
              </a:defRPr>
            </a:pPr>
            <a:r>
              <a:t>Unmanaged</a:t>
            </a:r>
          </a:p>
        </p:txBody>
      </p:sp>
      <p:sp>
        <p:nvSpPr>
          <p:cNvPr id="17" name="TextBox 16"/>
          <p:cNvSpPr txBox="1"/>
          <p:nvPr/>
        </p:nvSpPr>
        <p:spPr>
          <a:xfrm>
            <a:off x="8412480" y="4160520"/>
            <a:ext cx="2926080" cy="777240"/>
          </a:xfrm>
          <a:prstGeom prst="rect">
            <a:avLst/>
          </a:prstGeom>
          <a:noFill/>
        </p:spPr>
        <p:txBody>
          <a:bodyPr wrap="square" anchor="t">
            <a:spAutoFit/>
          </a:bodyPr>
          <a:lstStyle/>
          <a:p>
            <a:pPr algn="l">
              <a:defRPr sz="1400" b="0">
                <a:solidFill>
                  <a:srgbClr val="53657D"/>
                </a:solidFill>
                <a:latin typeface="Aptos"/>
              </a:defRPr>
            </a:pPr>
            <a:r>
              <a:t>Many agents govern entry but provide no explicit profit, loss, time or expiry exit policy.</a:t>
            </a:r>
          </a:p>
        </p:txBody>
      </p:sp>
      <p:sp>
        <p:nvSpPr>
          <p:cNvPr id="18" name="TextBox 17"/>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19" name="TextBox 18"/>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03</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THE SOLUTION</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A scientific proof chain for every trade</a:t>
            </a:r>
          </a:p>
        </p:txBody>
      </p:sp>
      <p:sp>
        <p:nvSpPr>
          <p:cNvPr id="6" name="TextBox 5"/>
          <p:cNvSpPr txBox="1"/>
          <p:nvPr/>
        </p:nvSpPr>
        <p:spPr>
          <a:xfrm>
            <a:off x="621792" y="1847088"/>
            <a:ext cx="10698480" cy="502920"/>
          </a:xfrm>
          <a:prstGeom prst="rect">
            <a:avLst/>
          </a:prstGeom>
          <a:noFill/>
        </p:spPr>
        <p:txBody>
          <a:bodyPr wrap="square" anchor="t">
            <a:spAutoFit/>
          </a:bodyPr>
          <a:lstStyle/>
          <a:p>
            <a:pPr algn="l">
              <a:defRPr sz="1500" b="0">
                <a:solidFill>
                  <a:srgbClr val="53657D"/>
                </a:solidFill>
                <a:latin typeface="Aptos"/>
              </a:defRPr>
            </a:pPr>
            <a:r>
              <a:t>The SIGNAL protocol turns a thesis into a governed, falsifiable decision.</a:t>
            </a:r>
          </a:p>
        </p:txBody>
      </p:sp>
      <p:sp>
        <p:nvSpPr>
          <p:cNvPr id="7" name="Rectangle 6"/>
          <p:cNvSpPr/>
          <p:nvPr/>
        </p:nvSpPr>
        <p:spPr>
          <a:xfrm>
            <a:off x="50292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2971800"/>
            <a:ext cx="274320" cy="274320"/>
          </a:xfrm>
          <a:prstGeom prst="rect">
            <a:avLst/>
          </a:prstGeom>
          <a:noFill/>
        </p:spPr>
        <p:txBody>
          <a:bodyPr wrap="square" anchor="t">
            <a:spAutoFit/>
          </a:bodyPr>
          <a:lstStyle/>
          <a:p>
            <a:pPr algn="l">
              <a:defRPr sz="1100" b="1">
                <a:solidFill>
                  <a:srgbClr val="19B5D8"/>
                </a:solidFill>
                <a:latin typeface="Aptos"/>
              </a:defRPr>
            </a:pPr>
            <a:r>
              <a:t>1</a:t>
            </a:r>
          </a:p>
        </p:txBody>
      </p:sp>
      <p:sp>
        <p:nvSpPr>
          <p:cNvPr id="9" name="TextBox 8"/>
          <p:cNvSpPr txBox="1"/>
          <p:nvPr/>
        </p:nvSpPr>
        <p:spPr>
          <a:xfrm>
            <a:off x="667512" y="3355848"/>
            <a:ext cx="1234440" cy="274320"/>
          </a:xfrm>
          <a:prstGeom prst="rect">
            <a:avLst/>
          </a:prstGeom>
          <a:noFill/>
        </p:spPr>
        <p:txBody>
          <a:bodyPr wrap="square" anchor="t">
            <a:spAutoFit/>
          </a:bodyPr>
          <a:lstStyle/>
          <a:p>
            <a:pPr algn="l">
              <a:defRPr sz="1600" b="1">
                <a:solidFill>
                  <a:srgbClr val="071D49"/>
                </a:solidFill>
                <a:latin typeface="Aptos"/>
              </a:defRPr>
            </a:pPr>
            <a:r>
              <a:t>Source</a:t>
            </a:r>
          </a:p>
        </p:txBody>
      </p:sp>
      <p:sp>
        <p:nvSpPr>
          <p:cNvPr id="10" name="TextBox 9"/>
          <p:cNvSpPr txBox="1"/>
          <p:nvPr/>
        </p:nvSpPr>
        <p:spPr>
          <a:xfrm>
            <a:off x="667512" y="3703320"/>
            <a:ext cx="1234440" cy="228600"/>
          </a:xfrm>
          <a:prstGeom prst="rect">
            <a:avLst/>
          </a:prstGeom>
          <a:noFill/>
        </p:spPr>
        <p:txBody>
          <a:bodyPr wrap="square" anchor="t">
            <a:spAutoFit/>
          </a:bodyPr>
          <a:lstStyle/>
          <a:p>
            <a:pPr algn="l">
              <a:defRPr sz="900" b="0">
                <a:solidFill>
                  <a:srgbClr val="53657D"/>
                </a:solidFill>
                <a:latin typeface="Aptos"/>
              </a:defRPr>
            </a:pPr>
            <a:r>
              <a:t>Provenance</a:t>
            </a:r>
          </a:p>
        </p:txBody>
      </p:sp>
      <p:sp>
        <p:nvSpPr>
          <p:cNvPr id="11" name="TextBox 10"/>
          <p:cNvSpPr txBox="1"/>
          <p:nvPr/>
        </p:nvSpPr>
        <p:spPr>
          <a:xfrm>
            <a:off x="211226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12" name="Rectangle 11"/>
          <p:cNvSpPr/>
          <p:nvPr/>
        </p:nvSpPr>
        <p:spPr>
          <a:xfrm>
            <a:off x="242316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87752" y="2971800"/>
            <a:ext cx="274320" cy="274320"/>
          </a:xfrm>
          <a:prstGeom prst="rect">
            <a:avLst/>
          </a:prstGeom>
          <a:noFill/>
        </p:spPr>
        <p:txBody>
          <a:bodyPr wrap="square" anchor="t">
            <a:spAutoFit/>
          </a:bodyPr>
          <a:lstStyle/>
          <a:p>
            <a:pPr algn="l">
              <a:defRPr sz="1100" b="1">
                <a:solidFill>
                  <a:srgbClr val="19B5D8"/>
                </a:solidFill>
                <a:latin typeface="Aptos"/>
              </a:defRPr>
            </a:pPr>
            <a:r>
              <a:t>2</a:t>
            </a:r>
          </a:p>
        </p:txBody>
      </p:sp>
      <p:sp>
        <p:nvSpPr>
          <p:cNvPr id="14" name="TextBox 13"/>
          <p:cNvSpPr txBox="1"/>
          <p:nvPr/>
        </p:nvSpPr>
        <p:spPr>
          <a:xfrm>
            <a:off x="2587752" y="3355848"/>
            <a:ext cx="1234440" cy="274320"/>
          </a:xfrm>
          <a:prstGeom prst="rect">
            <a:avLst/>
          </a:prstGeom>
          <a:noFill/>
        </p:spPr>
        <p:txBody>
          <a:bodyPr wrap="square" anchor="t">
            <a:spAutoFit/>
          </a:bodyPr>
          <a:lstStyle/>
          <a:p>
            <a:pPr algn="l">
              <a:defRPr sz="1600" b="1">
                <a:solidFill>
                  <a:srgbClr val="071D49"/>
                </a:solidFill>
                <a:latin typeface="Aptos"/>
              </a:defRPr>
            </a:pPr>
            <a:r>
              <a:t>Compare</a:t>
            </a:r>
          </a:p>
        </p:txBody>
      </p:sp>
      <p:sp>
        <p:nvSpPr>
          <p:cNvPr id="15" name="TextBox 14"/>
          <p:cNvSpPr txBox="1"/>
          <p:nvPr/>
        </p:nvSpPr>
        <p:spPr>
          <a:xfrm>
            <a:off x="2587752" y="3703320"/>
            <a:ext cx="1234440" cy="228600"/>
          </a:xfrm>
          <a:prstGeom prst="rect">
            <a:avLst/>
          </a:prstGeom>
          <a:noFill/>
        </p:spPr>
        <p:txBody>
          <a:bodyPr wrap="square" anchor="t">
            <a:spAutoFit/>
          </a:bodyPr>
          <a:lstStyle/>
          <a:p>
            <a:pPr algn="l">
              <a:defRPr sz="900" b="0">
                <a:solidFill>
                  <a:srgbClr val="53657D"/>
                </a:solidFill>
                <a:latin typeface="Aptos"/>
              </a:defRPr>
            </a:pPr>
            <a:r>
              <a:t>Disagreement</a:t>
            </a:r>
          </a:p>
        </p:txBody>
      </p:sp>
      <p:sp>
        <p:nvSpPr>
          <p:cNvPr id="16" name="TextBox 15"/>
          <p:cNvSpPr txBox="1"/>
          <p:nvPr/>
        </p:nvSpPr>
        <p:spPr>
          <a:xfrm>
            <a:off x="403250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17" name="Rectangle 16"/>
          <p:cNvSpPr/>
          <p:nvPr/>
        </p:nvSpPr>
        <p:spPr>
          <a:xfrm>
            <a:off x="4343400" y="2788920"/>
            <a:ext cx="1572768" cy="13716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2971800"/>
            <a:ext cx="274320" cy="274320"/>
          </a:xfrm>
          <a:prstGeom prst="rect">
            <a:avLst/>
          </a:prstGeom>
          <a:noFill/>
        </p:spPr>
        <p:txBody>
          <a:bodyPr wrap="square" anchor="t">
            <a:spAutoFit/>
          </a:bodyPr>
          <a:lstStyle/>
          <a:p>
            <a:pPr algn="l">
              <a:defRPr sz="1100" b="1">
                <a:solidFill>
                  <a:srgbClr val="19B5D8"/>
                </a:solidFill>
                <a:latin typeface="Aptos"/>
              </a:defRPr>
            </a:pPr>
            <a:r>
              <a:t>3</a:t>
            </a:r>
          </a:p>
        </p:txBody>
      </p:sp>
      <p:sp>
        <p:nvSpPr>
          <p:cNvPr id="19" name="TextBox 18"/>
          <p:cNvSpPr txBox="1"/>
          <p:nvPr/>
        </p:nvSpPr>
        <p:spPr>
          <a:xfrm>
            <a:off x="4507992" y="3355848"/>
            <a:ext cx="1234440" cy="274320"/>
          </a:xfrm>
          <a:prstGeom prst="rect">
            <a:avLst/>
          </a:prstGeom>
          <a:noFill/>
        </p:spPr>
        <p:txBody>
          <a:bodyPr wrap="square" anchor="t">
            <a:spAutoFit/>
          </a:bodyPr>
          <a:lstStyle/>
          <a:p>
            <a:pPr algn="l">
              <a:defRPr sz="1600" b="1">
                <a:solidFill>
                  <a:srgbClr val="FFFFFF"/>
                </a:solidFill>
                <a:latin typeface="Aptos"/>
              </a:defRPr>
            </a:pPr>
            <a:r>
              <a:t>Challenge</a:t>
            </a:r>
          </a:p>
        </p:txBody>
      </p:sp>
      <p:sp>
        <p:nvSpPr>
          <p:cNvPr id="20" name="TextBox 19"/>
          <p:cNvSpPr txBox="1"/>
          <p:nvPr/>
        </p:nvSpPr>
        <p:spPr>
          <a:xfrm>
            <a:off x="4507992" y="3703320"/>
            <a:ext cx="1234440" cy="228600"/>
          </a:xfrm>
          <a:prstGeom prst="rect">
            <a:avLst/>
          </a:prstGeom>
          <a:noFill/>
        </p:spPr>
        <p:txBody>
          <a:bodyPr wrap="square" anchor="t">
            <a:spAutoFit/>
          </a:bodyPr>
          <a:lstStyle/>
          <a:p>
            <a:pPr algn="l">
              <a:defRPr sz="900" b="0">
                <a:solidFill>
                  <a:srgbClr val="72D4E8"/>
                </a:solidFill>
                <a:latin typeface="Aptos"/>
              </a:defRPr>
            </a:pPr>
            <a:r>
              <a:t>Falsification</a:t>
            </a:r>
          </a:p>
        </p:txBody>
      </p:sp>
      <p:sp>
        <p:nvSpPr>
          <p:cNvPr id="21" name="TextBox 20"/>
          <p:cNvSpPr txBox="1"/>
          <p:nvPr/>
        </p:nvSpPr>
        <p:spPr>
          <a:xfrm>
            <a:off x="595274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22" name="Rectangle 21"/>
          <p:cNvSpPr/>
          <p:nvPr/>
        </p:nvSpPr>
        <p:spPr>
          <a:xfrm>
            <a:off x="626364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28232" y="2971800"/>
            <a:ext cx="274320" cy="274320"/>
          </a:xfrm>
          <a:prstGeom prst="rect">
            <a:avLst/>
          </a:prstGeom>
          <a:noFill/>
        </p:spPr>
        <p:txBody>
          <a:bodyPr wrap="square" anchor="t">
            <a:spAutoFit/>
          </a:bodyPr>
          <a:lstStyle/>
          <a:p>
            <a:pPr algn="l">
              <a:defRPr sz="1100" b="1">
                <a:solidFill>
                  <a:srgbClr val="19B5D8"/>
                </a:solidFill>
                <a:latin typeface="Aptos"/>
              </a:defRPr>
            </a:pPr>
            <a:r>
              <a:t>4</a:t>
            </a:r>
          </a:p>
        </p:txBody>
      </p:sp>
      <p:sp>
        <p:nvSpPr>
          <p:cNvPr id="24" name="TextBox 23"/>
          <p:cNvSpPr txBox="1"/>
          <p:nvPr/>
        </p:nvSpPr>
        <p:spPr>
          <a:xfrm>
            <a:off x="6428232" y="3355848"/>
            <a:ext cx="1234440" cy="274320"/>
          </a:xfrm>
          <a:prstGeom prst="rect">
            <a:avLst/>
          </a:prstGeom>
          <a:noFill/>
        </p:spPr>
        <p:txBody>
          <a:bodyPr wrap="square" anchor="t">
            <a:spAutoFit/>
          </a:bodyPr>
          <a:lstStyle/>
          <a:p>
            <a:pPr algn="l">
              <a:defRPr sz="1600" b="1">
                <a:solidFill>
                  <a:srgbClr val="071D49"/>
                </a:solidFill>
                <a:latin typeface="Aptos"/>
              </a:defRPr>
            </a:pPr>
            <a:r>
              <a:t>Stress</a:t>
            </a:r>
          </a:p>
        </p:txBody>
      </p:sp>
      <p:sp>
        <p:nvSpPr>
          <p:cNvPr id="25" name="TextBox 24"/>
          <p:cNvSpPr txBox="1"/>
          <p:nvPr/>
        </p:nvSpPr>
        <p:spPr>
          <a:xfrm>
            <a:off x="6428232" y="3703320"/>
            <a:ext cx="1234440" cy="228600"/>
          </a:xfrm>
          <a:prstGeom prst="rect">
            <a:avLst/>
          </a:prstGeom>
          <a:noFill/>
        </p:spPr>
        <p:txBody>
          <a:bodyPr wrap="square" anchor="t">
            <a:spAutoFit/>
          </a:bodyPr>
          <a:lstStyle/>
          <a:p>
            <a:pPr algn="l">
              <a:defRPr sz="900" b="0">
                <a:solidFill>
                  <a:srgbClr val="53657D"/>
                </a:solidFill>
                <a:latin typeface="Aptos"/>
              </a:defRPr>
            </a:pPr>
            <a:r>
              <a:t>Greeks</a:t>
            </a:r>
          </a:p>
        </p:txBody>
      </p:sp>
      <p:sp>
        <p:nvSpPr>
          <p:cNvPr id="26" name="TextBox 25"/>
          <p:cNvSpPr txBox="1"/>
          <p:nvPr/>
        </p:nvSpPr>
        <p:spPr>
          <a:xfrm>
            <a:off x="787298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27" name="Rectangle 26"/>
          <p:cNvSpPr/>
          <p:nvPr/>
        </p:nvSpPr>
        <p:spPr>
          <a:xfrm>
            <a:off x="8183880" y="2788920"/>
            <a:ext cx="1572768" cy="13716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48472" y="2971800"/>
            <a:ext cx="274320" cy="274320"/>
          </a:xfrm>
          <a:prstGeom prst="rect">
            <a:avLst/>
          </a:prstGeom>
          <a:noFill/>
        </p:spPr>
        <p:txBody>
          <a:bodyPr wrap="square" anchor="t">
            <a:spAutoFit/>
          </a:bodyPr>
          <a:lstStyle/>
          <a:p>
            <a:pPr algn="l">
              <a:defRPr sz="1100" b="1">
                <a:solidFill>
                  <a:srgbClr val="19B5D8"/>
                </a:solidFill>
                <a:latin typeface="Aptos"/>
              </a:defRPr>
            </a:pPr>
            <a:r>
              <a:t>5</a:t>
            </a:r>
          </a:p>
        </p:txBody>
      </p:sp>
      <p:sp>
        <p:nvSpPr>
          <p:cNvPr id="29" name="TextBox 28"/>
          <p:cNvSpPr txBox="1"/>
          <p:nvPr/>
        </p:nvSpPr>
        <p:spPr>
          <a:xfrm>
            <a:off x="8348472" y="3355848"/>
            <a:ext cx="1234440" cy="274320"/>
          </a:xfrm>
          <a:prstGeom prst="rect">
            <a:avLst/>
          </a:prstGeom>
          <a:noFill/>
        </p:spPr>
        <p:txBody>
          <a:bodyPr wrap="square" anchor="t">
            <a:spAutoFit/>
          </a:bodyPr>
          <a:lstStyle/>
          <a:p>
            <a:pPr algn="l">
              <a:defRPr sz="1600" b="1">
                <a:solidFill>
                  <a:srgbClr val="FFFFFF"/>
                </a:solidFill>
                <a:latin typeface="Aptos"/>
              </a:defRPr>
            </a:pPr>
            <a:r>
              <a:t>Seal</a:t>
            </a:r>
          </a:p>
        </p:txBody>
      </p:sp>
      <p:sp>
        <p:nvSpPr>
          <p:cNvPr id="30" name="TextBox 29"/>
          <p:cNvSpPr txBox="1"/>
          <p:nvPr/>
        </p:nvSpPr>
        <p:spPr>
          <a:xfrm>
            <a:off x="8348472" y="3703320"/>
            <a:ext cx="1234440" cy="228600"/>
          </a:xfrm>
          <a:prstGeom prst="rect">
            <a:avLst/>
          </a:prstGeom>
          <a:noFill/>
        </p:spPr>
        <p:txBody>
          <a:bodyPr wrap="square" anchor="t">
            <a:spAutoFit/>
          </a:bodyPr>
          <a:lstStyle/>
          <a:p>
            <a:pPr algn="l">
              <a:defRPr sz="900" b="0">
                <a:solidFill>
                  <a:srgbClr val="72D4E8"/>
                </a:solidFill>
                <a:latin typeface="Aptos"/>
              </a:defRPr>
            </a:pPr>
            <a:r>
              <a:t>SHA-256</a:t>
            </a:r>
          </a:p>
        </p:txBody>
      </p:sp>
      <p:sp>
        <p:nvSpPr>
          <p:cNvPr id="31" name="TextBox 30"/>
          <p:cNvSpPr txBox="1"/>
          <p:nvPr/>
        </p:nvSpPr>
        <p:spPr>
          <a:xfrm>
            <a:off x="9793224" y="3246120"/>
            <a:ext cx="274320" cy="274320"/>
          </a:xfrm>
          <a:prstGeom prst="rect">
            <a:avLst/>
          </a:prstGeom>
          <a:noFill/>
        </p:spPr>
        <p:txBody>
          <a:bodyPr wrap="square" anchor="t">
            <a:spAutoFit/>
          </a:bodyPr>
          <a:lstStyle/>
          <a:p>
            <a:pPr algn="l">
              <a:defRPr sz="1600" b="1">
                <a:solidFill>
                  <a:srgbClr val="19B5D8"/>
                </a:solidFill>
                <a:latin typeface="Aptos"/>
              </a:defRPr>
            </a:pPr>
            <a:r>
              <a:t>→</a:t>
            </a:r>
          </a:p>
        </p:txBody>
      </p:sp>
      <p:sp>
        <p:nvSpPr>
          <p:cNvPr id="32" name="Rectangle 31"/>
          <p:cNvSpPr/>
          <p:nvPr/>
        </p:nvSpPr>
        <p:spPr>
          <a:xfrm>
            <a:off x="10104120" y="2788920"/>
            <a:ext cx="1572768" cy="137160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68712" y="2971800"/>
            <a:ext cx="274320" cy="274320"/>
          </a:xfrm>
          <a:prstGeom prst="rect">
            <a:avLst/>
          </a:prstGeom>
          <a:noFill/>
        </p:spPr>
        <p:txBody>
          <a:bodyPr wrap="square" anchor="t">
            <a:spAutoFit/>
          </a:bodyPr>
          <a:lstStyle/>
          <a:p>
            <a:pPr algn="l">
              <a:defRPr sz="1100" b="1">
                <a:solidFill>
                  <a:srgbClr val="19B5D8"/>
                </a:solidFill>
                <a:latin typeface="Aptos"/>
              </a:defRPr>
            </a:pPr>
            <a:r>
              <a:t>6</a:t>
            </a:r>
          </a:p>
        </p:txBody>
      </p:sp>
      <p:sp>
        <p:nvSpPr>
          <p:cNvPr id="34" name="TextBox 33"/>
          <p:cNvSpPr txBox="1"/>
          <p:nvPr/>
        </p:nvSpPr>
        <p:spPr>
          <a:xfrm>
            <a:off x="10268712" y="3355848"/>
            <a:ext cx="1234440" cy="274320"/>
          </a:xfrm>
          <a:prstGeom prst="rect">
            <a:avLst/>
          </a:prstGeom>
          <a:noFill/>
        </p:spPr>
        <p:txBody>
          <a:bodyPr wrap="square" anchor="t">
            <a:spAutoFit/>
          </a:bodyPr>
          <a:lstStyle/>
          <a:p>
            <a:pPr algn="l">
              <a:defRPr sz="1600" b="1">
                <a:solidFill>
                  <a:srgbClr val="071D49"/>
                </a:solidFill>
                <a:latin typeface="Aptos"/>
              </a:defRPr>
            </a:pPr>
            <a:r>
              <a:t>Score</a:t>
            </a:r>
          </a:p>
        </p:txBody>
      </p:sp>
      <p:sp>
        <p:nvSpPr>
          <p:cNvPr id="35" name="TextBox 34"/>
          <p:cNvSpPr txBox="1"/>
          <p:nvPr/>
        </p:nvSpPr>
        <p:spPr>
          <a:xfrm>
            <a:off x="10268712" y="3703320"/>
            <a:ext cx="1234440" cy="228600"/>
          </a:xfrm>
          <a:prstGeom prst="rect">
            <a:avLst/>
          </a:prstGeom>
          <a:noFill/>
        </p:spPr>
        <p:txBody>
          <a:bodyPr wrap="square" anchor="t">
            <a:spAutoFit/>
          </a:bodyPr>
          <a:lstStyle/>
          <a:p>
            <a:pPr algn="l">
              <a:defRPr sz="900" b="0">
                <a:solidFill>
                  <a:srgbClr val="53657D"/>
                </a:solidFill>
                <a:latin typeface="Aptos"/>
              </a:defRPr>
            </a:pPr>
            <a:r>
              <a:t>Outcome</a:t>
            </a:r>
          </a:p>
        </p:txBody>
      </p:sp>
      <p:sp>
        <p:nvSpPr>
          <p:cNvPr id="36" name="Rectangle 35"/>
          <p:cNvSpPr/>
          <p:nvPr/>
        </p:nvSpPr>
        <p:spPr>
          <a:xfrm>
            <a:off x="594360" y="4800600"/>
            <a:ext cx="10972800" cy="658368"/>
          </a:xfrm>
          <a:prstGeom prst="rect">
            <a:avLst/>
          </a:prstGeom>
          <a:solidFill>
            <a:srgbClr val="003B70"/>
          </a:solidFill>
          <a:ln>
            <a:solidFill>
              <a:srgbClr val="003B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5001768"/>
            <a:ext cx="10424160" cy="274320"/>
          </a:xfrm>
          <a:prstGeom prst="rect">
            <a:avLst/>
          </a:prstGeom>
          <a:noFill/>
        </p:spPr>
        <p:txBody>
          <a:bodyPr wrap="square" anchor="t">
            <a:spAutoFit/>
          </a:bodyPr>
          <a:lstStyle/>
          <a:p>
            <a:pPr algn="ctr">
              <a:defRPr sz="1600" b="1">
                <a:solidFill>
                  <a:srgbClr val="FFFFFF"/>
                </a:solidFill>
                <a:latin typeface="Aptos"/>
              </a:defRPr>
            </a:pPr>
            <a:r>
              <a:t>ABSTAIN is a successful outcome when evidence or execution quality is insufficient.</a:t>
            </a:r>
          </a:p>
        </p:txBody>
      </p:sp>
      <p:sp>
        <p:nvSpPr>
          <p:cNvPr id="38" name="TextBox 37"/>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39" name="TextBox 38"/>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04</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TECHNOLOGY</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Alpaca is the market and execution backbone</a:t>
            </a:r>
          </a:p>
        </p:txBody>
      </p:sp>
      <p:sp>
        <p:nvSpPr>
          <p:cNvPr id="6" name="Rectangle 5"/>
          <p:cNvSpPr/>
          <p:nvPr/>
        </p:nvSpPr>
        <p:spPr>
          <a:xfrm>
            <a:off x="594360" y="2240280"/>
            <a:ext cx="2971800" cy="306324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560320"/>
            <a:ext cx="2468880" cy="274320"/>
          </a:xfrm>
          <a:prstGeom prst="rect">
            <a:avLst/>
          </a:prstGeom>
          <a:noFill/>
        </p:spPr>
        <p:txBody>
          <a:bodyPr wrap="square" anchor="t">
            <a:spAutoFit/>
          </a:bodyPr>
          <a:lstStyle/>
          <a:p>
            <a:pPr algn="l">
              <a:defRPr sz="1100" b="1">
                <a:solidFill>
                  <a:srgbClr val="19B5D8"/>
                </a:solidFill>
                <a:latin typeface="Aptos"/>
              </a:defRPr>
            </a:pPr>
            <a:r>
              <a:t>LIVE EVIDENCE</a:t>
            </a:r>
          </a:p>
        </p:txBody>
      </p:sp>
      <p:sp>
        <p:nvSpPr>
          <p:cNvPr id="8" name="TextBox 7"/>
          <p:cNvSpPr txBox="1"/>
          <p:nvPr/>
        </p:nvSpPr>
        <p:spPr>
          <a:xfrm>
            <a:off x="868680" y="3063240"/>
            <a:ext cx="2423160" cy="1645920"/>
          </a:xfrm>
          <a:prstGeom prst="rect">
            <a:avLst/>
          </a:prstGeom>
          <a:noFill/>
        </p:spPr>
        <p:txBody>
          <a:bodyPr wrap="square">
            <a:spAutoFit/>
          </a:bodyPr>
          <a:lstStyle/>
          <a:p>
            <a:pPr>
              <a:spcAft>
                <a:spcPts val="1400"/>
              </a:spcAft>
              <a:defRPr sz="1500">
                <a:solidFill>
                  <a:srgbClr val="071D49"/>
                </a:solidFill>
                <a:latin typeface="Aptos"/>
              </a:defRPr>
            </a:pPr>
            <a:r>
              <a:t>•  Stocks and options</a:t>
            </a:r>
          </a:p>
          <a:p>
            <a:pPr>
              <a:spcAft>
                <a:spcPts val="1400"/>
              </a:spcAft>
              <a:defRPr sz="1500">
                <a:solidFill>
                  <a:srgbClr val="071D49"/>
                </a:solidFill>
                <a:latin typeface="Aptos"/>
              </a:defRPr>
            </a:pPr>
            <a:r>
              <a:t>•  Quotes, volume and Greeks</a:t>
            </a:r>
          </a:p>
          <a:p>
            <a:pPr>
              <a:spcAft>
                <a:spcPts val="1400"/>
              </a:spcAft>
              <a:defRPr sz="1500">
                <a:solidFill>
                  <a:srgbClr val="071D49"/>
                </a:solidFill>
                <a:latin typeface="Aptos"/>
              </a:defRPr>
            </a:pPr>
            <a:r>
              <a:t>•  Account and positions</a:t>
            </a:r>
          </a:p>
          <a:p>
            <a:pPr>
              <a:spcAft>
                <a:spcPts val="1400"/>
              </a:spcAft>
              <a:defRPr sz="1500">
                <a:solidFill>
                  <a:srgbClr val="071D49"/>
                </a:solidFill>
                <a:latin typeface="Aptos"/>
              </a:defRPr>
            </a:pPr>
            <a:r>
              <a:t>•  Alpaca News context</a:t>
            </a:r>
          </a:p>
        </p:txBody>
      </p:sp>
      <p:sp>
        <p:nvSpPr>
          <p:cNvPr id="9" name="Rectangle 8"/>
          <p:cNvSpPr/>
          <p:nvPr/>
        </p:nvSpPr>
        <p:spPr>
          <a:xfrm>
            <a:off x="4572000" y="2240280"/>
            <a:ext cx="2971800" cy="306324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46320" y="2560320"/>
            <a:ext cx="2423160" cy="274320"/>
          </a:xfrm>
          <a:prstGeom prst="rect">
            <a:avLst/>
          </a:prstGeom>
          <a:noFill/>
        </p:spPr>
        <p:txBody>
          <a:bodyPr wrap="square" anchor="t">
            <a:spAutoFit/>
          </a:bodyPr>
          <a:lstStyle/>
          <a:p>
            <a:pPr algn="l">
              <a:defRPr sz="1100" b="1">
                <a:solidFill>
                  <a:srgbClr val="72D4E8"/>
                </a:solidFill>
                <a:latin typeface="Aptos"/>
              </a:defRPr>
            </a:pPr>
            <a:r>
              <a:t>CROSSSIGNAL</a:t>
            </a:r>
          </a:p>
        </p:txBody>
      </p:sp>
      <p:sp>
        <p:nvSpPr>
          <p:cNvPr id="11" name="TextBox 10"/>
          <p:cNvSpPr txBox="1"/>
          <p:nvPr/>
        </p:nvSpPr>
        <p:spPr>
          <a:xfrm>
            <a:off x="4846320" y="3063240"/>
            <a:ext cx="2423160" cy="1645920"/>
          </a:xfrm>
          <a:prstGeom prst="rect">
            <a:avLst/>
          </a:prstGeom>
          <a:noFill/>
        </p:spPr>
        <p:txBody>
          <a:bodyPr wrap="square">
            <a:spAutoFit/>
          </a:bodyPr>
          <a:lstStyle/>
          <a:p>
            <a:pPr>
              <a:spcAft>
                <a:spcPts val="1400"/>
              </a:spcAft>
              <a:defRPr sz="1500">
                <a:solidFill>
                  <a:srgbClr val="FFFFFF"/>
                </a:solidFill>
                <a:latin typeface="Aptos"/>
              </a:defRPr>
            </a:pPr>
            <a:r>
              <a:t>•  Claude macro synthesis</a:t>
            </a:r>
          </a:p>
          <a:p>
            <a:pPr>
              <a:spcAft>
                <a:spcPts val="1400"/>
              </a:spcAft>
              <a:defRPr sz="1500">
                <a:solidFill>
                  <a:srgbClr val="FFFFFF"/>
                </a:solidFill>
                <a:latin typeface="Aptos"/>
              </a:defRPr>
            </a:pPr>
            <a:r>
              <a:t>•  Deterministic construction</a:t>
            </a:r>
          </a:p>
          <a:p>
            <a:pPr>
              <a:spcAft>
                <a:spcPts val="1400"/>
              </a:spcAft>
              <a:defRPr sz="1500">
                <a:solidFill>
                  <a:srgbClr val="FFFFFF"/>
                </a:solidFill>
                <a:latin typeface="Aptos"/>
              </a:defRPr>
            </a:pPr>
            <a:r>
              <a:t>•  Risk and stability gates</a:t>
            </a:r>
          </a:p>
          <a:p>
            <a:pPr>
              <a:spcAft>
                <a:spcPts val="1400"/>
              </a:spcAft>
              <a:defRPr sz="1500">
                <a:solidFill>
                  <a:srgbClr val="FFFFFF"/>
                </a:solidFill>
                <a:latin typeface="Aptos"/>
              </a:defRPr>
            </a:pPr>
            <a:r>
              <a:t>•  Sealed Decision Contract</a:t>
            </a:r>
          </a:p>
        </p:txBody>
      </p:sp>
      <p:sp>
        <p:nvSpPr>
          <p:cNvPr id="12" name="Rectangle 11"/>
          <p:cNvSpPr/>
          <p:nvPr/>
        </p:nvSpPr>
        <p:spPr>
          <a:xfrm>
            <a:off x="8549640" y="2240280"/>
            <a:ext cx="2971800" cy="306324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23960" y="2560320"/>
            <a:ext cx="2423160" cy="274320"/>
          </a:xfrm>
          <a:prstGeom prst="rect">
            <a:avLst/>
          </a:prstGeom>
          <a:noFill/>
        </p:spPr>
        <p:txBody>
          <a:bodyPr wrap="square" anchor="t">
            <a:spAutoFit/>
          </a:bodyPr>
          <a:lstStyle/>
          <a:p>
            <a:pPr algn="l">
              <a:defRPr sz="1100" b="1">
                <a:solidFill>
                  <a:srgbClr val="19B5D8"/>
                </a:solidFill>
                <a:latin typeface="Aptos"/>
              </a:defRPr>
            </a:pPr>
            <a:r>
              <a:t>PAPER LIFECYCLE</a:t>
            </a:r>
          </a:p>
        </p:txBody>
      </p:sp>
      <p:sp>
        <p:nvSpPr>
          <p:cNvPr id="14" name="TextBox 13"/>
          <p:cNvSpPr txBox="1"/>
          <p:nvPr/>
        </p:nvSpPr>
        <p:spPr>
          <a:xfrm>
            <a:off x="8823960" y="3063240"/>
            <a:ext cx="2423160" cy="1645920"/>
          </a:xfrm>
          <a:prstGeom prst="rect">
            <a:avLst/>
          </a:prstGeom>
          <a:noFill/>
        </p:spPr>
        <p:txBody>
          <a:bodyPr wrap="square">
            <a:spAutoFit/>
          </a:bodyPr>
          <a:lstStyle/>
          <a:p>
            <a:pPr>
              <a:spcAft>
                <a:spcPts val="1400"/>
              </a:spcAft>
              <a:defRPr sz="1300">
                <a:solidFill>
                  <a:srgbClr val="071D49"/>
                </a:solidFill>
                <a:latin typeface="Aptos"/>
              </a:defRPr>
            </a:pPr>
            <a:r>
              <a:t>•  All-leg preflight</a:t>
            </a:r>
          </a:p>
          <a:p>
            <a:pPr>
              <a:spcAft>
                <a:spcPts val="1400"/>
              </a:spcAft>
              <a:defRPr sz="1300">
                <a:solidFill>
                  <a:srgbClr val="071D49"/>
                </a:solidFill>
                <a:latin typeface="Aptos"/>
              </a:defRPr>
            </a:pPr>
            <a:r>
              <a:t>•  Take-profit and stop-loss</a:t>
            </a:r>
          </a:p>
          <a:p>
            <a:pPr>
              <a:spcAft>
                <a:spcPts val="1400"/>
              </a:spcAft>
              <a:defRPr sz="1300">
                <a:solidFill>
                  <a:srgbClr val="071D49"/>
                </a:solidFill>
                <a:latin typeface="Aptos"/>
              </a:defRPr>
            </a:pPr>
            <a:r>
              <a:t>•  Time and expiry exits</a:t>
            </a:r>
          </a:p>
          <a:p>
            <a:pPr>
              <a:spcAft>
                <a:spcPts val="1400"/>
              </a:spcAft>
              <a:defRPr sz="1300">
                <a:solidFill>
                  <a:srgbClr val="071D49"/>
                </a:solidFill>
                <a:latin typeface="Aptos"/>
              </a:defRPr>
            </a:pPr>
            <a:r>
              <a:t>•  Fresh quotes, broker reconciliation, atomic close</a:t>
            </a:r>
          </a:p>
        </p:txBody>
      </p:sp>
      <p:sp>
        <p:nvSpPr>
          <p:cNvPr id="15" name="TextBox 14"/>
          <p:cNvSpPr txBox="1"/>
          <p:nvPr/>
        </p:nvSpPr>
        <p:spPr>
          <a:xfrm>
            <a:off x="3822191" y="3474720"/>
            <a:ext cx="457200" cy="457200"/>
          </a:xfrm>
          <a:prstGeom prst="rect">
            <a:avLst/>
          </a:prstGeom>
          <a:noFill/>
        </p:spPr>
        <p:txBody>
          <a:bodyPr wrap="square" anchor="t">
            <a:spAutoFit/>
          </a:bodyPr>
          <a:lstStyle/>
          <a:p>
            <a:pPr algn="l">
              <a:defRPr sz="2500" b="1">
                <a:solidFill>
                  <a:srgbClr val="19B5D8"/>
                </a:solidFill>
                <a:latin typeface="Aptos"/>
              </a:defRPr>
            </a:pPr>
            <a:r>
              <a:t>→</a:t>
            </a:r>
          </a:p>
        </p:txBody>
      </p:sp>
      <p:sp>
        <p:nvSpPr>
          <p:cNvPr id="16" name="TextBox 15"/>
          <p:cNvSpPr txBox="1"/>
          <p:nvPr/>
        </p:nvSpPr>
        <p:spPr>
          <a:xfrm>
            <a:off x="7799831" y="3474720"/>
            <a:ext cx="457200" cy="457200"/>
          </a:xfrm>
          <a:prstGeom prst="rect">
            <a:avLst/>
          </a:prstGeom>
          <a:noFill/>
        </p:spPr>
        <p:txBody>
          <a:bodyPr wrap="square" anchor="t">
            <a:spAutoFit/>
          </a:bodyPr>
          <a:lstStyle/>
          <a:p>
            <a:pPr algn="l">
              <a:defRPr sz="2500" b="1">
                <a:solidFill>
                  <a:srgbClr val="19B5D8"/>
                </a:solidFill>
                <a:latin typeface="Aptos"/>
              </a:defRPr>
            </a:pPr>
            <a:r>
              <a:t>→</a:t>
            </a:r>
          </a:p>
        </p:txBody>
      </p:sp>
      <p:sp>
        <p:nvSpPr>
          <p:cNvPr id="17" name="TextBox 16"/>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18" name="TextBox 17"/>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05</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DEFENSIBILITY</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One scorecard. A decision that defends itself.</a:t>
            </a:r>
          </a:p>
        </p:txBody>
      </p:sp>
      <p:sp>
        <p:nvSpPr>
          <p:cNvPr id="6" name="TextBox 5"/>
          <p:cNvSpPr txBox="1"/>
          <p:nvPr/>
        </p:nvSpPr>
        <p:spPr>
          <a:xfrm>
            <a:off x="621792" y="1847088"/>
            <a:ext cx="10698480" cy="502920"/>
          </a:xfrm>
          <a:prstGeom prst="rect">
            <a:avLst/>
          </a:prstGeom>
          <a:noFill/>
        </p:spPr>
        <p:txBody>
          <a:bodyPr wrap="square" anchor="t">
            <a:spAutoFit/>
          </a:bodyPr>
          <a:lstStyle/>
          <a:p>
            <a:pPr algn="l">
              <a:defRPr sz="1500" b="0">
                <a:solidFill>
                  <a:srgbClr val="53657D"/>
                </a:solidFill>
                <a:latin typeface="Aptos"/>
              </a:defRPr>
            </a:pPr>
            <a:r>
              <a:t>Signal strength never gets to hide weak execution evidence.</a:t>
            </a:r>
          </a:p>
        </p:txBody>
      </p:sp>
      <p:sp>
        <p:nvSpPr>
          <p:cNvPr id="7" name="Rectangle 6"/>
          <p:cNvSpPr/>
          <p:nvPr/>
        </p:nvSpPr>
        <p:spPr>
          <a:xfrm>
            <a:off x="594360"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33472"/>
            <a:ext cx="2121408" cy="411480"/>
          </a:xfrm>
          <a:prstGeom prst="rect">
            <a:avLst/>
          </a:prstGeom>
          <a:noFill/>
        </p:spPr>
        <p:txBody>
          <a:bodyPr wrap="square" anchor="t">
            <a:spAutoFit/>
          </a:bodyPr>
          <a:lstStyle/>
          <a:p>
            <a:pPr algn="ctr">
              <a:defRPr sz="2400" b="1">
                <a:solidFill>
                  <a:srgbClr val="071D49"/>
                </a:solidFill>
                <a:latin typeface="Aptos"/>
              </a:defRPr>
            </a:pPr>
            <a:r>
              <a:t>82</a:t>
            </a:r>
          </a:p>
        </p:txBody>
      </p:sp>
      <p:sp>
        <p:nvSpPr>
          <p:cNvPr id="9" name="TextBox 8"/>
          <p:cNvSpPr txBox="1"/>
          <p:nvPr/>
        </p:nvSpPr>
        <p:spPr>
          <a:xfrm>
            <a:off x="777240" y="3127248"/>
            <a:ext cx="2121408" cy="228600"/>
          </a:xfrm>
          <a:prstGeom prst="rect">
            <a:avLst/>
          </a:prstGeom>
          <a:noFill/>
        </p:spPr>
        <p:txBody>
          <a:bodyPr wrap="square" anchor="t">
            <a:spAutoFit/>
          </a:bodyPr>
          <a:lstStyle/>
          <a:p>
            <a:pPr algn="ctr">
              <a:defRPr sz="1100" b="1">
                <a:solidFill>
                  <a:srgbClr val="53657D"/>
                </a:solidFill>
                <a:latin typeface="Aptos"/>
              </a:defRPr>
            </a:pPr>
            <a:r>
              <a:t>Signal quality</a:t>
            </a:r>
          </a:p>
        </p:txBody>
      </p:sp>
      <p:sp>
        <p:nvSpPr>
          <p:cNvPr id="10" name="Rectangle 9"/>
          <p:cNvSpPr/>
          <p:nvPr/>
        </p:nvSpPr>
        <p:spPr>
          <a:xfrm>
            <a:off x="3355848"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38728" y="2633472"/>
            <a:ext cx="2121408" cy="411480"/>
          </a:xfrm>
          <a:prstGeom prst="rect">
            <a:avLst/>
          </a:prstGeom>
          <a:noFill/>
        </p:spPr>
        <p:txBody>
          <a:bodyPr wrap="square" anchor="t">
            <a:spAutoFit/>
          </a:bodyPr>
          <a:lstStyle/>
          <a:p>
            <a:pPr algn="ctr">
              <a:defRPr sz="2400" b="1">
                <a:solidFill>
                  <a:srgbClr val="071D49"/>
                </a:solidFill>
                <a:latin typeface="Aptos"/>
              </a:defRPr>
            </a:pPr>
            <a:r>
              <a:t>90</a:t>
            </a:r>
          </a:p>
        </p:txBody>
      </p:sp>
      <p:sp>
        <p:nvSpPr>
          <p:cNvPr id="12" name="TextBox 11"/>
          <p:cNvSpPr txBox="1"/>
          <p:nvPr/>
        </p:nvSpPr>
        <p:spPr>
          <a:xfrm>
            <a:off x="3538728" y="3127248"/>
            <a:ext cx="2121408" cy="228600"/>
          </a:xfrm>
          <a:prstGeom prst="rect">
            <a:avLst/>
          </a:prstGeom>
          <a:noFill/>
        </p:spPr>
        <p:txBody>
          <a:bodyPr wrap="square" anchor="t">
            <a:spAutoFit/>
          </a:bodyPr>
          <a:lstStyle/>
          <a:p>
            <a:pPr algn="ctr">
              <a:defRPr sz="1100" b="1">
                <a:solidFill>
                  <a:srgbClr val="53657D"/>
                </a:solidFill>
                <a:latin typeface="Aptos"/>
              </a:defRPr>
            </a:pPr>
            <a:r>
              <a:t>Decision stability</a:t>
            </a:r>
          </a:p>
        </p:txBody>
      </p:sp>
      <p:sp>
        <p:nvSpPr>
          <p:cNvPr id="13" name="Rectangle 12"/>
          <p:cNvSpPr/>
          <p:nvPr/>
        </p:nvSpPr>
        <p:spPr>
          <a:xfrm>
            <a:off x="6117336"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0216" y="2633472"/>
            <a:ext cx="2121408" cy="411480"/>
          </a:xfrm>
          <a:prstGeom prst="rect">
            <a:avLst/>
          </a:prstGeom>
          <a:noFill/>
        </p:spPr>
        <p:txBody>
          <a:bodyPr wrap="square" anchor="t">
            <a:spAutoFit/>
          </a:bodyPr>
          <a:lstStyle/>
          <a:p>
            <a:pPr algn="ctr">
              <a:defRPr sz="2400" b="1">
                <a:solidFill>
                  <a:srgbClr val="071D49"/>
                </a:solidFill>
                <a:latin typeface="Aptos"/>
              </a:defRPr>
            </a:pPr>
            <a:r>
              <a:t>87</a:t>
            </a:r>
          </a:p>
        </p:txBody>
      </p:sp>
      <p:sp>
        <p:nvSpPr>
          <p:cNvPr id="15" name="TextBox 14"/>
          <p:cNvSpPr txBox="1"/>
          <p:nvPr/>
        </p:nvSpPr>
        <p:spPr>
          <a:xfrm>
            <a:off x="6300216" y="3127248"/>
            <a:ext cx="2121408" cy="228600"/>
          </a:xfrm>
          <a:prstGeom prst="rect">
            <a:avLst/>
          </a:prstGeom>
          <a:noFill/>
        </p:spPr>
        <p:txBody>
          <a:bodyPr wrap="square" anchor="t">
            <a:spAutoFit/>
          </a:bodyPr>
          <a:lstStyle/>
          <a:p>
            <a:pPr algn="ctr">
              <a:defRPr sz="1100" b="1">
                <a:solidFill>
                  <a:srgbClr val="53657D"/>
                </a:solidFill>
                <a:latin typeface="Aptos"/>
              </a:defRPr>
            </a:pPr>
            <a:r>
              <a:t>Execution quality</a:t>
            </a:r>
          </a:p>
        </p:txBody>
      </p:sp>
      <p:sp>
        <p:nvSpPr>
          <p:cNvPr id="16" name="Rectangle 15"/>
          <p:cNvSpPr/>
          <p:nvPr/>
        </p:nvSpPr>
        <p:spPr>
          <a:xfrm>
            <a:off x="8878824" y="2423160"/>
            <a:ext cx="2487168" cy="1188720"/>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61704" y="2633472"/>
            <a:ext cx="2121408" cy="411480"/>
          </a:xfrm>
          <a:prstGeom prst="rect">
            <a:avLst/>
          </a:prstGeom>
          <a:noFill/>
        </p:spPr>
        <p:txBody>
          <a:bodyPr wrap="square" anchor="t">
            <a:spAutoFit/>
          </a:bodyPr>
          <a:lstStyle/>
          <a:p>
            <a:pPr algn="ctr">
              <a:defRPr sz="2400" b="1">
                <a:solidFill>
                  <a:srgbClr val="071D49"/>
                </a:solidFill>
                <a:latin typeface="Aptos"/>
              </a:defRPr>
            </a:pPr>
            <a:r>
              <a:t>Pending</a:t>
            </a:r>
          </a:p>
        </p:txBody>
      </p:sp>
      <p:sp>
        <p:nvSpPr>
          <p:cNvPr id="18" name="TextBox 17"/>
          <p:cNvSpPr txBox="1"/>
          <p:nvPr/>
        </p:nvSpPr>
        <p:spPr>
          <a:xfrm>
            <a:off x="9061704" y="3127248"/>
            <a:ext cx="2121408" cy="228600"/>
          </a:xfrm>
          <a:prstGeom prst="rect">
            <a:avLst/>
          </a:prstGeom>
          <a:noFill/>
        </p:spPr>
        <p:txBody>
          <a:bodyPr wrap="square" anchor="t">
            <a:spAutoFit/>
          </a:bodyPr>
          <a:lstStyle/>
          <a:p>
            <a:pPr algn="ctr">
              <a:defRPr sz="1100" b="1">
                <a:solidFill>
                  <a:srgbClr val="53657D"/>
                </a:solidFill>
                <a:latin typeface="Aptos"/>
              </a:defRPr>
            </a:pPr>
            <a:r>
              <a:t>Outcome evidence</a:t>
            </a:r>
          </a:p>
        </p:txBody>
      </p:sp>
      <p:sp>
        <p:nvSpPr>
          <p:cNvPr id="19" name="Rectangle 18"/>
          <p:cNvSpPr/>
          <p:nvPr/>
        </p:nvSpPr>
        <p:spPr>
          <a:xfrm>
            <a:off x="594360" y="3977639"/>
            <a:ext cx="5349240" cy="1261872"/>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224528"/>
            <a:ext cx="2011680" cy="228600"/>
          </a:xfrm>
          <a:prstGeom prst="rect">
            <a:avLst/>
          </a:prstGeom>
          <a:noFill/>
        </p:spPr>
        <p:txBody>
          <a:bodyPr wrap="square" anchor="t">
            <a:spAutoFit/>
          </a:bodyPr>
          <a:lstStyle/>
          <a:p>
            <a:pPr algn="l">
              <a:defRPr sz="1100" b="1">
                <a:solidFill>
                  <a:srgbClr val="72D4E8"/>
                </a:solidFill>
                <a:latin typeface="Aptos"/>
              </a:defRPr>
            </a:pPr>
            <a:r>
              <a:t>PUBLIC JUDGE REPLAY</a:t>
            </a:r>
          </a:p>
        </p:txBody>
      </p:sp>
      <p:sp>
        <p:nvSpPr>
          <p:cNvPr id="21" name="TextBox 20"/>
          <p:cNvSpPr txBox="1"/>
          <p:nvPr/>
        </p:nvSpPr>
        <p:spPr>
          <a:xfrm>
            <a:off x="868680" y="4599432"/>
            <a:ext cx="4480560" cy="274320"/>
          </a:xfrm>
          <a:prstGeom prst="rect">
            <a:avLst/>
          </a:prstGeom>
          <a:noFill/>
        </p:spPr>
        <p:txBody>
          <a:bodyPr wrap="square" anchor="t">
            <a:spAutoFit/>
          </a:bodyPr>
          <a:lstStyle/>
          <a:p>
            <a:pPr algn="l">
              <a:defRPr sz="1700" b="1">
                <a:solidFill>
                  <a:srgbClr val="FFFFFF"/>
                </a:solidFill>
                <a:latin typeface="Aptos"/>
              </a:defRPr>
            </a:pPr>
            <a:r>
              <a:t>Sanitized case, credential-free</a:t>
            </a:r>
          </a:p>
        </p:txBody>
      </p:sp>
      <p:sp>
        <p:nvSpPr>
          <p:cNvPr id="22" name="Rectangle 21"/>
          <p:cNvSpPr/>
          <p:nvPr/>
        </p:nvSpPr>
        <p:spPr>
          <a:xfrm>
            <a:off x="6199632" y="3977639"/>
            <a:ext cx="5349240" cy="1261872"/>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4224528"/>
            <a:ext cx="2103120" cy="228600"/>
          </a:xfrm>
          <a:prstGeom prst="rect">
            <a:avLst/>
          </a:prstGeom>
          <a:noFill/>
        </p:spPr>
        <p:txBody>
          <a:bodyPr wrap="square" anchor="t">
            <a:spAutoFit/>
          </a:bodyPr>
          <a:lstStyle/>
          <a:p>
            <a:pPr algn="l">
              <a:defRPr sz="1100" b="1">
                <a:solidFill>
                  <a:srgbClr val="19B5D8"/>
                </a:solidFill>
                <a:latin typeface="Aptos"/>
              </a:defRPr>
            </a:pPr>
            <a:r>
              <a:t>LIVE DEDICATED ACCOUNT</a:t>
            </a:r>
          </a:p>
        </p:txBody>
      </p:sp>
      <p:sp>
        <p:nvSpPr>
          <p:cNvPr id="24" name="TextBox 23"/>
          <p:cNvSpPr txBox="1"/>
          <p:nvPr/>
        </p:nvSpPr>
        <p:spPr>
          <a:xfrm>
            <a:off x="6473952" y="4599432"/>
            <a:ext cx="4526280" cy="274320"/>
          </a:xfrm>
          <a:prstGeom prst="rect">
            <a:avLst/>
          </a:prstGeom>
          <a:noFill/>
        </p:spPr>
        <p:txBody>
          <a:bodyPr wrap="square" anchor="t">
            <a:spAutoFit/>
          </a:bodyPr>
          <a:lstStyle/>
          <a:p>
            <a:pPr algn="l">
              <a:defRPr sz="1500" b="1">
                <a:solidFill>
                  <a:srgbClr val="071D49"/>
                </a:solidFill>
                <a:latin typeface="Aptos"/>
              </a:defRPr>
            </a:pPr>
            <a:r>
              <a:t>ABSTAIN · 13 of 15 checks · quotes not executable</a:t>
            </a:r>
          </a:p>
        </p:txBody>
      </p:sp>
      <p:sp>
        <p:nvSpPr>
          <p:cNvPr id="25" name="TextBox 24"/>
          <p:cNvSpPr txBox="1"/>
          <p:nvPr/>
        </p:nvSpPr>
        <p:spPr>
          <a:xfrm>
            <a:off x="685800" y="5650992"/>
            <a:ext cx="10698480" cy="228600"/>
          </a:xfrm>
          <a:prstGeom prst="rect">
            <a:avLst/>
          </a:prstGeom>
          <a:noFill/>
        </p:spPr>
        <p:txBody>
          <a:bodyPr wrap="square" anchor="t">
            <a:spAutoFit/>
          </a:bodyPr>
          <a:lstStyle/>
          <a:p>
            <a:pPr algn="ctr">
              <a:defRPr sz="1100" b="1">
                <a:solidFill>
                  <a:srgbClr val="53657D"/>
                </a:solidFill>
                <a:latin typeface="Aptos"/>
              </a:defRPr>
            </a:pPr>
            <a:r>
              <a:t>CS-20260903-5C194F65 · PA3PDTUDIXDU · 0 orders · 0 positions · no P&amp;L claim</a:t>
            </a:r>
          </a:p>
        </p:txBody>
      </p:sp>
      <p:sp>
        <p:nvSpPr>
          <p:cNvPr id="26" name="TextBox 25"/>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27" name="TextBox 26"/>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06</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TRUST AND SAFETY</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Safe by architecture—not by prompt</a:t>
            </a:r>
          </a:p>
        </p:txBody>
      </p:sp>
      <p:sp>
        <p:nvSpPr>
          <p:cNvPr id="6" name="Rectangle 5"/>
          <p:cNvSpPr/>
          <p:nvPr/>
        </p:nvSpPr>
        <p:spPr>
          <a:xfrm>
            <a:off x="594360" y="237744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237744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560320"/>
            <a:ext cx="1143000" cy="256032"/>
          </a:xfrm>
          <a:prstGeom prst="rect">
            <a:avLst/>
          </a:prstGeom>
          <a:noFill/>
        </p:spPr>
        <p:txBody>
          <a:bodyPr wrap="square" anchor="t">
            <a:spAutoFit/>
          </a:bodyPr>
          <a:lstStyle/>
          <a:p>
            <a:pPr algn="l">
              <a:defRPr sz="1100" b="1">
                <a:solidFill>
                  <a:srgbClr val="071D49"/>
                </a:solidFill>
                <a:latin typeface="Aptos"/>
              </a:defRPr>
            </a:pPr>
            <a:r>
              <a:t>Public UI</a:t>
            </a:r>
          </a:p>
        </p:txBody>
      </p:sp>
      <p:sp>
        <p:nvSpPr>
          <p:cNvPr id="9" name="TextBox 8"/>
          <p:cNvSpPr txBox="1"/>
          <p:nvPr/>
        </p:nvSpPr>
        <p:spPr>
          <a:xfrm>
            <a:off x="2103120" y="2560320"/>
            <a:ext cx="1600200" cy="457200"/>
          </a:xfrm>
          <a:prstGeom prst="rect">
            <a:avLst/>
          </a:prstGeom>
          <a:noFill/>
        </p:spPr>
        <p:txBody>
          <a:bodyPr wrap="square" anchor="t">
            <a:spAutoFit/>
          </a:bodyPr>
          <a:lstStyle/>
          <a:p>
            <a:pPr algn="l">
              <a:defRPr sz="1100" b="0">
                <a:solidFill>
                  <a:srgbClr val="53657D"/>
                </a:solidFill>
                <a:latin typeface="Aptos"/>
              </a:defRPr>
            </a:pPr>
            <a:r>
              <a:t>Read-only replay</a:t>
            </a:r>
          </a:p>
        </p:txBody>
      </p:sp>
      <p:sp>
        <p:nvSpPr>
          <p:cNvPr id="10" name="Rectangle 9"/>
          <p:cNvSpPr/>
          <p:nvPr/>
        </p:nvSpPr>
        <p:spPr>
          <a:xfrm>
            <a:off x="4361688" y="237744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61688" y="237744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36008" y="2560320"/>
            <a:ext cx="1143000" cy="256032"/>
          </a:xfrm>
          <a:prstGeom prst="rect">
            <a:avLst/>
          </a:prstGeom>
          <a:noFill/>
        </p:spPr>
        <p:txBody>
          <a:bodyPr wrap="square" anchor="t">
            <a:spAutoFit/>
          </a:bodyPr>
          <a:lstStyle/>
          <a:p>
            <a:pPr algn="l">
              <a:defRPr sz="1100" b="1">
                <a:solidFill>
                  <a:srgbClr val="071D49"/>
                </a:solidFill>
                <a:latin typeface="Aptos"/>
              </a:defRPr>
            </a:pPr>
            <a:r>
              <a:t>Cloud watch</a:t>
            </a:r>
          </a:p>
        </p:txBody>
      </p:sp>
      <p:sp>
        <p:nvSpPr>
          <p:cNvPr id="13" name="TextBox 12"/>
          <p:cNvSpPr txBox="1"/>
          <p:nvPr/>
        </p:nvSpPr>
        <p:spPr>
          <a:xfrm>
            <a:off x="5870448" y="2560320"/>
            <a:ext cx="1600200" cy="457200"/>
          </a:xfrm>
          <a:prstGeom prst="rect">
            <a:avLst/>
          </a:prstGeom>
          <a:noFill/>
        </p:spPr>
        <p:txBody>
          <a:bodyPr wrap="square" anchor="t">
            <a:spAutoFit/>
          </a:bodyPr>
          <a:lstStyle/>
          <a:p>
            <a:pPr algn="l">
              <a:defRPr sz="1100" b="0">
                <a:solidFill>
                  <a:srgbClr val="53657D"/>
                </a:solidFill>
                <a:latin typeface="Aptos"/>
              </a:defRPr>
            </a:pPr>
            <a:r>
              <a:t>Observe only</a:t>
            </a:r>
          </a:p>
        </p:txBody>
      </p:sp>
      <p:sp>
        <p:nvSpPr>
          <p:cNvPr id="14" name="Rectangle 13"/>
          <p:cNvSpPr/>
          <p:nvPr/>
        </p:nvSpPr>
        <p:spPr>
          <a:xfrm>
            <a:off x="8129016" y="237744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29016" y="237744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03336" y="2560320"/>
            <a:ext cx="1143000" cy="256032"/>
          </a:xfrm>
          <a:prstGeom prst="rect">
            <a:avLst/>
          </a:prstGeom>
          <a:noFill/>
        </p:spPr>
        <p:txBody>
          <a:bodyPr wrap="square" anchor="t">
            <a:spAutoFit/>
          </a:bodyPr>
          <a:lstStyle/>
          <a:p>
            <a:pPr algn="l">
              <a:defRPr sz="1100" b="1">
                <a:solidFill>
                  <a:srgbClr val="071D49"/>
                </a:solidFill>
                <a:latin typeface="Aptos"/>
              </a:defRPr>
            </a:pPr>
            <a:r>
              <a:t>LLM</a:t>
            </a:r>
          </a:p>
        </p:txBody>
      </p:sp>
      <p:sp>
        <p:nvSpPr>
          <p:cNvPr id="17" name="TextBox 16"/>
          <p:cNvSpPr txBox="1"/>
          <p:nvPr/>
        </p:nvSpPr>
        <p:spPr>
          <a:xfrm>
            <a:off x="9637776" y="2560320"/>
            <a:ext cx="1600200" cy="457200"/>
          </a:xfrm>
          <a:prstGeom prst="rect">
            <a:avLst/>
          </a:prstGeom>
          <a:noFill/>
        </p:spPr>
        <p:txBody>
          <a:bodyPr wrap="square" anchor="t">
            <a:spAutoFit/>
          </a:bodyPr>
          <a:lstStyle/>
          <a:p>
            <a:pPr algn="l">
              <a:defRPr sz="1100" b="0">
                <a:solidFill>
                  <a:srgbClr val="53657D"/>
                </a:solidFill>
                <a:latin typeface="Aptos"/>
              </a:defRPr>
            </a:pPr>
            <a:r>
              <a:t>No direct tool access</a:t>
            </a:r>
          </a:p>
        </p:txBody>
      </p:sp>
      <p:sp>
        <p:nvSpPr>
          <p:cNvPr id="18" name="Rectangle 17"/>
          <p:cNvSpPr/>
          <p:nvPr/>
        </p:nvSpPr>
        <p:spPr>
          <a:xfrm>
            <a:off x="594360" y="370332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 y="370332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886200"/>
            <a:ext cx="1143000" cy="256032"/>
          </a:xfrm>
          <a:prstGeom prst="rect">
            <a:avLst/>
          </a:prstGeom>
          <a:noFill/>
        </p:spPr>
        <p:txBody>
          <a:bodyPr wrap="square" anchor="t">
            <a:spAutoFit/>
          </a:bodyPr>
          <a:lstStyle/>
          <a:p>
            <a:pPr algn="l">
              <a:defRPr sz="1100" b="1">
                <a:solidFill>
                  <a:srgbClr val="071D49"/>
                </a:solidFill>
                <a:latin typeface="Aptos"/>
              </a:defRPr>
            </a:pPr>
            <a:r>
              <a:t>Evidence</a:t>
            </a:r>
          </a:p>
        </p:txBody>
      </p:sp>
      <p:sp>
        <p:nvSpPr>
          <p:cNvPr id="21" name="TextBox 20"/>
          <p:cNvSpPr txBox="1"/>
          <p:nvPr/>
        </p:nvSpPr>
        <p:spPr>
          <a:xfrm>
            <a:off x="2103120" y="3886200"/>
            <a:ext cx="1600200" cy="457200"/>
          </a:xfrm>
          <a:prstGeom prst="rect">
            <a:avLst/>
          </a:prstGeom>
          <a:noFill/>
        </p:spPr>
        <p:txBody>
          <a:bodyPr wrap="square" anchor="t">
            <a:spAutoFit/>
          </a:bodyPr>
          <a:lstStyle/>
          <a:p>
            <a:pPr algn="l">
              <a:defRPr sz="1100" b="0">
                <a:solidFill>
                  <a:srgbClr val="53657D"/>
                </a:solidFill>
                <a:latin typeface="Aptos"/>
              </a:defRPr>
            </a:pPr>
            <a:r>
              <a:t>Secret-free receipts</a:t>
            </a:r>
          </a:p>
        </p:txBody>
      </p:sp>
      <p:sp>
        <p:nvSpPr>
          <p:cNvPr id="22" name="Rectangle 21"/>
          <p:cNvSpPr/>
          <p:nvPr/>
        </p:nvSpPr>
        <p:spPr>
          <a:xfrm>
            <a:off x="4361688" y="370332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61688" y="3703320"/>
            <a:ext cx="73152" cy="1024128"/>
          </a:xfrm>
          <a:prstGeom prst="rect">
            <a:avLst/>
          </a:prstGeom>
          <a:solidFill>
            <a:srgbClr val="1E8E53"/>
          </a:solidFill>
          <a:ln>
            <a:solidFill>
              <a:srgbClr val="1E8E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36008" y="3886200"/>
            <a:ext cx="1143000" cy="256032"/>
          </a:xfrm>
          <a:prstGeom prst="rect">
            <a:avLst/>
          </a:prstGeom>
          <a:noFill/>
        </p:spPr>
        <p:txBody>
          <a:bodyPr wrap="square" anchor="t">
            <a:spAutoFit/>
          </a:bodyPr>
          <a:lstStyle/>
          <a:p>
            <a:pPr algn="l">
              <a:defRPr sz="1100" b="1">
                <a:solidFill>
                  <a:srgbClr val="071D49"/>
                </a:solidFill>
                <a:latin typeface="Aptos"/>
              </a:defRPr>
            </a:pPr>
            <a:r>
              <a:t>Exit state</a:t>
            </a:r>
          </a:p>
        </p:txBody>
      </p:sp>
      <p:sp>
        <p:nvSpPr>
          <p:cNvPr id="25" name="TextBox 24"/>
          <p:cNvSpPr txBox="1"/>
          <p:nvPr/>
        </p:nvSpPr>
        <p:spPr>
          <a:xfrm>
            <a:off x="5870448" y="3886200"/>
            <a:ext cx="1600200" cy="457200"/>
          </a:xfrm>
          <a:prstGeom prst="rect">
            <a:avLst/>
          </a:prstGeom>
          <a:noFill/>
        </p:spPr>
        <p:txBody>
          <a:bodyPr wrap="square" anchor="t">
            <a:spAutoFit/>
          </a:bodyPr>
          <a:lstStyle/>
          <a:p>
            <a:pPr algn="l">
              <a:defRPr sz="1100" b="0">
                <a:solidFill>
                  <a:srgbClr val="53657D"/>
                </a:solidFill>
                <a:latin typeface="Aptos"/>
              </a:defRPr>
            </a:pPr>
            <a:r>
              <a:t>No duplicate closes</a:t>
            </a:r>
          </a:p>
        </p:txBody>
      </p:sp>
      <p:sp>
        <p:nvSpPr>
          <p:cNvPr id="26" name="Rectangle 25"/>
          <p:cNvSpPr/>
          <p:nvPr/>
        </p:nvSpPr>
        <p:spPr>
          <a:xfrm>
            <a:off x="8129016" y="3703320"/>
            <a:ext cx="3429000" cy="1024128"/>
          </a:xfrm>
          <a:prstGeom prst="rect">
            <a:avLst/>
          </a:prstGeom>
          <a:solidFill>
            <a:srgbClr val="F2F7FB"/>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29016" y="3703320"/>
            <a:ext cx="73152" cy="1024128"/>
          </a:xfrm>
          <a:prstGeom prst="rect">
            <a:avLst/>
          </a:prstGeom>
          <a:solidFill>
            <a:srgbClr val="C67E00"/>
          </a:solidFill>
          <a:ln>
            <a:solidFill>
              <a:srgbClr val="C67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03336" y="3886200"/>
            <a:ext cx="1143000" cy="256032"/>
          </a:xfrm>
          <a:prstGeom prst="rect">
            <a:avLst/>
          </a:prstGeom>
          <a:noFill/>
        </p:spPr>
        <p:txBody>
          <a:bodyPr wrap="square" anchor="t">
            <a:spAutoFit/>
          </a:bodyPr>
          <a:lstStyle/>
          <a:p>
            <a:pPr algn="l">
              <a:defRPr sz="1100" b="1">
                <a:solidFill>
                  <a:srgbClr val="071D49"/>
                </a:solidFill>
                <a:latin typeface="Aptos"/>
              </a:defRPr>
            </a:pPr>
            <a:r>
              <a:t>Recovery</a:t>
            </a:r>
          </a:p>
        </p:txBody>
      </p:sp>
      <p:sp>
        <p:nvSpPr>
          <p:cNvPr id="29" name="TextBox 28"/>
          <p:cNvSpPr txBox="1"/>
          <p:nvPr/>
        </p:nvSpPr>
        <p:spPr>
          <a:xfrm>
            <a:off x="9637776" y="3886200"/>
            <a:ext cx="1600200" cy="457200"/>
          </a:xfrm>
          <a:prstGeom prst="rect">
            <a:avLst/>
          </a:prstGeom>
          <a:noFill/>
        </p:spPr>
        <p:txBody>
          <a:bodyPr wrap="square" anchor="t">
            <a:spAutoFit/>
          </a:bodyPr>
          <a:lstStyle/>
          <a:p>
            <a:pPr algn="l">
              <a:defRPr sz="1100" b="0">
                <a:solidFill>
                  <a:srgbClr val="53657D"/>
                </a:solidFill>
                <a:latin typeface="Aptos"/>
              </a:defRPr>
            </a:pPr>
            <a:r>
              <a:t>Explicit approval</a:t>
            </a:r>
          </a:p>
        </p:txBody>
      </p:sp>
      <p:sp>
        <p:nvSpPr>
          <p:cNvPr id="30" name="Rectangle 29"/>
          <p:cNvSpPr/>
          <p:nvPr/>
        </p:nvSpPr>
        <p:spPr>
          <a:xfrm>
            <a:off x="594360" y="5184648"/>
            <a:ext cx="10972800" cy="530352"/>
          </a:xfrm>
          <a:prstGeom prst="rect">
            <a:avLst/>
          </a:prstGeom>
          <a:solidFill>
            <a:srgbClr val="003B70"/>
          </a:solidFill>
          <a:ln>
            <a:solidFill>
              <a:srgbClr val="003B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349240"/>
            <a:ext cx="10515600" cy="228600"/>
          </a:xfrm>
          <a:prstGeom prst="rect">
            <a:avLst/>
          </a:prstGeom>
          <a:noFill/>
        </p:spPr>
        <p:txBody>
          <a:bodyPr wrap="square" anchor="t">
            <a:spAutoFit/>
          </a:bodyPr>
          <a:lstStyle/>
          <a:p>
            <a:pPr algn="ctr">
              <a:defRPr sz="1300" b="1">
                <a:solidFill>
                  <a:srgbClr val="FFFFFF"/>
                </a:solidFill>
                <a:latin typeface="Aptos"/>
              </a:defRPr>
            </a:pPr>
            <a:r>
              <a:t>NIST AI RMF and SSDF aligned · voluntary and tailorable · not NIST-certified</a:t>
            </a:r>
          </a:p>
        </p:txBody>
      </p:sp>
      <p:sp>
        <p:nvSpPr>
          <p:cNvPr id="32" name="TextBox 31"/>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33" name="TextBox 32"/>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9184"/>
            <a:ext cx="457200" cy="228600"/>
          </a:xfrm>
          <a:prstGeom prst="rect">
            <a:avLst/>
          </a:prstGeom>
          <a:noFill/>
        </p:spPr>
        <p:txBody>
          <a:bodyPr wrap="square" anchor="t">
            <a:spAutoFit/>
          </a:bodyPr>
          <a:lstStyle/>
          <a:p>
            <a:pPr algn="l">
              <a:defRPr sz="1000" b="1">
                <a:solidFill>
                  <a:srgbClr val="19B5D8"/>
                </a:solidFill>
                <a:latin typeface="Aptos"/>
              </a:defRPr>
            </a:pPr>
            <a:r>
              <a:t>07</a:t>
            </a:r>
          </a:p>
        </p:txBody>
      </p:sp>
      <p:sp>
        <p:nvSpPr>
          <p:cNvPr id="3" name="TextBox 2"/>
          <p:cNvSpPr txBox="1"/>
          <p:nvPr/>
        </p:nvSpPr>
        <p:spPr>
          <a:xfrm>
            <a:off x="960120" y="310896"/>
            <a:ext cx="5029200" cy="274320"/>
          </a:xfrm>
          <a:prstGeom prst="rect">
            <a:avLst/>
          </a:prstGeom>
          <a:noFill/>
        </p:spPr>
        <p:txBody>
          <a:bodyPr wrap="square" anchor="t">
            <a:spAutoFit/>
          </a:bodyPr>
          <a:lstStyle/>
          <a:p>
            <a:pPr algn="l">
              <a:defRPr sz="1000" b="1">
                <a:solidFill>
                  <a:srgbClr val="53657D"/>
                </a:solidFill>
                <a:latin typeface="Aptos"/>
              </a:defRPr>
            </a:pPr>
            <a:r>
              <a:t>BUSINESS VALUE</a:t>
            </a:r>
          </a:p>
        </p:txBody>
      </p:sp>
      <p:sp>
        <p:nvSpPr>
          <p:cNvPr id="4" name="Rectangle 3"/>
          <p:cNvSpPr/>
          <p:nvPr/>
        </p:nvSpPr>
        <p:spPr>
          <a:xfrm>
            <a:off x="502920" y="685800"/>
            <a:ext cx="11155680" cy="13716"/>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987552"/>
            <a:ext cx="10972800" cy="960120"/>
          </a:xfrm>
          <a:prstGeom prst="rect">
            <a:avLst/>
          </a:prstGeom>
          <a:noFill/>
        </p:spPr>
        <p:txBody>
          <a:bodyPr wrap="square" anchor="t">
            <a:spAutoFit/>
          </a:bodyPr>
          <a:lstStyle/>
          <a:p>
            <a:pPr algn="l">
              <a:defRPr sz="3400" b="1">
                <a:solidFill>
                  <a:srgbClr val="071D49"/>
                </a:solidFill>
                <a:latin typeface="Aptos Display"/>
              </a:defRPr>
            </a:pPr>
            <a:r>
              <a:t>The accountability layer for AI-assisted trading</a:t>
            </a:r>
          </a:p>
        </p:txBody>
      </p:sp>
      <p:sp>
        <p:nvSpPr>
          <p:cNvPr id="6" name="TextBox 5"/>
          <p:cNvSpPr txBox="1"/>
          <p:nvPr/>
        </p:nvSpPr>
        <p:spPr>
          <a:xfrm>
            <a:off x="640080" y="2286000"/>
            <a:ext cx="3200400" cy="274320"/>
          </a:xfrm>
          <a:prstGeom prst="rect">
            <a:avLst/>
          </a:prstGeom>
          <a:noFill/>
        </p:spPr>
        <p:txBody>
          <a:bodyPr wrap="square" anchor="t">
            <a:spAutoFit/>
          </a:bodyPr>
          <a:lstStyle/>
          <a:p>
            <a:pPr algn="l">
              <a:defRPr sz="1100" b="1">
                <a:solidFill>
                  <a:srgbClr val="19B5D8"/>
                </a:solidFill>
                <a:latin typeface="Aptos"/>
              </a:defRPr>
            </a:pPr>
            <a:r>
              <a:t>WHO NEEDS IT</a:t>
            </a:r>
          </a:p>
        </p:txBody>
      </p:sp>
      <p:sp>
        <p:nvSpPr>
          <p:cNvPr id="7" name="TextBox 6"/>
          <p:cNvSpPr txBox="1"/>
          <p:nvPr/>
        </p:nvSpPr>
        <p:spPr>
          <a:xfrm>
            <a:off x="640080" y="2743200"/>
            <a:ext cx="4206240" cy="2011680"/>
          </a:xfrm>
          <a:prstGeom prst="rect">
            <a:avLst/>
          </a:prstGeom>
          <a:noFill/>
        </p:spPr>
        <p:txBody>
          <a:bodyPr wrap="square">
            <a:spAutoFit/>
          </a:bodyPr>
          <a:lstStyle/>
          <a:p>
            <a:pPr>
              <a:spcAft>
                <a:spcPts val="1400"/>
              </a:spcAft>
              <a:defRPr sz="1800">
                <a:solidFill>
                  <a:srgbClr val="071D49"/>
                </a:solidFill>
                <a:latin typeface="Aptos"/>
              </a:defRPr>
            </a:pPr>
            <a:r>
              <a:t>•  Active options traders</a:t>
            </a:r>
          </a:p>
          <a:p>
            <a:pPr>
              <a:spcAft>
                <a:spcPts val="1400"/>
              </a:spcAft>
              <a:defRPr sz="1800">
                <a:solidFill>
                  <a:srgbClr val="071D49"/>
                </a:solidFill>
                <a:latin typeface="Aptos"/>
              </a:defRPr>
            </a:pPr>
            <a:r>
              <a:t>•  Small investment teams</a:t>
            </a:r>
          </a:p>
          <a:p>
            <a:pPr>
              <a:spcAft>
                <a:spcPts val="1400"/>
              </a:spcAft>
              <a:defRPr sz="1800">
                <a:solidFill>
                  <a:srgbClr val="071D49"/>
                </a:solidFill>
                <a:latin typeface="Aptos"/>
              </a:defRPr>
            </a:pPr>
            <a:r>
              <a:t>•  Broker and platform providers</a:t>
            </a:r>
          </a:p>
          <a:p>
            <a:pPr>
              <a:spcAft>
                <a:spcPts val="1400"/>
              </a:spcAft>
              <a:defRPr sz="1800">
                <a:solidFill>
                  <a:srgbClr val="071D49"/>
                </a:solidFill>
                <a:latin typeface="Aptos"/>
              </a:defRPr>
            </a:pPr>
            <a:r>
              <a:t>•  Risk and compliance teams</a:t>
            </a:r>
          </a:p>
        </p:txBody>
      </p:sp>
      <p:sp>
        <p:nvSpPr>
          <p:cNvPr id="8" name="Rectangle 7"/>
          <p:cNvSpPr/>
          <p:nvPr/>
        </p:nvSpPr>
        <p:spPr>
          <a:xfrm>
            <a:off x="4892040" y="2240280"/>
            <a:ext cx="18288" cy="3108960"/>
          </a:xfrm>
          <a:prstGeom prst="rect">
            <a:avLst/>
          </a:prstGeom>
          <a:solidFill>
            <a:srgbClr val="D5E0E9"/>
          </a:solidFill>
          <a:ln>
            <a:solidFill>
              <a:srgbClr val="D5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03520" y="2286000"/>
            <a:ext cx="3200400" cy="274320"/>
          </a:xfrm>
          <a:prstGeom prst="rect">
            <a:avLst/>
          </a:prstGeom>
          <a:noFill/>
        </p:spPr>
        <p:txBody>
          <a:bodyPr wrap="square" anchor="t">
            <a:spAutoFit/>
          </a:bodyPr>
          <a:lstStyle/>
          <a:p>
            <a:pPr algn="l">
              <a:defRPr sz="1100" b="1">
                <a:solidFill>
                  <a:srgbClr val="19B5D8"/>
                </a:solidFill>
                <a:latin typeface="Aptos"/>
              </a:defRPr>
            </a:pPr>
            <a:r>
              <a:t>HOW IT GROWS</a:t>
            </a:r>
          </a:p>
        </p:txBody>
      </p:sp>
      <p:sp>
        <p:nvSpPr>
          <p:cNvPr id="10" name="TextBox 9"/>
          <p:cNvSpPr txBox="1"/>
          <p:nvPr/>
        </p:nvSpPr>
        <p:spPr>
          <a:xfrm>
            <a:off x="5303520" y="2743200"/>
            <a:ext cx="594360" cy="274320"/>
          </a:xfrm>
          <a:prstGeom prst="rect">
            <a:avLst/>
          </a:prstGeom>
          <a:noFill/>
        </p:spPr>
        <p:txBody>
          <a:bodyPr wrap="square" anchor="t">
            <a:spAutoFit/>
          </a:bodyPr>
          <a:lstStyle/>
          <a:p>
            <a:pPr algn="l">
              <a:defRPr sz="1100" b="1">
                <a:solidFill>
                  <a:srgbClr val="19B5D8"/>
                </a:solidFill>
                <a:latin typeface="Aptos"/>
              </a:defRPr>
            </a:pPr>
            <a:r>
              <a:t>01</a:t>
            </a:r>
          </a:p>
        </p:txBody>
      </p:sp>
      <p:sp>
        <p:nvSpPr>
          <p:cNvPr id="11" name="TextBox 10"/>
          <p:cNvSpPr txBox="1"/>
          <p:nvPr/>
        </p:nvSpPr>
        <p:spPr>
          <a:xfrm>
            <a:off x="5989320" y="2715768"/>
            <a:ext cx="3977639" cy="320040"/>
          </a:xfrm>
          <a:prstGeom prst="rect">
            <a:avLst/>
          </a:prstGeom>
          <a:noFill/>
        </p:spPr>
        <p:txBody>
          <a:bodyPr wrap="square" anchor="t">
            <a:spAutoFit/>
          </a:bodyPr>
          <a:lstStyle/>
          <a:p>
            <a:pPr algn="l">
              <a:defRPr sz="1700" b="1">
                <a:solidFill>
                  <a:srgbClr val="071D49"/>
                </a:solidFill>
                <a:latin typeface="Aptos"/>
              </a:defRPr>
            </a:pPr>
            <a:r>
              <a:t>Professional SaaS</a:t>
            </a:r>
          </a:p>
        </p:txBody>
      </p:sp>
      <p:sp>
        <p:nvSpPr>
          <p:cNvPr id="12" name="TextBox 11"/>
          <p:cNvSpPr txBox="1"/>
          <p:nvPr/>
        </p:nvSpPr>
        <p:spPr>
          <a:xfrm>
            <a:off x="5303520" y="3355848"/>
            <a:ext cx="594360" cy="274320"/>
          </a:xfrm>
          <a:prstGeom prst="rect">
            <a:avLst/>
          </a:prstGeom>
          <a:noFill/>
        </p:spPr>
        <p:txBody>
          <a:bodyPr wrap="square" anchor="t">
            <a:spAutoFit/>
          </a:bodyPr>
          <a:lstStyle/>
          <a:p>
            <a:pPr algn="l">
              <a:defRPr sz="1100" b="1">
                <a:solidFill>
                  <a:srgbClr val="19B5D8"/>
                </a:solidFill>
                <a:latin typeface="Aptos"/>
              </a:defRPr>
            </a:pPr>
            <a:r>
              <a:t>02</a:t>
            </a:r>
          </a:p>
        </p:txBody>
      </p:sp>
      <p:sp>
        <p:nvSpPr>
          <p:cNvPr id="13" name="TextBox 12"/>
          <p:cNvSpPr txBox="1"/>
          <p:nvPr/>
        </p:nvSpPr>
        <p:spPr>
          <a:xfrm>
            <a:off x="5989320" y="3328416"/>
            <a:ext cx="3977639" cy="320040"/>
          </a:xfrm>
          <a:prstGeom prst="rect">
            <a:avLst/>
          </a:prstGeom>
          <a:noFill/>
        </p:spPr>
        <p:txBody>
          <a:bodyPr wrap="square" anchor="t">
            <a:spAutoFit/>
          </a:bodyPr>
          <a:lstStyle/>
          <a:p>
            <a:pPr algn="l">
              <a:defRPr sz="1700" b="1">
                <a:solidFill>
                  <a:srgbClr val="071D49"/>
                </a:solidFill>
                <a:latin typeface="Aptos"/>
              </a:defRPr>
            </a:pPr>
            <a:r>
              <a:t>Team governance</a:t>
            </a:r>
          </a:p>
        </p:txBody>
      </p:sp>
      <p:sp>
        <p:nvSpPr>
          <p:cNvPr id="14" name="TextBox 13"/>
          <p:cNvSpPr txBox="1"/>
          <p:nvPr/>
        </p:nvSpPr>
        <p:spPr>
          <a:xfrm>
            <a:off x="5303520" y="3968496"/>
            <a:ext cx="594360" cy="274320"/>
          </a:xfrm>
          <a:prstGeom prst="rect">
            <a:avLst/>
          </a:prstGeom>
          <a:noFill/>
        </p:spPr>
        <p:txBody>
          <a:bodyPr wrap="square" anchor="t">
            <a:spAutoFit/>
          </a:bodyPr>
          <a:lstStyle/>
          <a:p>
            <a:pPr algn="l">
              <a:defRPr sz="1100" b="1">
                <a:solidFill>
                  <a:srgbClr val="19B5D8"/>
                </a:solidFill>
                <a:latin typeface="Aptos"/>
              </a:defRPr>
            </a:pPr>
            <a:r>
              <a:t>03</a:t>
            </a:r>
          </a:p>
        </p:txBody>
      </p:sp>
      <p:sp>
        <p:nvSpPr>
          <p:cNvPr id="15" name="TextBox 14"/>
          <p:cNvSpPr txBox="1"/>
          <p:nvPr/>
        </p:nvSpPr>
        <p:spPr>
          <a:xfrm>
            <a:off x="5989320" y="3941063"/>
            <a:ext cx="3977639" cy="320040"/>
          </a:xfrm>
          <a:prstGeom prst="rect">
            <a:avLst/>
          </a:prstGeom>
          <a:noFill/>
        </p:spPr>
        <p:txBody>
          <a:bodyPr wrap="square" anchor="t">
            <a:spAutoFit/>
          </a:bodyPr>
          <a:lstStyle/>
          <a:p>
            <a:pPr algn="l">
              <a:defRPr sz="1700" b="1">
                <a:solidFill>
                  <a:srgbClr val="071D49"/>
                </a:solidFill>
                <a:latin typeface="Aptos"/>
              </a:defRPr>
            </a:pPr>
            <a:r>
              <a:t>Broker partnerships</a:t>
            </a:r>
          </a:p>
        </p:txBody>
      </p:sp>
      <p:sp>
        <p:nvSpPr>
          <p:cNvPr id="16" name="TextBox 15"/>
          <p:cNvSpPr txBox="1"/>
          <p:nvPr/>
        </p:nvSpPr>
        <p:spPr>
          <a:xfrm>
            <a:off x="5303520" y="4581144"/>
            <a:ext cx="594360" cy="274320"/>
          </a:xfrm>
          <a:prstGeom prst="rect">
            <a:avLst/>
          </a:prstGeom>
          <a:noFill/>
        </p:spPr>
        <p:txBody>
          <a:bodyPr wrap="square" anchor="t">
            <a:spAutoFit/>
          </a:bodyPr>
          <a:lstStyle/>
          <a:p>
            <a:pPr algn="l">
              <a:defRPr sz="1100" b="1">
                <a:solidFill>
                  <a:srgbClr val="19B5D8"/>
                </a:solidFill>
                <a:latin typeface="Aptos"/>
              </a:defRPr>
            </a:pPr>
            <a:r>
              <a:t>04</a:t>
            </a:r>
          </a:p>
        </p:txBody>
      </p:sp>
      <p:sp>
        <p:nvSpPr>
          <p:cNvPr id="17" name="TextBox 16"/>
          <p:cNvSpPr txBox="1"/>
          <p:nvPr/>
        </p:nvSpPr>
        <p:spPr>
          <a:xfrm>
            <a:off x="5989320" y="4553712"/>
            <a:ext cx="3977639" cy="320040"/>
          </a:xfrm>
          <a:prstGeom prst="rect">
            <a:avLst/>
          </a:prstGeom>
          <a:noFill/>
        </p:spPr>
        <p:txBody>
          <a:bodyPr wrap="square" anchor="t">
            <a:spAutoFit/>
          </a:bodyPr>
          <a:lstStyle/>
          <a:p>
            <a:pPr algn="l">
              <a:defRPr sz="1700" b="1">
                <a:solidFill>
                  <a:srgbClr val="071D49"/>
                </a:solidFill>
                <a:latin typeface="Aptos"/>
              </a:defRPr>
            </a:pPr>
            <a:r>
              <a:t>Enterprise policy APIs</a:t>
            </a:r>
          </a:p>
        </p:txBody>
      </p:sp>
      <p:sp>
        <p:nvSpPr>
          <p:cNvPr id="18" name="Rectangle 17"/>
          <p:cNvSpPr/>
          <p:nvPr/>
        </p:nvSpPr>
        <p:spPr>
          <a:xfrm>
            <a:off x="9646920" y="2240280"/>
            <a:ext cx="1874519" cy="310896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966960" y="2560320"/>
            <a:ext cx="1234440" cy="274320"/>
          </a:xfrm>
          <a:prstGeom prst="rect">
            <a:avLst/>
          </a:prstGeom>
          <a:noFill/>
        </p:spPr>
        <p:txBody>
          <a:bodyPr wrap="square" anchor="t">
            <a:spAutoFit/>
          </a:bodyPr>
          <a:lstStyle/>
          <a:p>
            <a:pPr algn="ctr">
              <a:defRPr sz="1000" b="1">
                <a:solidFill>
                  <a:srgbClr val="72D4E8"/>
                </a:solidFill>
                <a:latin typeface="Aptos"/>
              </a:defRPr>
            </a:pPr>
            <a:r>
              <a:t>VALUE</a:t>
            </a:r>
          </a:p>
        </p:txBody>
      </p:sp>
      <p:sp>
        <p:nvSpPr>
          <p:cNvPr id="20" name="TextBox 19"/>
          <p:cNvSpPr txBox="1"/>
          <p:nvPr/>
        </p:nvSpPr>
        <p:spPr>
          <a:xfrm>
            <a:off x="9802368" y="3154680"/>
            <a:ext cx="1554480" cy="1600200"/>
          </a:xfrm>
          <a:prstGeom prst="rect">
            <a:avLst/>
          </a:prstGeom>
          <a:noFill/>
        </p:spPr>
        <p:txBody>
          <a:bodyPr wrap="square" anchor="t">
            <a:spAutoFit/>
          </a:bodyPr>
          <a:lstStyle/>
          <a:p>
            <a:pPr algn="ctr">
              <a:defRPr sz="1800" b="1">
                <a:solidFill>
                  <a:srgbClr val="FFFFFF"/>
                </a:solidFill>
                <a:latin typeface="Aptos"/>
              </a:defRPr>
            </a:pPr>
            <a:r>
              <a:t>Faster</a:t>
            </a:r>
            <a:br/>
            <a:r>
              <a:t>review.</a:t>
            </a:r>
            <a:br/>
            <a:r>
              <a:t>Stronger</a:t>
            </a:r>
            <a:br/>
            <a:r>
              <a:t>trust.</a:t>
            </a:r>
          </a:p>
        </p:txBody>
      </p:sp>
      <p:sp>
        <p:nvSpPr>
          <p:cNvPr id="21" name="TextBox 20"/>
          <p:cNvSpPr txBox="1"/>
          <p:nvPr/>
        </p:nvSpPr>
        <p:spPr>
          <a:xfrm>
            <a:off x="594360" y="6473952"/>
            <a:ext cx="9875520" cy="182880"/>
          </a:xfrm>
          <a:prstGeom prst="rect">
            <a:avLst/>
          </a:prstGeom>
          <a:noFill/>
        </p:spPr>
        <p:txBody>
          <a:bodyPr wrap="square" anchor="t">
            <a:spAutoFit/>
          </a:bodyPr>
          <a:lstStyle/>
          <a:p>
            <a:pPr algn="l">
              <a:defRPr sz="800" b="1">
                <a:solidFill>
                  <a:srgbClr val="53657D"/>
                </a:solidFill>
                <a:latin typeface="Aptos"/>
              </a:defRPr>
            </a:pPr>
            <a:r>
              <a:t>CROSSSIGNAL · OMOBOLAJI E ADEYAN · ALPACA PAPER TRADING</a:t>
            </a:r>
          </a:p>
        </p:txBody>
      </p:sp>
      <p:sp>
        <p:nvSpPr>
          <p:cNvPr id="22" name="TextBox 21"/>
          <p:cNvSpPr txBox="1"/>
          <p:nvPr/>
        </p:nvSpPr>
        <p:spPr>
          <a:xfrm>
            <a:off x="11064240" y="6437376"/>
            <a:ext cx="457200" cy="228600"/>
          </a:xfrm>
          <a:prstGeom prst="rect">
            <a:avLst/>
          </a:prstGeom>
          <a:noFill/>
        </p:spPr>
        <p:txBody>
          <a:bodyPr wrap="square" anchor="t">
            <a:spAutoFit/>
          </a:bodyPr>
          <a:lstStyle/>
          <a:p>
            <a:pPr algn="r">
              <a:defRPr sz="900" b="1">
                <a:solidFill>
                  <a:srgbClr val="53657D"/>
                </a:solidFill>
                <a:latin typeface="Aptos"/>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D49"/>
          </a:solidFill>
          <a:ln>
            <a:solidFill>
              <a:srgbClr val="071D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640080"/>
            <a:ext cx="3657600" cy="274320"/>
          </a:xfrm>
          <a:prstGeom prst="rect">
            <a:avLst/>
          </a:prstGeom>
          <a:noFill/>
        </p:spPr>
        <p:txBody>
          <a:bodyPr wrap="square" anchor="t">
            <a:spAutoFit/>
          </a:bodyPr>
          <a:lstStyle/>
          <a:p>
            <a:pPr algn="l">
              <a:defRPr sz="1100" b="1">
                <a:solidFill>
                  <a:srgbClr val="72D4E8"/>
                </a:solidFill>
                <a:latin typeface="Aptos"/>
              </a:defRPr>
            </a:pPr>
            <a:r>
              <a:t>THE PROOF IS PUBLIC</a:t>
            </a:r>
          </a:p>
        </p:txBody>
      </p:sp>
      <p:sp>
        <p:nvSpPr>
          <p:cNvPr id="4" name="TextBox 3"/>
          <p:cNvSpPr txBox="1"/>
          <p:nvPr/>
        </p:nvSpPr>
        <p:spPr>
          <a:xfrm>
            <a:off x="658368" y="1234440"/>
            <a:ext cx="8046720" cy="1417320"/>
          </a:xfrm>
          <a:prstGeom prst="rect">
            <a:avLst/>
          </a:prstGeom>
          <a:noFill/>
        </p:spPr>
        <p:txBody>
          <a:bodyPr wrap="square" anchor="t">
            <a:spAutoFit/>
          </a:bodyPr>
          <a:lstStyle/>
          <a:p>
            <a:pPr algn="l">
              <a:defRPr sz="3600" b="1">
                <a:solidFill>
                  <a:srgbClr val="FFFFFF"/>
                </a:solidFill>
                <a:latin typeface="Aptos Display"/>
              </a:defRPr>
            </a:pPr>
            <a:r>
              <a:t>Inspect the intelligence.</a:t>
            </a:r>
            <a:br/>
            <a:r>
              <a:t>Challenge the decision.</a:t>
            </a:r>
          </a:p>
        </p:txBody>
      </p:sp>
      <p:sp>
        <p:nvSpPr>
          <p:cNvPr id="5" name="TextBox 4"/>
          <p:cNvSpPr txBox="1"/>
          <p:nvPr/>
        </p:nvSpPr>
        <p:spPr>
          <a:xfrm>
            <a:off x="685800" y="3063240"/>
            <a:ext cx="2011680" cy="502920"/>
          </a:xfrm>
          <a:prstGeom prst="rect">
            <a:avLst/>
          </a:prstGeom>
          <a:noFill/>
        </p:spPr>
        <p:txBody>
          <a:bodyPr wrap="square" anchor="t">
            <a:spAutoFit/>
          </a:bodyPr>
          <a:lstStyle/>
          <a:p>
            <a:pPr algn="l">
              <a:defRPr sz="2700" b="1">
                <a:solidFill>
                  <a:srgbClr val="72D4E8"/>
                </a:solidFill>
                <a:latin typeface="Aptos"/>
              </a:defRPr>
            </a:pPr>
            <a:r>
              <a:t>59</a:t>
            </a:r>
          </a:p>
        </p:txBody>
      </p:sp>
      <p:sp>
        <p:nvSpPr>
          <p:cNvPr id="6" name="TextBox 5"/>
          <p:cNvSpPr txBox="1"/>
          <p:nvPr/>
        </p:nvSpPr>
        <p:spPr>
          <a:xfrm>
            <a:off x="685800" y="3611880"/>
            <a:ext cx="2011680" cy="274320"/>
          </a:xfrm>
          <a:prstGeom prst="rect">
            <a:avLst/>
          </a:prstGeom>
          <a:noFill/>
        </p:spPr>
        <p:txBody>
          <a:bodyPr wrap="square" anchor="t">
            <a:spAutoFit/>
          </a:bodyPr>
          <a:lstStyle/>
          <a:p>
            <a:pPr algn="l">
              <a:defRPr sz="1200" b="0">
                <a:solidFill>
                  <a:srgbClr val="FFFFFF"/>
                </a:solidFill>
                <a:latin typeface="Aptos"/>
              </a:defRPr>
            </a:pPr>
            <a:r>
              <a:t>automated tests</a:t>
            </a:r>
          </a:p>
        </p:txBody>
      </p:sp>
      <p:sp>
        <p:nvSpPr>
          <p:cNvPr id="7" name="TextBox 6"/>
          <p:cNvSpPr txBox="1"/>
          <p:nvPr/>
        </p:nvSpPr>
        <p:spPr>
          <a:xfrm>
            <a:off x="3017520" y="3063240"/>
            <a:ext cx="2011680" cy="502920"/>
          </a:xfrm>
          <a:prstGeom prst="rect">
            <a:avLst/>
          </a:prstGeom>
          <a:noFill/>
        </p:spPr>
        <p:txBody>
          <a:bodyPr wrap="square" anchor="t">
            <a:spAutoFit/>
          </a:bodyPr>
          <a:lstStyle/>
          <a:p>
            <a:pPr algn="l">
              <a:defRPr sz="2700" b="1">
                <a:solidFill>
                  <a:srgbClr val="72D4E8"/>
                </a:solidFill>
                <a:latin typeface="Aptos"/>
              </a:defRPr>
            </a:pPr>
            <a:r>
              <a:t>4</a:t>
            </a:r>
          </a:p>
        </p:txBody>
      </p:sp>
      <p:sp>
        <p:nvSpPr>
          <p:cNvPr id="8" name="TextBox 7"/>
          <p:cNvSpPr txBox="1"/>
          <p:nvPr/>
        </p:nvSpPr>
        <p:spPr>
          <a:xfrm>
            <a:off x="3017520" y="3611880"/>
            <a:ext cx="2011680" cy="274320"/>
          </a:xfrm>
          <a:prstGeom prst="rect">
            <a:avLst/>
          </a:prstGeom>
          <a:noFill/>
        </p:spPr>
        <p:txBody>
          <a:bodyPr wrap="square" anchor="t">
            <a:spAutoFit/>
          </a:bodyPr>
          <a:lstStyle/>
          <a:p>
            <a:pPr algn="l">
              <a:defRPr sz="1200" b="0">
                <a:solidFill>
                  <a:srgbClr val="FFFFFF"/>
                </a:solidFill>
                <a:latin typeface="Aptos"/>
              </a:defRPr>
            </a:pPr>
            <a:r>
              <a:t>sealed exit rules</a:t>
            </a:r>
          </a:p>
        </p:txBody>
      </p:sp>
      <p:sp>
        <p:nvSpPr>
          <p:cNvPr id="9" name="TextBox 8"/>
          <p:cNvSpPr txBox="1"/>
          <p:nvPr/>
        </p:nvSpPr>
        <p:spPr>
          <a:xfrm>
            <a:off x="5349240" y="3063240"/>
            <a:ext cx="2011680" cy="502920"/>
          </a:xfrm>
          <a:prstGeom prst="rect">
            <a:avLst/>
          </a:prstGeom>
          <a:noFill/>
        </p:spPr>
        <p:txBody>
          <a:bodyPr wrap="square" anchor="t">
            <a:spAutoFit/>
          </a:bodyPr>
          <a:lstStyle/>
          <a:p>
            <a:pPr algn="l">
              <a:defRPr sz="2700" b="1">
                <a:solidFill>
                  <a:srgbClr val="72D4E8"/>
                </a:solidFill>
                <a:latin typeface="Aptos"/>
              </a:defRPr>
            </a:pPr>
            <a:r>
              <a:t>13/15</a:t>
            </a:r>
          </a:p>
        </p:txBody>
      </p:sp>
      <p:sp>
        <p:nvSpPr>
          <p:cNvPr id="10" name="TextBox 9"/>
          <p:cNvSpPr txBox="1"/>
          <p:nvPr/>
        </p:nvSpPr>
        <p:spPr>
          <a:xfrm>
            <a:off x="5349240" y="3611880"/>
            <a:ext cx="2011680" cy="274320"/>
          </a:xfrm>
          <a:prstGeom prst="rect">
            <a:avLst/>
          </a:prstGeom>
          <a:noFill/>
        </p:spPr>
        <p:txBody>
          <a:bodyPr wrap="square" anchor="t">
            <a:spAutoFit/>
          </a:bodyPr>
          <a:lstStyle/>
          <a:p>
            <a:pPr algn="l">
              <a:defRPr sz="1200" b="0">
                <a:solidFill>
                  <a:srgbClr val="FFFFFF"/>
                </a:solidFill>
                <a:latin typeface="Aptos"/>
              </a:defRPr>
            </a:pPr>
            <a:r>
              <a:t>latest full checks</a:t>
            </a:r>
          </a:p>
        </p:txBody>
      </p:sp>
      <p:sp>
        <p:nvSpPr>
          <p:cNvPr id="11" name="Rectangle 10"/>
          <p:cNvSpPr/>
          <p:nvPr/>
        </p:nvSpPr>
        <p:spPr>
          <a:xfrm>
            <a:off x="8092440" y="1097280"/>
            <a:ext cx="3429000" cy="4206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0" y="1481328"/>
            <a:ext cx="2788920" cy="274320"/>
          </a:xfrm>
          <a:prstGeom prst="rect">
            <a:avLst/>
          </a:prstGeom>
          <a:noFill/>
        </p:spPr>
        <p:txBody>
          <a:bodyPr wrap="square" anchor="t">
            <a:spAutoFit/>
          </a:bodyPr>
          <a:lstStyle/>
          <a:p>
            <a:pPr algn="ctr">
              <a:defRPr sz="1100" b="1">
                <a:solidFill>
                  <a:srgbClr val="003B70"/>
                </a:solidFill>
                <a:latin typeface="Aptos"/>
              </a:defRPr>
            </a:pPr>
            <a:r>
              <a:t>LIVE JUDGE DEMO</a:t>
            </a:r>
          </a:p>
        </p:txBody>
      </p:sp>
      <p:sp>
        <p:nvSpPr>
          <p:cNvPr id="13" name="TextBox 12"/>
          <p:cNvSpPr txBox="1"/>
          <p:nvPr/>
        </p:nvSpPr>
        <p:spPr>
          <a:xfrm>
            <a:off x="8412480" y="2057400"/>
            <a:ext cx="2788920" cy="777240"/>
          </a:xfrm>
          <a:prstGeom prst="rect">
            <a:avLst/>
          </a:prstGeom>
          <a:noFill/>
        </p:spPr>
        <p:txBody>
          <a:bodyPr wrap="square" anchor="t">
            <a:spAutoFit/>
          </a:bodyPr>
          <a:lstStyle/>
          <a:p>
            <a:pPr algn="ctr">
              <a:defRPr sz="1800" b="1">
                <a:solidFill>
                  <a:srgbClr val="071D49"/>
                </a:solidFill>
                <a:latin typeface="Aptos"/>
              </a:defRPr>
            </a:pPr>
            <a:r>
              <a:t>crosssignal-ai-agent</a:t>
            </a:r>
            <a:br/>
            <a:r>
              <a:t>.streamlit.app</a:t>
            </a:r>
          </a:p>
        </p:txBody>
      </p:sp>
      <p:sp>
        <p:nvSpPr>
          <p:cNvPr id="14" name="Rectangle 13"/>
          <p:cNvSpPr/>
          <p:nvPr/>
        </p:nvSpPr>
        <p:spPr>
          <a:xfrm>
            <a:off x="8412480" y="2971800"/>
            <a:ext cx="2788920" cy="27432"/>
          </a:xfrm>
          <a:prstGeom prst="rect">
            <a:avLst/>
          </a:prstGeom>
          <a:solidFill>
            <a:srgbClr val="19B5D8"/>
          </a:solidFill>
          <a:ln>
            <a:solidFill>
              <a:srgbClr val="19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0" y="3401568"/>
            <a:ext cx="2788920" cy="274320"/>
          </a:xfrm>
          <a:prstGeom prst="rect">
            <a:avLst/>
          </a:prstGeom>
          <a:noFill/>
        </p:spPr>
        <p:txBody>
          <a:bodyPr wrap="square" anchor="t">
            <a:spAutoFit/>
          </a:bodyPr>
          <a:lstStyle/>
          <a:p>
            <a:pPr algn="ctr">
              <a:defRPr sz="1100" b="1">
                <a:solidFill>
                  <a:srgbClr val="003B70"/>
                </a:solidFill>
                <a:latin typeface="Aptos"/>
              </a:defRPr>
            </a:pPr>
            <a:r>
              <a:t>SOURCE CODE</a:t>
            </a:r>
          </a:p>
        </p:txBody>
      </p:sp>
      <p:sp>
        <p:nvSpPr>
          <p:cNvPr id="16" name="TextBox 15"/>
          <p:cNvSpPr txBox="1"/>
          <p:nvPr/>
        </p:nvSpPr>
        <p:spPr>
          <a:xfrm>
            <a:off x="8275320" y="3913632"/>
            <a:ext cx="3063240" cy="777240"/>
          </a:xfrm>
          <a:prstGeom prst="rect">
            <a:avLst/>
          </a:prstGeom>
          <a:noFill/>
        </p:spPr>
        <p:txBody>
          <a:bodyPr wrap="square" anchor="t">
            <a:spAutoFit/>
          </a:bodyPr>
          <a:lstStyle/>
          <a:p>
            <a:pPr algn="ctr">
              <a:defRPr sz="1300" b="1">
                <a:solidFill>
                  <a:srgbClr val="071D49"/>
                </a:solidFill>
                <a:latin typeface="Aptos"/>
              </a:defRPr>
            </a:pPr>
            <a:r>
              <a:t>github.com/omobolajiadeyan/</a:t>
            </a:r>
            <a:br/>
            <a:r>
              <a:t>alpaca-cross-market-agent</a:t>
            </a:r>
          </a:p>
        </p:txBody>
      </p:sp>
      <p:sp>
        <p:nvSpPr>
          <p:cNvPr id="17" name="TextBox 16"/>
          <p:cNvSpPr txBox="1"/>
          <p:nvPr/>
        </p:nvSpPr>
        <p:spPr>
          <a:xfrm>
            <a:off x="685800" y="4892040"/>
            <a:ext cx="6812280" cy="777240"/>
          </a:xfrm>
          <a:prstGeom prst="rect">
            <a:avLst/>
          </a:prstGeom>
          <a:noFill/>
        </p:spPr>
        <p:txBody>
          <a:bodyPr wrap="square" anchor="t">
            <a:spAutoFit/>
          </a:bodyPr>
          <a:lstStyle/>
          <a:p>
            <a:pPr algn="l">
              <a:defRPr sz="1700" b="1">
                <a:solidFill>
                  <a:srgbClr val="FFFFFF"/>
                </a:solidFill>
                <a:latin typeface="Aptos"/>
              </a:defRPr>
            </a:pPr>
            <a:r>
              <a:t>CrossSignal proves when a trade deserves entry—</a:t>
            </a:r>
            <a:br/>
            <a:r>
              <a:t>and manages exactly how it exits.</a:t>
            </a:r>
          </a:p>
        </p:txBody>
      </p:sp>
      <p:sp>
        <p:nvSpPr>
          <p:cNvPr id="18" name="TextBox 17"/>
          <p:cNvSpPr txBox="1"/>
          <p:nvPr/>
        </p:nvSpPr>
        <p:spPr>
          <a:xfrm>
            <a:off x="685800" y="6172200"/>
            <a:ext cx="7315200" cy="274320"/>
          </a:xfrm>
          <a:prstGeom prst="rect">
            <a:avLst/>
          </a:prstGeom>
          <a:noFill/>
        </p:spPr>
        <p:txBody>
          <a:bodyPr wrap="square" anchor="t">
            <a:spAutoFit/>
          </a:bodyPr>
          <a:lstStyle/>
          <a:p>
            <a:pPr algn="l">
              <a:defRPr sz="1100" b="0">
                <a:solidFill>
                  <a:srgbClr val="72D4E8"/>
                </a:solidFill>
                <a:latin typeface="Aptos"/>
              </a:defRPr>
            </a:pPr>
            <a:r>
              <a:t>Omobolaji E Adeyan · Paper trading only · Not investment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