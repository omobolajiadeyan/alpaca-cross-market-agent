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Markets often disagree before they reprice. CrossSignal identifies that disagreement, challenges the conclusion, applies deterministic controls, and records whether the prediction was ultimately 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Markets transmit information at different speeds. CrossSignal addresses fragmentation, weak AI accountability, and the absence of honest forward scoring.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decision passes a proof chain. Crucially, abstention is treated as a correct policy outcome when evidence fails a gate.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official Alpaca MCP server powers sponsor-native market evidence and the paper execution lifecycle. Claude reasons, but deterministic code controls broker access.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proof slide. The same policy evaluates both cases. The authorized replay shows the complete path when every gate passes. The live GitHub Evidence Watch contract scored 85 for signal and 100 for stability, but execution quality was 93 because one of fifteen gates failed—so the correct autonomous decision was abstention. Outcome evidence remains pending until the sealed horizon matures.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CrossSignal follows NIST-aligned risk-management reasoning without claiming certification. Public infrastructure and scheduled GitHub automation have no broker mutation capability. The cloud watcher always runs execute false and exports only a secret-free artifact.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wedge is decision accountability for serious individual and small-team options users, with a path toward broker and enterprise governance integrations.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verified evidence: thirty-five tests pass in GitHub, the scheduled cloud watcher sealed a live contract, and the system abstained because one risk gate failed. CrossSignal makes AI trading decisions inspectable, challengeable, reproducible, and measurable. Invite judges to open the live application, repository, and Actions evidence artifact.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D49"/>
          </a:solidFill>
          <a:ln>
            <a:solidFill>
              <a:srgbClr val="071D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640080"/>
            <a:ext cx="54864" cy="384048"/>
          </a:xfrm>
          <a:prstGeom prst="rect">
            <a:avLst/>
          </a:prstGeom>
          <a:solidFill>
            <a:srgbClr val="19B5D8"/>
          </a:solidFill>
          <a:ln>
            <a:solidFill>
              <a:srgbClr val="19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67512"/>
            <a:ext cx="6583680" cy="320040"/>
          </a:xfrm>
          <a:prstGeom prst="rect">
            <a:avLst/>
          </a:prstGeom>
          <a:noFill/>
        </p:spPr>
        <p:txBody>
          <a:bodyPr wrap="square" anchor="t">
            <a:spAutoFit/>
          </a:bodyPr>
          <a:lstStyle/>
          <a:p>
            <a:pPr algn="l">
              <a:defRPr sz="1100" b="1">
                <a:solidFill>
                  <a:srgbClr val="72D4E8"/>
                </a:solidFill>
                <a:latin typeface="Aptos"/>
              </a:defRPr>
            </a:pPr>
            <a:r>
              <a:t>DECISION INTELLIGENCE FOR CROSS-MARKET TRADING</a:t>
            </a:r>
          </a:p>
        </p:txBody>
      </p:sp>
      <p:sp>
        <p:nvSpPr>
          <p:cNvPr id="5" name="TextBox 4"/>
          <p:cNvSpPr txBox="1"/>
          <p:nvPr/>
        </p:nvSpPr>
        <p:spPr>
          <a:xfrm>
            <a:off x="658368" y="1417320"/>
            <a:ext cx="8046720" cy="2057400"/>
          </a:xfrm>
          <a:prstGeom prst="rect">
            <a:avLst/>
          </a:prstGeom>
          <a:noFill/>
        </p:spPr>
        <p:txBody>
          <a:bodyPr wrap="square" anchor="t">
            <a:spAutoFit/>
          </a:bodyPr>
          <a:lstStyle/>
          <a:p>
            <a:pPr algn="l">
              <a:defRPr sz="4200" b="1">
                <a:solidFill>
                  <a:srgbClr val="FFFFFF"/>
                </a:solidFill>
                <a:latin typeface="Aptos Display"/>
              </a:defRPr>
            </a:pPr>
            <a:r>
              <a:t>Markets disagree.</a:t>
            </a:r>
            <a:br/>
            <a:r>
              <a:t>We trade the gap.</a:t>
            </a:r>
          </a:p>
        </p:txBody>
      </p:sp>
      <p:sp>
        <p:nvSpPr>
          <p:cNvPr id="6" name="TextBox 5"/>
          <p:cNvSpPr txBox="1"/>
          <p:nvPr/>
        </p:nvSpPr>
        <p:spPr>
          <a:xfrm>
            <a:off x="685800" y="3822191"/>
            <a:ext cx="7498079" cy="685800"/>
          </a:xfrm>
          <a:prstGeom prst="rect">
            <a:avLst/>
          </a:prstGeom>
          <a:noFill/>
        </p:spPr>
        <p:txBody>
          <a:bodyPr wrap="square" anchor="t">
            <a:spAutoFit/>
          </a:bodyPr>
          <a:lstStyle/>
          <a:p>
            <a:pPr algn="l">
              <a:defRPr sz="2000" b="0">
                <a:solidFill>
                  <a:srgbClr val="72D4E8"/>
                </a:solidFill>
                <a:latin typeface="Aptos"/>
              </a:defRPr>
            </a:pPr>
            <a:r>
              <a:t>An auditable AI trading agent that challenges, governs and scores every decision.</a:t>
            </a:r>
          </a:p>
        </p:txBody>
      </p:sp>
      <p:sp>
        <p:nvSpPr>
          <p:cNvPr id="7" name="Rounded Rectangle 6"/>
          <p:cNvSpPr/>
          <p:nvPr/>
        </p:nvSpPr>
        <p:spPr>
          <a:xfrm>
            <a:off x="8869680" y="-548640"/>
            <a:ext cx="4114800" cy="4114800"/>
          </a:xfrm>
          <a:prstGeom prst="roundRect">
            <a:avLst/>
          </a:prstGeom>
          <a:solidFill>
            <a:srgbClr val="19B5D8"/>
          </a:solidFill>
          <a:ln>
            <a:solidFill>
              <a:srgbClr val="19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528048" y="109728"/>
            <a:ext cx="2834640" cy="2834640"/>
          </a:xfrm>
          <a:prstGeom prst="roundRect">
            <a:avLst/>
          </a:prstGeom>
          <a:solidFill>
            <a:srgbClr val="071D49"/>
          </a:solidFill>
          <a:ln>
            <a:solidFill>
              <a:srgbClr val="071D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715000"/>
            <a:ext cx="3657600" cy="365760"/>
          </a:xfrm>
          <a:prstGeom prst="rect">
            <a:avLst/>
          </a:prstGeom>
          <a:noFill/>
        </p:spPr>
        <p:txBody>
          <a:bodyPr wrap="square" anchor="t">
            <a:spAutoFit/>
          </a:bodyPr>
          <a:lstStyle/>
          <a:p>
            <a:pPr algn="l">
              <a:defRPr sz="1800" b="1">
                <a:solidFill>
                  <a:srgbClr val="FFFFFF"/>
                </a:solidFill>
                <a:latin typeface="Aptos"/>
              </a:defRPr>
            </a:pPr>
            <a:r>
              <a:t>CROSSSIGNAL</a:t>
            </a:r>
          </a:p>
        </p:txBody>
      </p:sp>
      <p:sp>
        <p:nvSpPr>
          <p:cNvPr id="10" name="TextBox 9"/>
          <p:cNvSpPr txBox="1"/>
          <p:nvPr/>
        </p:nvSpPr>
        <p:spPr>
          <a:xfrm>
            <a:off x="685800" y="6126480"/>
            <a:ext cx="4572000" cy="274320"/>
          </a:xfrm>
          <a:prstGeom prst="rect">
            <a:avLst/>
          </a:prstGeom>
          <a:noFill/>
        </p:spPr>
        <p:txBody>
          <a:bodyPr wrap="square" anchor="t">
            <a:spAutoFit/>
          </a:bodyPr>
          <a:lstStyle/>
          <a:p>
            <a:pPr algn="l">
              <a:defRPr sz="1200" b="0">
                <a:solidFill>
                  <a:srgbClr val="72D4E8"/>
                </a:solidFill>
                <a:latin typeface="Aptos"/>
              </a:defRPr>
            </a:pPr>
            <a:r>
              <a:t>Created by Omobolaji E Adeyan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457200" cy="228600"/>
          </a:xfrm>
          <a:prstGeom prst="rect">
            <a:avLst/>
          </a:prstGeom>
          <a:noFill/>
        </p:spPr>
        <p:txBody>
          <a:bodyPr wrap="square" anchor="t">
            <a:spAutoFit/>
          </a:bodyPr>
          <a:lstStyle/>
          <a:p>
            <a:pPr algn="l">
              <a:defRPr sz="1000" b="1">
                <a:solidFill>
                  <a:srgbClr val="19B5D8"/>
                </a:solidFill>
                <a:latin typeface="Aptos"/>
              </a:defRPr>
            </a:pPr>
            <a:r>
              <a:t>02</a:t>
            </a:r>
          </a:p>
        </p:txBody>
      </p:sp>
      <p:sp>
        <p:nvSpPr>
          <p:cNvPr id="3" name="TextBox 2"/>
          <p:cNvSpPr txBox="1"/>
          <p:nvPr/>
        </p:nvSpPr>
        <p:spPr>
          <a:xfrm>
            <a:off x="960120" y="310896"/>
            <a:ext cx="5029200" cy="274320"/>
          </a:xfrm>
          <a:prstGeom prst="rect">
            <a:avLst/>
          </a:prstGeom>
          <a:noFill/>
        </p:spPr>
        <p:txBody>
          <a:bodyPr wrap="square" anchor="t">
            <a:spAutoFit/>
          </a:bodyPr>
          <a:lstStyle/>
          <a:p>
            <a:pPr algn="l">
              <a:defRPr sz="1000" b="1">
                <a:solidFill>
                  <a:srgbClr val="53657D"/>
                </a:solidFill>
                <a:latin typeface="Aptos"/>
              </a:defRPr>
            </a:pPr>
            <a:r>
              <a:t>THE PROBLEM</a:t>
            </a:r>
          </a:p>
        </p:txBody>
      </p:sp>
      <p:sp>
        <p:nvSpPr>
          <p:cNvPr id="4" name="Rectangle 3"/>
          <p:cNvSpPr/>
          <p:nvPr/>
        </p:nvSpPr>
        <p:spPr>
          <a:xfrm>
            <a:off x="502920" y="685800"/>
            <a:ext cx="11155680" cy="13716"/>
          </a:xfrm>
          <a:prstGeom prst="rect">
            <a:avLst/>
          </a:prstGeom>
          <a:solidFill>
            <a:srgbClr val="D5E0E9"/>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87552"/>
            <a:ext cx="10972800" cy="960120"/>
          </a:xfrm>
          <a:prstGeom prst="rect">
            <a:avLst/>
          </a:prstGeom>
          <a:noFill/>
        </p:spPr>
        <p:txBody>
          <a:bodyPr wrap="square" anchor="t">
            <a:spAutoFit/>
          </a:bodyPr>
          <a:lstStyle/>
          <a:p>
            <a:pPr algn="l">
              <a:defRPr sz="3400" b="1">
                <a:solidFill>
                  <a:srgbClr val="071D49"/>
                </a:solidFill>
                <a:latin typeface="Aptos Display"/>
              </a:defRPr>
            </a:pPr>
            <a:r>
              <a:t>Trading agents generate signals.</a:t>
            </a:r>
            <a:br/>
            <a:r>
              <a:t>Few can defend a decision.</a:t>
            </a:r>
          </a:p>
        </p:txBody>
      </p:sp>
      <p:sp>
        <p:nvSpPr>
          <p:cNvPr id="6" name="Rectangle 5"/>
          <p:cNvSpPr/>
          <p:nvPr/>
        </p:nvSpPr>
        <p:spPr>
          <a:xfrm>
            <a:off x="594360" y="2971800"/>
            <a:ext cx="3474720" cy="2331720"/>
          </a:xfrm>
          <a:prstGeom prst="rect">
            <a:avLst/>
          </a:prstGeom>
          <a:solidFill>
            <a:srgbClr val="F2F7FB"/>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246120"/>
            <a:ext cx="457200" cy="320040"/>
          </a:xfrm>
          <a:prstGeom prst="rect">
            <a:avLst/>
          </a:prstGeom>
          <a:noFill/>
        </p:spPr>
        <p:txBody>
          <a:bodyPr wrap="square" anchor="t">
            <a:spAutoFit/>
          </a:bodyPr>
          <a:lstStyle/>
          <a:p>
            <a:pPr algn="l">
              <a:defRPr sz="1200" b="1">
                <a:solidFill>
                  <a:srgbClr val="19B5D8"/>
                </a:solidFill>
                <a:latin typeface="Aptos"/>
              </a:defRPr>
            </a:pPr>
            <a:r>
              <a:t>01</a:t>
            </a:r>
          </a:p>
        </p:txBody>
      </p:sp>
      <p:sp>
        <p:nvSpPr>
          <p:cNvPr id="8" name="TextBox 7"/>
          <p:cNvSpPr txBox="1"/>
          <p:nvPr/>
        </p:nvSpPr>
        <p:spPr>
          <a:xfrm>
            <a:off x="822960" y="3657600"/>
            <a:ext cx="2926080" cy="365760"/>
          </a:xfrm>
          <a:prstGeom prst="rect">
            <a:avLst/>
          </a:prstGeom>
          <a:noFill/>
        </p:spPr>
        <p:txBody>
          <a:bodyPr wrap="square" anchor="t">
            <a:spAutoFit/>
          </a:bodyPr>
          <a:lstStyle/>
          <a:p>
            <a:pPr algn="l">
              <a:defRPr sz="2100" b="1">
                <a:solidFill>
                  <a:srgbClr val="071D49"/>
                </a:solidFill>
                <a:latin typeface="Aptos"/>
              </a:defRPr>
            </a:pPr>
            <a:r>
              <a:t>Fragmented</a:t>
            </a:r>
          </a:p>
        </p:txBody>
      </p:sp>
      <p:sp>
        <p:nvSpPr>
          <p:cNvPr id="9" name="TextBox 8"/>
          <p:cNvSpPr txBox="1"/>
          <p:nvPr/>
        </p:nvSpPr>
        <p:spPr>
          <a:xfrm>
            <a:off x="822960" y="4160520"/>
            <a:ext cx="2926080" cy="777240"/>
          </a:xfrm>
          <a:prstGeom prst="rect">
            <a:avLst/>
          </a:prstGeom>
          <a:noFill/>
        </p:spPr>
        <p:txBody>
          <a:bodyPr wrap="square" anchor="t">
            <a:spAutoFit/>
          </a:bodyPr>
          <a:lstStyle/>
          <a:p>
            <a:pPr algn="l">
              <a:defRPr sz="1400" b="0">
                <a:solidFill>
                  <a:srgbClr val="53657D"/>
                </a:solidFill>
                <a:latin typeface="Aptos"/>
              </a:defRPr>
            </a:pPr>
            <a:r>
              <a:t>Single-market analysis misses information moving between rates, credit and equities.</a:t>
            </a:r>
          </a:p>
        </p:txBody>
      </p:sp>
      <p:sp>
        <p:nvSpPr>
          <p:cNvPr id="10" name="Rectangle 9"/>
          <p:cNvSpPr/>
          <p:nvPr/>
        </p:nvSpPr>
        <p:spPr>
          <a:xfrm>
            <a:off x="4389120" y="2971800"/>
            <a:ext cx="3474720" cy="2331720"/>
          </a:xfrm>
          <a:prstGeom prst="rect">
            <a:avLst/>
          </a:prstGeom>
          <a:solidFill>
            <a:srgbClr val="F2F7FB"/>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3246120"/>
            <a:ext cx="457200" cy="320040"/>
          </a:xfrm>
          <a:prstGeom prst="rect">
            <a:avLst/>
          </a:prstGeom>
          <a:noFill/>
        </p:spPr>
        <p:txBody>
          <a:bodyPr wrap="square" anchor="t">
            <a:spAutoFit/>
          </a:bodyPr>
          <a:lstStyle/>
          <a:p>
            <a:pPr algn="l">
              <a:defRPr sz="1200" b="1">
                <a:solidFill>
                  <a:srgbClr val="19B5D8"/>
                </a:solidFill>
                <a:latin typeface="Aptos"/>
              </a:defRPr>
            </a:pPr>
            <a:r>
              <a:t>02</a:t>
            </a:r>
          </a:p>
        </p:txBody>
      </p:sp>
      <p:sp>
        <p:nvSpPr>
          <p:cNvPr id="12" name="TextBox 11"/>
          <p:cNvSpPr txBox="1"/>
          <p:nvPr/>
        </p:nvSpPr>
        <p:spPr>
          <a:xfrm>
            <a:off x="4617720" y="3657600"/>
            <a:ext cx="2926080" cy="365760"/>
          </a:xfrm>
          <a:prstGeom prst="rect">
            <a:avLst/>
          </a:prstGeom>
          <a:noFill/>
        </p:spPr>
        <p:txBody>
          <a:bodyPr wrap="square" anchor="t">
            <a:spAutoFit/>
          </a:bodyPr>
          <a:lstStyle/>
          <a:p>
            <a:pPr algn="l">
              <a:defRPr sz="2100" b="1">
                <a:solidFill>
                  <a:srgbClr val="071D49"/>
                </a:solidFill>
                <a:latin typeface="Aptos"/>
              </a:defRPr>
            </a:pPr>
            <a:r>
              <a:t>Unaccountable</a:t>
            </a:r>
          </a:p>
        </p:txBody>
      </p:sp>
      <p:sp>
        <p:nvSpPr>
          <p:cNvPr id="13" name="TextBox 12"/>
          <p:cNvSpPr txBox="1"/>
          <p:nvPr/>
        </p:nvSpPr>
        <p:spPr>
          <a:xfrm>
            <a:off x="4617720" y="4160520"/>
            <a:ext cx="2926080" cy="777240"/>
          </a:xfrm>
          <a:prstGeom prst="rect">
            <a:avLst/>
          </a:prstGeom>
          <a:noFill/>
        </p:spPr>
        <p:txBody>
          <a:bodyPr wrap="square" anchor="t">
            <a:spAutoFit/>
          </a:bodyPr>
          <a:lstStyle/>
          <a:p>
            <a:pPr algn="l">
              <a:defRPr sz="1400" b="0">
                <a:solidFill>
                  <a:srgbClr val="53657D"/>
                </a:solidFill>
                <a:latin typeface="Aptos"/>
              </a:defRPr>
            </a:pPr>
            <a:r>
              <a:t>LLM conclusions are difficult to reproduce, challenge or audit after the outcome.</a:t>
            </a:r>
          </a:p>
        </p:txBody>
      </p:sp>
      <p:sp>
        <p:nvSpPr>
          <p:cNvPr id="14" name="Rectangle 13"/>
          <p:cNvSpPr/>
          <p:nvPr/>
        </p:nvSpPr>
        <p:spPr>
          <a:xfrm>
            <a:off x="8183880" y="2971800"/>
            <a:ext cx="3474720" cy="2331720"/>
          </a:xfrm>
          <a:prstGeom prst="rect">
            <a:avLst/>
          </a:prstGeom>
          <a:solidFill>
            <a:srgbClr val="F2F7FB"/>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3246120"/>
            <a:ext cx="457200" cy="320040"/>
          </a:xfrm>
          <a:prstGeom prst="rect">
            <a:avLst/>
          </a:prstGeom>
          <a:noFill/>
        </p:spPr>
        <p:txBody>
          <a:bodyPr wrap="square" anchor="t">
            <a:spAutoFit/>
          </a:bodyPr>
          <a:lstStyle/>
          <a:p>
            <a:pPr algn="l">
              <a:defRPr sz="1200" b="1">
                <a:solidFill>
                  <a:srgbClr val="19B5D8"/>
                </a:solidFill>
                <a:latin typeface="Aptos"/>
              </a:defRPr>
            </a:pPr>
            <a:r>
              <a:t>03</a:t>
            </a:r>
          </a:p>
        </p:txBody>
      </p:sp>
      <p:sp>
        <p:nvSpPr>
          <p:cNvPr id="16" name="TextBox 15"/>
          <p:cNvSpPr txBox="1"/>
          <p:nvPr/>
        </p:nvSpPr>
        <p:spPr>
          <a:xfrm>
            <a:off x="8412480" y="3657600"/>
            <a:ext cx="2926080" cy="365760"/>
          </a:xfrm>
          <a:prstGeom prst="rect">
            <a:avLst/>
          </a:prstGeom>
          <a:noFill/>
        </p:spPr>
        <p:txBody>
          <a:bodyPr wrap="square" anchor="t">
            <a:spAutoFit/>
          </a:bodyPr>
          <a:lstStyle/>
          <a:p>
            <a:pPr algn="l">
              <a:defRPr sz="2100" b="1">
                <a:solidFill>
                  <a:srgbClr val="071D49"/>
                </a:solidFill>
                <a:latin typeface="Aptos"/>
              </a:defRPr>
            </a:pPr>
            <a:r>
              <a:t>Unmeasured</a:t>
            </a:r>
          </a:p>
        </p:txBody>
      </p:sp>
      <p:sp>
        <p:nvSpPr>
          <p:cNvPr id="17" name="TextBox 16"/>
          <p:cNvSpPr txBox="1"/>
          <p:nvPr/>
        </p:nvSpPr>
        <p:spPr>
          <a:xfrm>
            <a:off x="8412480" y="4160520"/>
            <a:ext cx="2926080" cy="777240"/>
          </a:xfrm>
          <a:prstGeom prst="rect">
            <a:avLst/>
          </a:prstGeom>
          <a:noFill/>
        </p:spPr>
        <p:txBody>
          <a:bodyPr wrap="square" anchor="t">
            <a:spAutoFit/>
          </a:bodyPr>
          <a:lstStyle/>
          <a:p>
            <a:pPr algn="l">
              <a:defRPr sz="1400" b="0">
                <a:solidFill>
                  <a:srgbClr val="53657D"/>
                </a:solidFill>
                <a:latin typeface="Aptos"/>
              </a:defRPr>
            </a:pPr>
            <a:r>
              <a:t>Most agents do not precommit a forecast and later score whether it was right.</a:t>
            </a:r>
          </a:p>
        </p:txBody>
      </p:sp>
      <p:sp>
        <p:nvSpPr>
          <p:cNvPr id="18" name="TextBox 17"/>
          <p:cNvSpPr txBox="1"/>
          <p:nvPr/>
        </p:nvSpPr>
        <p:spPr>
          <a:xfrm>
            <a:off x="594360" y="6473952"/>
            <a:ext cx="9875520" cy="182880"/>
          </a:xfrm>
          <a:prstGeom prst="rect">
            <a:avLst/>
          </a:prstGeom>
          <a:noFill/>
        </p:spPr>
        <p:txBody>
          <a:bodyPr wrap="square" anchor="t">
            <a:spAutoFit/>
          </a:bodyPr>
          <a:lstStyle/>
          <a:p>
            <a:pPr algn="l">
              <a:defRPr sz="800" b="1">
                <a:solidFill>
                  <a:srgbClr val="53657D"/>
                </a:solidFill>
                <a:latin typeface="Aptos"/>
              </a:defRPr>
            </a:pPr>
            <a:r>
              <a:t>CROSSSIGNAL · OMOBOLAJI E ADEYAN · ALPACA PAPER TRADING</a:t>
            </a:r>
          </a:p>
        </p:txBody>
      </p:sp>
      <p:sp>
        <p:nvSpPr>
          <p:cNvPr id="19" name="TextBox 18"/>
          <p:cNvSpPr txBox="1"/>
          <p:nvPr/>
        </p:nvSpPr>
        <p:spPr>
          <a:xfrm>
            <a:off x="11064240" y="6437376"/>
            <a:ext cx="457200" cy="228600"/>
          </a:xfrm>
          <a:prstGeom prst="rect">
            <a:avLst/>
          </a:prstGeom>
          <a:noFill/>
        </p:spPr>
        <p:txBody>
          <a:bodyPr wrap="square" anchor="t">
            <a:spAutoFit/>
          </a:bodyPr>
          <a:lstStyle/>
          <a:p>
            <a:pPr algn="r">
              <a:defRPr sz="900" b="1">
                <a:solidFill>
                  <a:srgbClr val="53657D"/>
                </a:solidFill>
                <a:latin typeface="Aptos"/>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457200" cy="228600"/>
          </a:xfrm>
          <a:prstGeom prst="rect">
            <a:avLst/>
          </a:prstGeom>
          <a:noFill/>
        </p:spPr>
        <p:txBody>
          <a:bodyPr wrap="square" anchor="t">
            <a:spAutoFit/>
          </a:bodyPr>
          <a:lstStyle/>
          <a:p>
            <a:pPr algn="l">
              <a:defRPr sz="1000" b="1">
                <a:solidFill>
                  <a:srgbClr val="19B5D8"/>
                </a:solidFill>
                <a:latin typeface="Aptos"/>
              </a:defRPr>
            </a:pPr>
            <a:r>
              <a:t>03</a:t>
            </a:r>
          </a:p>
        </p:txBody>
      </p:sp>
      <p:sp>
        <p:nvSpPr>
          <p:cNvPr id="3" name="TextBox 2"/>
          <p:cNvSpPr txBox="1"/>
          <p:nvPr/>
        </p:nvSpPr>
        <p:spPr>
          <a:xfrm>
            <a:off x="960120" y="310896"/>
            <a:ext cx="5029200" cy="274320"/>
          </a:xfrm>
          <a:prstGeom prst="rect">
            <a:avLst/>
          </a:prstGeom>
          <a:noFill/>
        </p:spPr>
        <p:txBody>
          <a:bodyPr wrap="square" anchor="t">
            <a:spAutoFit/>
          </a:bodyPr>
          <a:lstStyle/>
          <a:p>
            <a:pPr algn="l">
              <a:defRPr sz="1000" b="1">
                <a:solidFill>
                  <a:srgbClr val="53657D"/>
                </a:solidFill>
                <a:latin typeface="Aptos"/>
              </a:defRPr>
            </a:pPr>
            <a:r>
              <a:t>THE SOLUTION</a:t>
            </a:r>
          </a:p>
        </p:txBody>
      </p:sp>
      <p:sp>
        <p:nvSpPr>
          <p:cNvPr id="4" name="Rectangle 3"/>
          <p:cNvSpPr/>
          <p:nvPr/>
        </p:nvSpPr>
        <p:spPr>
          <a:xfrm>
            <a:off x="502920" y="685800"/>
            <a:ext cx="11155680" cy="13716"/>
          </a:xfrm>
          <a:prstGeom prst="rect">
            <a:avLst/>
          </a:prstGeom>
          <a:solidFill>
            <a:srgbClr val="D5E0E9"/>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87552"/>
            <a:ext cx="10972800" cy="960120"/>
          </a:xfrm>
          <a:prstGeom prst="rect">
            <a:avLst/>
          </a:prstGeom>
          <a:noFill/>
        </p:spPr>
        <p:txBody>
          <a:bodyPr wrap="square" anchor="t">
            <a:spAutoFit/>
          </a:bodyPr>
          <a:lstStyle/>
          <a:p>
            <a:pPr algn="l">
              <a:defRPr sz="3400" b="1">
                <a:solidFill>
                  <a:srgbClr val="071D49"/>
                </a:solidFill>
                <a:latin typeface="Aptos Display"/>
              </a:defRPr>
            </a:pPr>
            <a:r>
              <a:t>A scientific proof chain for every trade</a:t>
            </a:r>
          </a:p>
        </p:txBody>
      </p:sp>
      <p:sp>
        <p:nvSpPr>
          <p:cNvPr id="6" name="TextBox 5"/>
          <p:cNvSpPr txBox="1"/>
          <p:nvPr/>
        </p:nvSpPr>
        <p:spPr>
          <a:xfrm>
            <a:off x="621792" y="1847088"/>
            <a:ext cx="10698480" cy="502920"/>
          </a:xfrm>
          <a:prstGeom prst="rect">
            <a:avLst/>
          </a:prstGeom>
          <a:noFill/>
        </p:spPr>
        <p:txBody>
          <a:bodyPr wrap="square" anchor="t">
            <a:spAutoFit/>
          </a:bodyPr>
          <a:lstStyle/>
          <a:p>
            <a:pPr algn="l">
              <a:defRPr sz="1500" b="0">
                <a:solidFill>
                  <a:srgbClr val="53657D"/>
                </a:solidFill>
                <a:latin typeface="Aptos"/>
              </a:defRPr>
            </a:pPr>
            <a:r>
              <a:t>The SIGNAL protocol turns a thesis into a governed, falsifiable decision.</a:t>
            </a:r>
          </a:p>
        </p:txBody>
      </p:sp>
      <p:sp>
        <p:nvSpPr>
          <p:cNvPr id="7" name="Rectangle 6"/>
          <p:cNvSpPr/>
          <p:nvPr/>
        </p:nvSpPr>
        <p:spPr>
          <a:xfrm>
            <a:off x="502920" y="2788920"/>
            <a:ext cx="1572768" cy="1371600"/>
          </a:xfrm>
          <a:prstGeom prst="rect">
            <a:avLst/>
          </a:prstGeom>
          <a:solidFill>
            <a:srgbClr val="F2F7FB"/>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2971800"/>
            <a:ext cx="274320" cy="274320"/>
          </a:xfrm>
          <a:prstGeom prst="rect">
            <a:avLst/>
          </a:prstGeom>
          <a:noFill/>
        </p:spPr>
        <p:txBody>
          <a:bodyPr wrap="square" anchor="t">
            <a:spAutoFit/>
          </a:bodyPr>
          <a:lstStyle/>
          <a:p>
            <a:pPr algn="l">
              <a:defRPr sz="1100" b="1">
                <a:solidFill>
                  <a:srgbClr val="19B5D8"/>
                </a:solidFill>
                <a:latin typeface="Aptos"/>
              </a:defRPr>
            </a:pPr>
            <a:r>
              <a:t>1</a:t>
            </a:r>
          </a:p>
        </p:txBody>
      </p:sp>
      <p:sp>
        <p:nvSpPr>
          <p:cNvPr id="9" name="TextBox 8"/>
          <p:cNvSpPr txBox="1"/>
          <p:nvPr/>
        </p:nvSpPr>
        <p:spPr>
          <a:xfrm>
            <a:off x="667512" y="3355848"/>
            <a:ext cx="1234440" cy="274320"/>
          </a:xfrm>
          <a:prstGeom prst="rect">
            <a:avLst/>
          </a:prstGeom>
          <a:noFill/>
        </p:spPr>
        <p:txBody>
          <a:bodyPr wrap="square" anchor="t">
            <a:spAutoFit/>
          </a:bodyPr>
          <a:lstStyle/>
          <a:p>
            <a:pPr algn="l">
              <a:defRPr sz="1600" b="1">
                <a:solidFill>
                  <a:srgbClr val="071D49"/>
                </a:solidFill>
                <a:latin typeface="Aptos"/>
              </a:defRPr>
            </a:pPr>
            <a:r>
              <a:t>Source</a:t>
            </a:r>
          </a:p>
        </p:txBody>
      </p:sp>
      <p:sp>
        <p:nvSpPr>
          <p:cNvPr id="10" name="TextBox 9"/>
          <p:cNvSpPr txBox="1"/>
          <p:nvPr/>
        </p:nvSpPr>
        <p:spPr>
          <a:xfrm>
            <a:off x="667512" y="3703320"/>
            <a:ext cx="1234440" cy="228600"/>
          </a:xfrm>
          <a:prstGeom prst="rect">
            <a:avLst/>
          </a:prstGeom>
          <a:noFill/>
        </p:spPr>
        <p:txBody>
          <a:bodyPr wrap="square" anchor="t">
            <a:spAutoFit/>
          </a:bodyPr>
          <a:lstStyle/>
          <a:p>
            <a:pPr algn="l">
              <a:defRPr sz="900" b="0">
                <a:solidFill>
                  <a:srgbClr val="53657D"/>
                </a:solidFill>
                <a:latin typeface="Aptos"/>
              </a:defRPr>
            </a:pPr>
            <a:r>
              <a:t>Provenance</a:t>
            </a:r>
          </a:p>
        </p:txBody>
      </p:sp>
      <p:sp>
        <p:nvSpPr>
          <p:cNvPr id="11" name="TextBox 10"/>
          <p:cNvSpPr txBox="1"/>
          <p:nvPr/>
        </p:nvSpPr>
        <p:spPr>
          <a:xfrm>
            <a:off x="2112264" y="3246120"/>
            <a:ext cx="274320" cy="274320"/>
          </a:xfrm>
          <a:prstGeom prst="rect">
            <a:avLst/>
          </a:prstGeom>
          <a:noFill/>
        </p:spPr>
        <p:txBody>
          <a:bodyPr wrap="square" anchor="t">
            <a:spAutoFit/>
          </a:bodyPr>
          <a:lstStyle/>
          <a:p>
            <a:pPr algn="l">
              <a:defRPr sz="1600" b="1">
                <a:solidFill>
                  <a:srgbClr val="19B5D8"/>
                </a:solidFill>
                <a:latin typeface="Aptos"/>
              </a:defRPr>
            </a:pPr>
            <a:r>
              <a:t>→</a:t>
            </a:r>
          </a:p>
        </p:txBody>
      </p:sp>
      <p:sp>
        <p:nvSpPr>
          <p:cNvPr id="12" name="Rectangle 11"/>
          <p:cNvSpPr/>
          <p:nvPr/>
        </p:nvSpPr>
        <p:spPr>
          <a:xfrm>
            <a:off x="2423160" y="2788920"/>
            <a:ext cx="1572768" cy="1371600"/>
          </a:xfrm>
          <a:prstGeom prst="rect">
            <a:avLst/>
          </a:prstGeom>
          <a:solidFill>
            <a:srgbClr val="F2F7FB"/>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87752" y="2971800"/>
            <a:ext cx="274320" cy="274320"/>
          </a:xfrm>
          <a:prstGeom prst="rect">
            <a:avLst/>
          </a:prstGeom>
          <a:noFill/>
        </p:spPr>
        <p:txBody>
          <a:bodyPr wrap="square" anchor="t">
            <a:spAutoFit/>
          </a:bodyPr>
          <a:lstStyle/>
          <a:p>
            <a:pPr algn="l">
              <a:defRPr sz="1100" b="1">
                <a:solidFill>
                  <a:srgbClr val="19B5D8"/>
                </a:solidFill>
                <a:latin typeface="Aptos"/>
              </a:defRPr>
            </a:pPr>
            <a:r>
              <a:t>2</a:t>
            </a:r>
          </a:p>
        </p:txBody>
      </p:sp>
      <p:sp>
        <p:nvSpPr>
          <p:cNvPr id="14" name="TextBox 13"/>
          <p:cNvSpPr txBox="1"/>
          <p:nvPr/>
        </p:nvSpPr>
        <p:spPr>
          <a:xfrm>
            <a:off x="2587752" y="3355848"/>
            <a:ext cx="1234440" cy="274320"/>
          </a:xfrm>
          <a:prstGeom prst="rect">
            <a:avLst/>
          </a:prstGeom>
          <a:noFill/>
        </p:spPr>
        <p:txBody>
          <a:bodyPr wrap="square" anchor="t">
            <a:spAutoFit/>
          </a:bodyPr>
          <a:lstStyle/>
          <a:p>
            <a:pPr algn="l">
              <a:defRPr sz="1600" b="1">
                <a:solidFill>
                  <a:srgbClr val="071D49"/>
                </a:solidFill>
                <a:latin typeface="Aptos"/>
              </a:defRPr>
            </a:pPr>
            <a:r>
              <a:t>Compare</a:t>
            </a:r>
          </a:p>
        </p:txBody>
      </p:sp>
      <p:sp>
        <p:nvSpPr>
          <p:cNvPr id="15" name="TextBox 14"/>
          <p:cNvSpPr txBox="1"/>
          <p:nvPr/>
        </p:nvSpPr>
        <p:spPr>
          <a:xfrm>
            <a:off x="2587752" y="3703320"/>
            <a:ext cx="1234440" cy="228600"/>
          </a:xfrm>
          <a:prstGeom prst="rect">
            <a:avLst/>
          </a:prstGeom>
          <a:noFill/>
        </p:spPr>
        <p:txBody>
          <a:bodyPr wrap="square" anchor="t">
            <a:spAutoFit/>
          </a:bodyPr>
          <a:lstStyle/>
          <a:p>
            <a:pPr algn="l">
              <a:defRPr sz="900" b="0">
                <a:solidFill>
                  <a:srgbClr val="53657D"/>
                </a:solidFill>
                <a:latin typeface="Aptos"/>
              </a:defRPr>
            </a:pPr>
            <a:r>
              <a:t>Disagreement</a:t>
            </a:r>
          </a:p>
        </p:txBody>
      </p:sp>
      <p:sp>
        <p:nvSpPr>
          <p:cNvPr id="16" name="TextBox 15"/>
          <p:cNvSpPr txBox="1"/>
          <p:nvPr/>
        </p:nvSpPr>
        <p:spPr>
          <a:xfrm>
            <a:off x="4032504" y="3246120"/>
            <a:ext cx="274320" cy="274320"/>
          </a:xfrm>
          <a:prstGeom prst="rect">
            <a:avLst/>
          </a:prstGeom>
          <a:noFill/>
        </p:spPr>
        <p:txBody>
          <a:bodyPr wrap="square" anchor="t">
            <a:spAutoFit/>
          </a:bodyPr>
          <a:lstStyle/>
          <a:p>
            <a:pPr algn="l">
              <a:defRPr sz="1600" b="1">
                <a:solidFill>
                  <a:srgbClr val="19B5D8"/>
                </a:solidFill>
                <a:latin typeface="Aptos"/>
              </a:defRPr>
            </a:pPr>
            <a:r>
              <a:t>→</a:t>
            </a:r>
          </a:p>
        </p:txBody>
      </p:sp>
      <p:sp>
        <p:nvSpPr>
          <p:cNvPr id="17" name="Rectangle 16"/>
          <p:cNvSpPr/>
          <p:nvPr/>
        </p:nvSpPr>
        <p:spPr>
          <a:xfrm>
            <a:off x="4343400" y="2788920"/>
            <a:ext cx="1572768" cy="1371600"/>
          </a:xfrm>
          <a:prstGeom prst="rect">
            <a:avLst/>
          </a:prstGeom>
          <a:solidFill>
            <a:srgbClr val="071D49"/>
          </a:solidFill>
          <a:ln>
            <a:solidFill>
              <a:srgbClr val="071D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7992" y="2971800"/>
            <a:ext cx="274320" cy="274320"/>
          </a:xfrm>
          <a:prstGeom prst="rect">
            <a:avLst/>
          </a:prstGeom>
          <a:noFill/>
        </p:spPr>
        <p:txBody>
          <a:bodyPr wrap="square" anchor="t">
            <a:spAutoFit/>
          </a:bodyPr>
          <a:lstStyle/>
          <a:p>
            <a:pPr algn="l">
              <a:defRPr sz="1100" b="1">
                <a:solidFill>
                  <a:srgbClr val="19B5D8"/>
                </a:solidFill>
                <a:latin typeface="Aptos"/>
              </a:defRPr>
            </a:pPr>
            <a:r>
              <a:t>3</a:t>
            </a:r>
          </a:p>
        </p:txBody>
      </p:sp>
      <p:sp>
        <p:nvSpPr>
          <p:cNvPr id="19" name="TextBox 18"/>
          <p:cNvSpPr txBox="1"/>
          <p:nvPr/>
        </p:nvSpPr>
        <p:spPr>
          <a:xfrm>
            <a:off x="4507992" y="3355848"/>
            <a:ext cx="1234440" cy="274320"/>
          </a:xfrm>
          <a:prstGeom prst="rect">
            <a:avLst/>
          </a:prstGeom>
          <a:noFill/>
        </p:spPr>
        <p:txBody>
          <a:bodyPr wrap="square" anchor="t">
            <a:spAutoFit/>
          </a:bodyPr>
          <a:lstStyle/>
          <a:p>
            <a:pPr algn="l">
              <a:defRPr sz="1600" b="1">
                <a:solidFill>
                  <a:srgbClr val="FFFFFF"/>
                </a:solidFill>
                <a:latin typeface="Aptos"/>
              </a:defRPr>
            </a:pPr>
            <a:r>
              <a:t>Challenge</a:t>
            </a:r>
          </a:p>
        </p:txBody>
      </p:sp>
      <p:sp>
        <p:nvSpPr>
          <p:cNvPr id="20" name="TextBox 19"/>
          <p:cNvSpPr txBox="1"/>
          <p:nvPr/>
        </p:nvSpPr>
        <p:spPr>
          <a:xfrm>
            <a:off x="4507992" y="3703320"/>
            <a:ext cx="1234440" cy="228600"/>
          </a:xfrm>
          <a:prstGeom prst="rect">
            <a:avLst/>
          </a:prstGeom>
          <a:noFill/>
        </p:spPr>
        <p:txBody>
          <a:bodyPr wrap="square" anchor="t">
            <a:spAutoFit/>
          </a:bodyPr>
          <a:lstStyle/>
          <a:p>
            <a:pPr algn="l">
              <a:defRPr sz="900" b="0">
                <a:solidFill>
                  <a:srgbClr val="72D4E8"/>
                </a:solidFill>
                <a:latin typeface="Aptos"/>
              </a:defRPr>
            </a:pPr>
            <a:r>
              <a:t>Falsification</a:t>
            </a:r>
          </a:p>
        </p:txBody>
      </p:sp>
      <p:sp>
        <p:nvSpPr>
          <p:cNvPr id="21" name="TextBox 20"/>
          <p:cNvSpPr txBox="1"/>
          <p:nvPr/>
        </p:nvSpPr>
        <p:spPr>
          <a:xfrm>
            <a:off x="5952744" y="3246120"/>
            <a:ext cx="274320" cy="274320"/>
          </a:xfrm>
          <a:prstGeom prst="rect">
            <a:avLst/>
          </a:prstGeom>
          <a:noFill/>
        </p:spPr>
        <p:txBody>
          <a:bodyPr wrap="square" anchor="t">
            <a:spAutoFit/>
          </a:bodyPr>
          <a:lstStyle/>
          <a:p>
            <a:pPr algn="l">
              <a:defRPr sz="1600" b="1">
                <a:solidFill>
                  <a:srgbClr val="19B5D8"/>
                </a:solidFill>
                <a:latin typeface="Aptos"/>
              </a:defRPr>
            </a:pPr>
            <a:r>
              <a:t>→</a:t>
            </a:r>
          </a:p>
        </p:txBody>
      </p:sp>
      <p:sp>
        <p:nvSpPr>
          <p:cNvPr id="22" name="Rectangle 21"/>
          <p:cNvSpPr/>
          <p:nvPr/>
        </p:nvSpPr>
        <p:spPr>
          <a:xfrm>
            <a:off x="6263640" y="2788920"/>
            <a:ext cx="1572768" cy="1371600"/>
          </a:xfrm>
          <a:prstGeom prst="rect">
            <a:avLst/>
          </a:prstGeom>
          <a:solidFill>
            <a:srgbClr val="F2F7FB"/>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8232" y="2971800"/>
            <a:ext cx="274320" cy="274320"/>
          </a:xfrm>
          <a:prstGeom prst="rect">
            <a:avLst/>
          </a:prstGeom>
          <a:noFill/>
        </p:spPr>
        <p:txBody>
          <a:bodyPr wrap="square" anchor="t">
            <a:spAutoFit/>
          </a:bodyPr>
          <a:lstStyle/>
          <a:p>
            <a:pPr algn="l">
              <a:defRPr sz="1100" b="1">
                <a:solidFill>
                  <a:srgbClr val="19B5D8"/>
                </a:solidFill>
                <a:latin typeface="Aptos"/>
              </a:defRPr>
            </a:pPr>
            <a:r>
              <a:t>4</a:t>
            </a:r>
          </a:p>
        </p:txBody>
      </p:sp>
      <p:sp>
        <p:nvSpPr>
          <p:cNvPr id="24" name="TextBox 23"/>
          <p:cNvSpPr txBox="1"/>
          <p:nvPr/>
        </p:nvSpPr>
        <p:spPr>
          <a:xfrm>
            <a:off x="6428232" y="3355848"/>
            <a:ext cx="1234440" cy="274320"/>
          </a:xfrm>
          <a:prstGeom prst="rect">
            <a:avLst/>
          </a:prstGeom>
          <a:noFill/>
        </p:spPr>
        <p:txBody>
          <a:bodyPr wrap="square" anchor="t">
            <a:spAutoFit/>
          </a:bodyPr>
          <a:lstStyle/>
          <a:p>
            <a:pPr algn="l">
              <a:defRPr sz="1600" b="1">
                <a:solidFill>
                  <a:srgbClr val="071D49"/>
                </a:solidFill>
                <a:latin typeface="Aptos"/>
              </a:defRPr>
            </a:pPr>
            <a:r>
              <a:t>Stress</a:t>
            </a:r>
          </a:p>
        </p:txBody>
      </p:sp>
      <p:sp>
        <p:nvSpPr>
          <p:cNvPr id="25" name="TextBox 24"/>
          <p:cNvSpPr txBox="1"/>
          <p:nvPr/>
        </p:nvSpPr>
        <p:spPr>
          <a:xfrm>
            <a:off x="6428232" y="3703320"/>
            <a:ext cx="1234440" cy="228600"/>
          </a:xfrm>
          <a:prstGeom prst="rect">
            <a:avLst/>
          </a:prstGeom>
          <a:noFill/>
        </p:spPr>
        <p:txBody>
          <a:bodyPr wrap="square" anchor="t">
            <a:spAutoFit/>
          </a:bodyPr>
          <a:lstStyle/>
          <a:p>
            <a:pPr algn="l">
              <a:defRPr sz="900" b="0">
                <a:solidFill>
                  <a:srgbClr val="53657D"/>
                </a:solidFill>
                <a:latin typeface="Aptos"/>
              </a:defRPr>
            </a:pPr>
            <a:r>
              <a:t>Greeks</a:t>
            </a:r>
          </a:p>
        </p:txBody>
      </p:sp>
      <p:sp>
        <p:nvSpPr>
          <p:cNvPr id="26" name="TextBox 25"/>
          <p:cNvSpPr txBox="1"/>
          <p:nvPr/>
        </p:nvSpPr>
        <p:spPr>
          <a:xfrm>
            <a:off x="7872984" y="3246120"/>
            <a:ext cx="274320" cy="274320"/>
          </a:xfrm>
          <a:prstGeom prst="rect">
            <a:avLst/>
          </a:prstGeom>
          <a:noFill/>
        </p:spPr>
        <p:txBody>
          <a:bodyPr wrap="square" anchor="t">
            <a:spAutoFit/>
          </a:bodyPr>
          <a:lstStyle/>
          <a:p>
            <a:pPr algn="l">
              <a:defRPr sz="1600" b="1">
                <a:solidFill>
                  <a:srgbClr val="19B5D8"/>
                </a:solidFill>
                <a:latin typeface="Aptos"/>
              </a:defRPr>
            </a:pPr>
            <a:r>
              <a:t>→</a:t>
            </a:r>
          </a:p>
        </p:txBody>
      </p:sp>
      <p:sp>
        <p:nvSpPr>
          <p:cNvPr id="27" name="Rectangle 26"/>
          <p:cNvSpPr/>
          <p:nvPr/>
        </p:nvSpPr>
        <p:spPr>
          <a:xfrm>
            <a:off x="8183880" y="2788920"/>
            <a:ext cx="1572768" cy="1371600"/>
          </a:xfrm>
          <a:prstGeom prst="rect">
            <a:avLst/>
          </a:prstGeom>
          <a:solidFill>
            <a:srgbClr val="071D49"/>
          </a:solidFill>
          <a:ln>
            <a:solidFill>
              <a:srgbClr val="071D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48472" y="2971800"/>
            <a:ext cx="274320" cy="274320"/>
          </a:xfrm>
          <a:prstGeom prst="rect">
            <a:avLst/>
          </a:prstGeom>
          <a:noFill/>
        </p:spPr>
        <p:txBody>
          <a:bodyPr wrap="square" anchor="t">
            <a:spAutoFit/>
          </a:bodyPr>
          <a:lstStyle/>
          <a:p>
            <a:pPr algn="l">
              <a:defRPr sz="1100" b="1">
                <a:solidFill>
                  <a:srgbClr val="19B5D8"/>
                </a:solidFill>
                <a:latin typeface="Aptos"/>
              </a:defRPr>
            </a:pPr>
            <a:r>
              <a:t>5</a:t>
            </a:r>
          </a:p>
        </p:txBody>
      </p:sp>
      <p:sp>
        <p:nvSpPr>
          <p:cNvPr id="29" name="TextBox 28"/>
          <p:cNvSpPr txBox="1"/>
          <p:nvPr/>
        </p:nvSpPr>
        <p:spPr>
          <a:xfrm>
            <a:off x="8348472" y="3355848"/>
            <a:ext cx="1234440" cy="274320"/>
          </a:xfrm>
          <a:prstGeom prst="rect">
            <a:avLst/>
          </a:prstGeom>
          <a:noFill/>
        </p:spPr>
        <p:txBody>
          <a:bodyPr wrap="square" anchor="t">
            <a:spAutoFit/>
          </a:bodyPr>
          <a:lstStyle/>
          <a:p>
            <a:pPr algn="l">
              <a:defRPr sz="1600" b="1">
                <a:solidFill>
                  <a:srgbClr val="FFFFFF"/>
                </a:solidFill>
                <a:latin typeface="Aptos"/>
              </a:defRPr>
            </a:pPr>
            <a:r>
              <a:t>Seal</a:t>
            </a:r>
          </a:p>
        </p:txBody>
      </p:sp>
      <p:sp>
        <p:nvSpPr>
          <p:cNvPr id="30" name="TextBox 29"/>
          <p:cNvSpPr txBox="1"/>
          <p:nvPr/>
        </p:nvSpPr>
        <p:spPr>
          <a:xfrm>
            <a:off x="8348472" y="3703320"/>
            <a:ext cx="1234440" cy="228600"/>
          </a:xfrm>
          <a:prstGeom prst="rect">
            <a:avLst/>
          </a:prstGeom>
          <a:noFill/>
        </p:spPr>
        <p:txBody>
          <a:bodyPr wrap="square" anchor="t">
            <a:spAutoFit/>
          </a:bodyPr>
          <a:lstStyle/>
          <a:p>
            <a:pPr algn="l">
              <a:defRPr sz="900" b="0">
                <a:solidFill>
                  <a:srgbClr val="72D4E8"/>
                </a:solidFill>
                <a:latin typeface="Aptos"/>
              </a:defRPr>
            </a:pPr>
            <a:r>
              <a:t>SHA-256</a:t>
            </a:r>
          </a:p>
        </p:txBody>
      </p:sp>
      <p:sp>
        <p:nvSpPr>
          <p:cNvPr id="31" name="TextBox 30"/>
          <p:cNvSpPr txBox="1"/>
          <p:nvPr/>
        </p:nvSpPr>
        <p:spPr>
          <a:xfrm>
            <a:off x="9793224" y="3246120"/>
            <a:ext cx="274320" cy="274320"/>
          </a:xfrm>
          <a:prstGeom prst="rect">
            <a:avLst/>
          </a:prstGeom>
          <a:noFill/>
        </p:spPr>
        <p:txBody>
          <a:bodyPr wrap="square" anchor="t">
            <a:spAutoFit/>
          </a:bodyPr>
          <a:lstStyle/>
          <a:p>
            <a:pPr algn="l">
              <a:defRPr sz="1600" b="1">
                <a:solidFill>
                  <a:srgbClr val="19B5D8"/>
                </a:solidFill>
                <a:latin typeface="Aptos"/>
              </a:defRPr>
            </a:pPr>
            <a:r>
              <a:t>→</a:t>
            </a:r>
          </a:p>
        </p:txBody>
      </p:sp>
      <p:sp>
        <p:nvSpPr>
          <p:cNvPr id="32" name="Rectangle 31"/>
          <p:cNvSpPr/>
          <p:nvPr/>
        </p:nvSpPr>
        <p:spPr>
          <a:xfrm>
            <a:off x="10104120" y="2788920"/>
            <a:ext cx="1572768" cy="1371600"/>
          </a:xfrm>
          <a:prstGeom prst="rect">
            <a:avLst/>
          </a:prstGeom>
          <a:solidFill>
            <a:srgbClr val="F2F7FB"/>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68712" y="2971800"/>
            <a:ext cx="274320" cy="274320"/>
          </a:xfrm>
          <a:prstGeom prst="rect">
            <a:avLst/>
          </a:prstGeom>
          <a:noFill/>
        </p:spPr>
        <p:txBody>
          <a:bodyPr wrap="square" anchor="t">
            <a:spAutoFit/>
          </a:bodyPr>
          <a:lstStyle/>
          <a:p>
            <a:pPr algn="l">
              <a:defRPr sz="1100" b="1">
                <a:solidFill>
                  <a:srgbClr val="19B5D8"/>
                </a:solidFill>
                <a:latin typeface="Aptos"/>
              </a:defRPr>
            </a:pPr>
            <a:r>
              <a:t>6</a:t>
            </a:r>
          </a:p>
        </p:txBody>
      </p:sp>
      <p:sp>
        <p:nvSpPr>
          <p:cNvPr id="34" name="TextBox 33"/>
          <p:cNvSpPr txBox="1"/>
          <p:nvPr/>
        </p:nvSpPr>
        <p:spPr>
          <a:xfrm>
            <a:off x="10268712" y="3355848"/>
            <a:ext cx="1234440" cy="274320"/>
          </a:xfrm>
          <a:prstGeom prst="rect">
            <a:avLst/>
          </a:prstGeom>
          <a:noFill/>
        </p:spPr>
        <p:txBody>
          <a:bodyPr wrap="square" anchor="t">
            <a:spAutoFit/>
          </a:bodyPr>
          <a:lstStyle/>
          <a:p>
            <a:pPr algn="l">
              <a:defRPr sz="1600" b="1">
                <a:solidFill>
                  <a:srgbClr val="071D49"/>
                </a:solidFill>
                <a:latin typeface="Aptos"/>
              </a:defRPr>
            </a:pPr>
            <a:r>
              <a:t>Score</a:t>
            </a:r>
          </a:p>
        </p:txBody>
      </p:sp>
      <p:sp>
        <p:nvSpPr>
          <p:cNvPr id="35" name="TextBox 34"/>
          <p:cNvSpPr txBox="1"/>
          <p:nvPr/>
        </p:nvSpPr>
        <p:spPr>
          <a:xfrm>
            <a:off x="10268712" y="3703320"/>
            <a:ext cx="1234440" cy="228600"/>
          </a:xfrm>
          <a:prstGeom prst="rect">
            <a:avLst/>
          </a:prstGeom>
          <a:noFill/>
        </p:spPr>
        <p:txBody>
          <a:bodyPr wrap="square" anchor="t">
            <a:spAutoFit/>
          </a:bodyPr>
          <a:lstStyle/>
          <a:p>
            <a:pPr algn="l">
              <a:defRPr sz="900" b="0">
                <a:solidFill>
                  <a:srgbClr val="53657D"/>
                </a:solidFill>
                <a:latin typeface="Aptos"/>
              </a:defRPr>
            </a:pPr>
            <a:r>
              <a:t>Outcome</a:t>
            </a:r>
          </a:p>
        </p:txBody>
      </p:sp>
      <p:sp>
        <p:nvSpPr>
          <p:cNvPr id="36" name="Rectangle 35"/>
          <p:cNvSpPr/>
          <p:nvPr/>
        </p:nvSpPr>
        <p:spPr>
          <a:xfrm>
            <a:off x="594360" y="4800600"/>
            <a:ext cx="10972800" cy="658368"/>
          </a:xfrm>
          <a:prstGeom prst="rect">
            <a:avLst/>
          </a:prstGeom>
          <a:solidFill>
            <a:srgbClr val="003B70"/>
          </a:solidFill>
          <a:ln>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5001768"/>
            <a:ext cx="10424160" cy="274320"/>
          </a:xfrm>
          <a:prstGeom prst="rect">
            <a:avLst/>
          </a:prstGeom>
          <a:noFill/>
        </p:spPr>
        <p:txBody>
          <a:bodyPr wrap="square" anchor="t">
            <a:spAutoFit/>
          </a:bodyPr>
          <a:lstStyle/>
          <a:p>
            <a:pPr algn="ctr">
              <a:defRPr sz="1600" b="1">
                <a:solidFill>
                  <a:srgbClr val="FFFFFF"/>
                </a:solidFill>
                <a:latin typeface="Aptos"/>
              </a:defRPr>
            </a:pPr>
            <a:r>
              <a:t>ABSTAIN is a successful outcome when evidence or execution quality is insufficient.</a:t>
            </a:r>
          </a:p>
        </p:txBody>
      </p:sp>
      <p:sp>
        <p:nvSpPr>
          <p:cNvPr id="38" name="TextBox 37"/>
          <p:cNvSpPr txBox="1"/>
          <p:nvPr/>
        </p:nvSpPr>
        <p:spPr>
          <a:xfrm>
            <a:off x="594360" y="6473952"/>
            <a:ext cx="9875520" cy="182880"/>
          </a:xfrm>
          <a:prstGeom prst="rect">
            <a:avLst/>
          </a:prstGeom>
          <a:noFill/>
        </p:spPr>
        <p:txBody>
          <a:bodyPr wrap="square" anchor="t">
            <a:spAutoFit/>
          </a:bodyPr>
          <a:lstStyle/>
          <a:p>
            <a:pPr algn="l">
              <a:defRPr sz="800" b="1">
                <a:solidFill>
                  <a:srgbClr val="53657D"/>
                </a:solidFill>
                <a:latin typeface="Aptos"/>
              </a:defRPr>
            </a:pPr>
            <a:r>
              <a:t>CROSSSIGNAL · OMOBOLAJI E ADEYAN · ALPACA PAPER TRADING</a:t>
            </a:r>
          </a:p>
        </p:txBody>
      </p:sp>
      <p:sp>
        <p:nvSpPr>
          <p:cNvPr id="39" name="TextBox 38"/>
          <p:cNvSpPr txBox="1"/>
          <p:nvPr/>
        </p:nvSpPr>
        <p:spPr>
          <a:xfrm>
            <a:off x="11064240" y="6437376"/>
            <a:ext cx="457200" cy="228600"/>
          </a:xfrm>
          <a:prstGeom prst="rect">
            <a:avLst/>
          </a:prstGeom>
          <a:noFill/>
        </p:spPr>
        <p:txBody>
          <a:bodyPr wrap="square" anchor="t">
            <a:spAutoFit/>
          </a:bodyPr>
          <a:lstStyle/>
          <a:p>
            <a:pPr algn="r">
              <a:defRPr sz="900" b="1">
                <a:solidFill>
                  <a:srgbClr val="53657D"/>
                </a:solidFill>
                <a:latin typeface="Aptos"/>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457200" cy="228600"/>
          </a:xfrm>
          <a:prstGeom prst="rect">
            <a:avLst/>
          </a:prstGeom>
          <a:noFill/>
        </p:spPr>
        <p:txBody>
          <a:bodyPr wrap="square" anchor="t">
            <a:spAutoFit/>
          </a:bodyPr>
          <a:lstStyle/>
          <a:p>
            <a:pPr algn="l">
              <a:defRPr sz="1000" b="1">
                <a:solidFill>
                  <a:srgbClr val="19B5D8"/>
                </a:solidFill>
                <a:latin typeface="Aptos"/>
              </a:defRPr>
            </a:pPr>
            <a:r>
              <a:t>04</a:t>
            </a:r>
          </a:p>
        </p:txBody>
      </p:sp>
      <p:sp>
        <p:nvSpPr>
          <p:cNvPr id="3" name="TextBox 2"/>
          <p:cNvSpPr txBox="1"/>
          <p:nvPr/>
        </p:nvSpPr>
        <p:spPr>
          <a:xfrm>
            <a:off x="960120" y="310896"/>
            <a:ext cx="5029200" cy="274320"/>
          </a:xfrm>
          <a:prstGeom prst="rect">
            <a:avLst/>
          </a:prstGeom>
          <a:noFill/>
        </p:spPr>
        <p:txBody>
          <a:bodyPr wrap="square" anchor="t">
            <a:spAutoFit/>
          </a:bodyPr>
          <a:lstStyle/>
          <a:p>
            <a:pPr algn="l">
              <a:defRPr sz="1000" b="1">
                <a:solidFill>
                  <a:srgbClr val="53657D"/>
                </a:solidFill>
                <a:latin typeface="Aptos"/>
              </a:defRPr>
            </a:pPr>
            <a:r>
              <a:t>TECHNOLOGY</a:t>
            </a:r>
          </a:p>
        </p:txBody>
      </p:sp>
      <p:sp>
        <p:nvSpPr>
          <p:cNvPr id="4" name="Rectangle 3"/>
          <p:cNvSpPr/>
          <p:nvPr/>
        </p:nvSpPr>
        <p:spPr>
          <a:xfrm>
            <a:off x="502920" y="685800"/>
            <a:ext cx="11155680" cy="13716"/>
          </a:xfrm>
          <a:prstGeom prst="rect">
            <a:avLst/>
          </a:prstGeom>
          <a:solidFill>
            <a:srgbClr val="D5E0E9"/>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87552"/>
            <a:ext cx="10972800" cy="960120"/>
          </a:xfrm>
          <a:prstGeom prst="rect">
            <a:avLst/>
          </a:prstGeom>
          <a:noFill/>
        </p:spPr>
        <p:txBody>
          <a:bodyPr wrap="square" anchor="t">
            <a:spAutoFit/>
          </a:bodyPr>
          <a:lstStyle/>
          <a:p>
            <a:pPr algn="l">
              <a:defRPr sz="3400" b="1">
                <a:solidFill>
                  <a:srgbClr val="071D49"/>
                </a:solidFill>
                <a:latin typeface="Aptos Display"/>
              </a:defRPr>
            </a:pPr>
            <a:r>
              <a:t>Alpaca is the market and execution backbone</a:t>
            </a:r>
          </a:p>
        </p:txBody>
      </p:sp>
      <p:sp>
        <p:nvSpPr>
          <p:cNvPr id="6" name="Rectangle 5"/>
          <p:cNvSpPr/>
          <p:nvPr/>
        </p:nvSpPr>
        <p:spPr>
          <a:xfrm>
            <a:off x="594360" y="2240280"/>
            <a:ext cx="2971800" cy="3063240"/>
          </a:xfrm>
          <a:prstGeom prst="rect">
            <a:avLst/>
          </a:prstGeom>
          <a:solidFill>
            <a:srgbClr val="F2F7FB"/>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560320"/>
            <a:ext cx="2468880" cy="274320"/>
          </a:xfrm>
          <a:prstGeom prst="rect">
            <a:avLst/>
          </a:prstGeom>
          <a:noFill/>
        </p:spPr>
        <p:txBody>
          <a:bodyPr wrap="square" anchor="t">
            <a:spAutoFit/>
          </a:bodyPr>
          <a:lstStyle/>
          <a:p>
            <a:pPr algn="l">
              <a:defRPr sz="1100" b="1">
                <a:solidFill>
                  <a:srgbClr val="19B5D8"/>
                </a:solidFill>
                <a:latin typeface="Aptos"/>
              </a:defRPr>
            </a:pPr>
            <a:r>
              <a:t>LIVE EVIDENCE</a:t>
            </a:r>
          </a:p>
        </p:txBody>
      </p:sp>
      <p:sp>
        <p:nvSpPr>
          <p:cNvPr id="8" name="TextBox 7"/>
          <p:cNvSpPr txBox="1"/>
          <p:nvPr/>
        </p:nvSpPr>
        <p:spPr>
          <a:xfrm>
            <a:off x="868680" y="3063240"/>
            <a:ext cx="2423160" cy="1645920"/>
          </a:xfrm>
          <a:prstGeom prst="rect">
            <a:avLst/>
          </a:prstGeom>
          <a:noFill/>
        </p:spPr>
        <p:txBody>
          <a:bodyPr wrap="square">
            <a:spAutoFit/>
          </a:bodyPr>
          <a:lstStyle/>
          <a:p>
            <a:pPr>
              <a:spcAft>
                <a:spcPts val="1400"/>
              </a:spcAft>
              <a:defRPr sz="1500">
                <a:solidFill>
                  <a:srgbClr val="071D49"/>
                </a:solidFill>
                <a:latin typeface="Aptos"/>
              </a:defRPr>
            </a:pPr>
            <a:r>
              <a:t>•  Stocks and options</a:t>
            </a:r>
          </a:p>
          <a:p>
            <a:pPr>
              <a:spcAft>
                <a:spcPts val="1400"/>
              </a:spcAft>
              <a:defRPr sz="1500">
                <a:solidFill>
                  <a:srgbClr val="071D49"/>
                </a:solidFill>
                <a:latin typeface="Aptos"/>
              </a:defRPr>
            </a:pPr>
            <a:r>
              <a:t>•  Quotes, volume and Greeks</a:t>
            </a:r>
          </a:p>
          <a:p>
            <a:pPr>
              <a:spcAft>
                <a:spcPts val="1400"/>
              </a:spcAft>
              <a:defRPr sz="1500">
                <a:solidFill>
                  <a:srgbClr val="071D49"/>
                </a:solidFill>
                <a:latin typeface="Aptos"/>
              </a:defRPr>
            </a:pPr>
            <a:r>
              <a:t>•  Account and positions</a:t>
            </a:r>
          </a:p>
          <a:p>
            <a:pPr>
              <a:spcAft>
                <a:spcPts val="1400"/>
              </a:spcAft>
              <a:defRPr sz="1500">
                <a:solidFill>
                  <a:srgbClr val="071D49"/>
                </a:solidFill>
                <a:latin typeface="Aptos"/>
              </a:defRPr>
            </a:pPr>
            <a:r>
              <a:t>•  Alpaca News context</a:t>
            </a:r>
          </a:p>
        </p:txBody>
      </p:sp>
      <p:sp>
        <p:nvSpPr>
          <p:cNvPr id="9" name="Rectangle 8"/>
          <p:cNvSpPr/>
          <p:nvPr/>
        </p:nvSpPr>
        <p:spPr>
          <a:xfrm>
            <a:off x="4572000" y="2240280"/>
            <a:ext cx="2971800" cy="3063240"/>
          </a:xfrm>
          <a:prstGeom prst="rect">
            <a:avLst/>
          </a:prstGeom>
          <a:solidFill>
            <a:srgbClr val="071D49"/>
          </a:solidFill>
          <a:ln>
            <a:solidFill>
              <a:srgbClr val="071D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2560320"/>
            <a:ext cx="2423160" cy="274320"/>
          </a:xfrm>
          <a:prstGeom prst="rect">
            <a:avLst/>
          </a:prstGeom>
          <a:noFill/>
        </p:spPr>
        <p:txBody>
          <a:bodyPr wrap="square" anchor="t">
            <a:spAutoFit/>
          </a:bodyPr>
          <a:lstStyle/>
          <a:p>
            <a:pPr algn="l">
              <a:defRPr sz="1100" b="1">
                <a:solidFill>
                  <a:srgbClr val="72D4E8"/>
                </a:solidFill>
                <a:latin typeface="Aptos"/>
              </a:defRPr>
            </a:pPr>
            <a:r>
              <a:t>CROSSSIGNAL</a:t>
            </a:r>
          </a:p>
        </p:txBody>
      </p:sp>
      <p:sp>
        <p:nvSpPr>
          <p:cNvPr id="11" name="TextBox 10"/>
          <p:cNvSpPr txBox="1"/>
          <p:nvPr/>
        </p:nvSpPr>
        <p:spPr>
          <a:xfrm>
            <a:off x="4846320" y="3063240"/>
            <a:ext cx="2423160" cy="1645920"/>
          </a:xfrm>
          <a:prstGeom prst="rect">
            <a:avLst/>
          </a:prstGeom>
          <a:noFill/>
        </p:spPr>
        <p:txBody>
          <a:bodyPr wrap="square">
            <a:spAutoFit/>
          </a:bodyPr>
          <a:lstStyle/>
          <a:p>
            <a:pPr>
              <a:spcAft>
                <a:spcPts val="1400"/>
              </a:spcAft>
              <a:defRPr sz="1500">
                <a:solidFill>
                  <a:srgbClr val="FFFFFF"/>
                </a:solidFill>
                <a:latin typeface="Aptos"/>
              </a:defRPr>
            </a:pPr>
            <a:r>
              <a:t>•  Claude macro synthesis</a:t>
            </a:r>
          </a:p>
          <a:p>
            <a:pPr>
              <a:spcAft>
                <a:spcPts val="1400"/>
              </a:spcAft>
              <a:defRPr sz="1500">
                <a:solidFill>
                  <a:srgbClr val="FFFFFF"/>
                </a:solidFill>
                <a:latin typeface="Aptos"/>
              </a:defRPr>
            </a:pPr>
            <a:r>
              <a:t>•  Deterministic construction</a:t>
            </a:r>
          </a:p>
          <a:p>
            <a:pPr>
              <a:spcAft>
                <a:spcPts val="1400"/>
              </a:spcAft>
              <a:defRPr sz="1500">
                <a:solidFill>
                  <a:srgbClr val="FFFFFF"/>
                </a:solidFill>
                <a:latin typeface="Aptos"/>
              </a:defRPr>
            </a:pPr>
            <a:r>
              <a:t>•  Risk and stability gates</a:t>
            </a:r>
          </a:p>
          <a:p>
            <a:pPr>
              <a:spcAft>
                <a:spcPts val="1400"/>
              </a:spcAft>
              <a:defRPr sz="1500">
                <a:solidFill>
                  <a:srgbClr val="FFFFFF"/>
                </a:solidFill>
                <a:latin typeface="Aptos"/>
              </a:defRPr>
            </a:pPr>
            <a:r>
              <a:t>•  Sealed Decision Contract</a:t>
            </a:r>
          </a:p>
        </p:txBody>
      </p:sp>
      <p:sp>
        <p:nvSpPr>
          <p:cNvPr id="12" name="Rectangle 11"/>
          <p:cNvSpPr/>
          <p:nvPr/>
        </p:nvSpPr>
        <p:spPr>
          <a:xfrm>
            <a:off x="8549640" y="2240280"/>
            <a:ext cx="2971800" cy="3063240"/>
          </a:xfrm>
          <a:prstGeom prst="rect">
            <a:avLst/>
          </a:prstGeom>
          <a:solidFill>
            <a:srgbClr val="F2F7FB"/>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23960" y="2560320"/>
            <a:ext cx="2423160" cy="274320"/>
          </a:xfrm>
          <a:prstGeom prst="rect">
            <a:avLst/>
          </a:prstGeom>
          <a:noFill/>
        </p:spPr>
        <p:txBody>
          <a:bodyPr wrap="square" anchor="t">
            <a:spAutoFit/>
          </a:bodyPr>
          <a:lstStyle/>
          <a:p>
            <a:pPr algn="l">
              <a:defRPr sz="1100" b="1">
                <a:solidFill>
                  <a:srgbClr val="19B5D8"/>
                </a:solidFill>
                <a:latin typeface="Aptos"/>
              </a:defRPr>
            </a:pPr>
            <a:r>
              <a:t>PAPER LIFECYCLE</a:t>
            </a:r>
          </a:p>
        </p:txBody>
      </p:sp>
      <p:sp>
        <p:nvSpPr>
          <p:cNvPr id="14" name="TextBox 13"/>
          <p:cNvSpPr txBox="1"/>
          <p:nvPr/>
        </p:nvSpPr>
        <p:spPr>
          <a:xfrm>
            <a:off x="8823960" y="3063240"/>
            <a:ext cx="2423160" cy="1645920"/>
          </a:xfrm>
          <a:prstGeom prst="rect">
            <a:avLst/>
          </a:prstGeom>
          <a:noFill/>
        </p:spPr>
        <p:txBody>
          <a:bodyPr wrap="square">
            <a:spAutoFit/>
          </a:bodyPr>
          <a:lstStyle/>
          <a:p>
            <a:pPr>
              <a:spcAft>
                <a:spcPts val="1400"/>
              </a:spcAft>
              <a:defRPr sz="1500">
                <a:solidFill>
                  <a:srgbClr val="071D49"/>
                </a:solidFill>
                <a:latin typeface="Aptos"/>
              </a:defRPr>
            </a:pPr>
            <a:r>
              <a:t>•  All-leg preflight</a:t>
            </a:r>
          </a:p>
          <a:p>
            <a:pPr>
              <a:spcAft>
                <a:spcPts val="1400"/>
              </a:spcAft>
              <a:defRPr sz="1500">
                <a:solidFill>
                  <a:srgbClr val="071D49"/>
                </a:solidFill>
                <a:latin typeface="Aptos"/>
              </a:defRPr>
            </a:pPr>
            <a:r>
              <a:t>•  Multi-leg paper orders</a:t>
            </a:r>
          </a:p>
          <a:p>
            <a:pPr>
              <a:spcAft>
                <a:spcPts val="1400"/>
              </a:spcAft>
              <a:defRPr sz="1500">
                <a:solidFill>
                  <a:srgbClr val="071D49"/>
                </a:solidFill>
                <a:latin typeface="Aptos"/>
              </a:defRPr>
            </a:pPr>
            <a:r>
              <a:t>•  Fill reconciliation</a:t>
            </a:r>
          </a:p>
          <a:p>
            <a:pPr>
              <a:spcAft>
                <a:spcPts val="1400"/>
              </a:spcAft>
              <a:defRPr sz="1500">
                <a:solidFill>
                  <a:srgbClr val="071D49"/>
                </a:solidFill>
                <a:latin typeface="Aptos"/>
              </a:defRPr>
            </a:pPr>
            <a:r>
              <a:t>•  Explicit recovery state</a:t>
            </a:r>
          </a:p>
        </p:txBody>
      </p:sp>
      <p:sp>
        <p:nvSpPr>
          <p:cNvPr id="15" name="TextBox 14"/>
          <p:cNvSpPr txBox="1"/>
          <p:nvPr/>
        </p:nvSpPr>
        <p:spPr>
          <a:xfrm>
            <a:off x="3822191" y="3474720"/>
            <a:ext cx="457200" cy="457200"/>
          </a:xfrm>
          <a:prstGeom prst="rect">
            <a:avLst/>
          </a:prstGeom>
          <a:noFill/>
        </p:spPr>
        <p:txBody>
          <a:bodyPr wrap="square" anchor="t">
            <a:spAutoFit/>
          </a:bodyPr>
          <a:lstStyle/>
          <a:p>
            <a:pPr algn="l">
              <a:defRPr sz="2500" b="1">
                <a:solidFill>
                  <a:srgbClr val="19B5D8"/>
                </a:solidFill>
                <a:latin typeface="Aptos"/>
              </a:defRPr>
            </a:pPr>
            <a:r>
              <a:t>→</a:t>
            </a:r>
          </a:p>
        </p:txBody>
      </p:sp>
      <p:sp>
        <p:nvSpPr>
          <p:cNvPr id="16" name="TextBox 15"/>
          <p:cNvSpPr txBox="1"/>
          <p:nvPr/>
        </p:nvSpPr>
        <p:spPr>
          <a:xfrm>
            <a:off x="7799831" y="3474720"/>
            <a:ext cx="457200" cy="457200"/>
          </a:xfrm>
          <a:prstGeom prst="rect">
            <a:avLst/>
          </a:prstGeom>
          <a:noFill/>
        </p:spPr>
        <p:txBody>
          <a:bodyPr wrap="square" anchor="t">
            <a:spAutoFit/>
          </a:bodyPr>
          <a:lstStyle/>
          <a:p>
            <a:pPr algn="l">
              <a:defRPr sz="2500" b="1">
                <a:solidFill>
                  <a:srgbClr val="19B5D8"/>
                </a:solidFill>
                <a:latin typeface="Aptos"/>
              </a:defRPr>
            </a:pPr>
            <a:r>
              <a:t>→</a:t>
            </a:r>
          </a:p>
        </p:txBody>
      </p:sp>
      <p:sp>
        <p:nvSpPr>
          <p:cNvPr id="17" name="TextBox 16"/>
          <p:cNvSpPr txBox="1"/>
          <p:nvPr/>
        </p:nvSpPr>
        <p:spPr>
          <a:xfrm>
            <a:off x="594360" y="6473952"/>
            <a:ext cx="9875520" cy="182880"/>
          </a:xfrm>
          <a:prstGeom prst="rect">
            <a:avLst/>
          </a:prstGeom>
          <a:noFill/>
        </p:spPr>
        <p:txBody>
          <a:bodyPr wrap="square" anchor="t">
            <a:spAutoFit/>
          </a:bodyPr>
          <a:lstStyle/>
          <a:p>
            <a:pPr algn="l">
              <a:defRPr sz="800" b="1">
                <a:solidFill>
                  <a:srgbClr val="53657D"/>
                </a:solidFill>
                <a:latin typeface="Aptos"/>
              </a:defRPr>
            </a:pPr>
            <a:r>
              <a:t>CROSSSIGNAL · OMOBOLAJI E ADEYAN · ALPACA PAPER TRADING</a:t>
            </a:r>
          </a:p>
        </p:txBody>
      </p:sp>
      <p:sp>
        <p:nvSpPr>
          <p:cNvPr id="18" name="TextBox 17"/>
          <p:cNvSpPr txBox="1"/>
          <p:nvPr/>
        </p:nvSpPr>
        <p:spPr>
          <a:xfrm>
            <a:off x="11064240" y="6437376"/>
            <a:ext cx="457200" cy="228600"/>
          </a:xfrm>
          <a:prstGeom prst="rect">
            <a:avLst/>
          </a:prstGeom>
          <a:noFill/>
        </p:spPr>
        <p:txBody>
          <a:bodyPr wrap="square" anchor="t">
            <a:spAutoFit/>
          </a:bodyPr>
          <a:lstStyle/>
          <a:p>
            <a:pPr algn="r">
              <a:defRPr sz="900" b="1">
                <a:solidFill>
                  <a:srgbClr val="53657D"/>
                </a:solidFill>
                <a:latin typeface="Aptos"/>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457200" cy="228600"/>
          </a:xfrm>
          <a:prstGeom prst="rect">
            <a:avLst/>
          </a:prstGeom>
          <a:noFill/>
        </p:spPr>
        <p:txBody>
          <a:bodyPr wrap="square" anchor="t">
            <a:spAutoFit/>
          </a:bodyPr>
          <a:lstStyle/>
          <a:p>
            <a:pPr algn="l">
              <a:defRPr sz="1000" b="1">
                <a:solidFill>
                  <a:srgbClr val="19B5D8"/>
                </a:solidFill>
                <a:latin typeface="Aptos"/>
              </a:defRPr>
            </a:pPr>
            <a:r>
              <a:t>05</a:t>
            </a:r>
          </a:p>
        </p:txBody>
      </p:sp>
      <p:sp>
        <p:nvSpPr>
          <p:cNvPr id="3" name="TextBox 2"/>
          <p:cNvSpPr txBox="1"/>
          <p:nvPr/>
        </p:nvSpPr>
        <p:spPr>
          <a:xfrm>
            <a:off x="960120" y="310896"/>
            <a:ext cx="5029200" cy="274320"/>
          </a:xfrm>
          <a:prstGeom prst="rect">
            <a:avLst/>
          </a:prstGeom>
          <a:noFill/>
        </p:spPr>
        <p:txBody>
          <a:bodyPr wrap="square" anchor="t">
            <a:spAutoFit/>
          </a:bodyPr>
          <a:lstStyle/>
          <a:p>
            <a:pPr algn="l">
              <a:defRPr sz="1000" b="1">
                <a:solidFill>
                  <a:srgbClr val="53657D"/>
                </a:solidFill>
                <a:latin typeface="Aptos"/>
              </a:defRPr>
            </a:pPr>
            <a:r>
              <a:t>DEFENSIBILITY</a:t>
            </a:r>
          </a:p>
        </p:txBody>
      </p:sp>
      <p:sp>
        <p:nvSpPr>
          <p:cNvPr id="4" name="Rectangle 3"/>
          <p:cNvSpPr/>
          <p:nvPr/>
        </p:nvSpPr>
        <p:spPr>
          <a:xfrm>
            <a:off x="502920" y="685800"/>
            <a:ext cx="11155680" cy="13716"/>
          </a:xfrm>
          <a:prstGeom prst="rect">
            <a:avLst/>
          </a:prstGeom>
          <a:solidFill>
            <a:srgbClr val="D5E0E9"/>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87552"/>
            <a:ext cx="10972800" cy="960120"/>
          </a:xfrm>
          <a:prstGeom prst="rect">
            <a:avLst/>
          </a:prstGeom>
          <a:noFill/>
        </p:spPr>
        <p:txBody>
          <a:bodyPr wrap="square" anchor="t">
            <a:spAutoFit/>
          </a:bodyPr>
          <a:lstStyle/>
          <a:p>
            <a:pPr algn="l">
              <a:defRPr sz="3400" b="1">
                <a:solidFill>
                  <a:srgbClr val="071D49"/>
                </a:solidFill>
                <a:latin typeface="Aptos Display"/>
              </a:defRPr>
            </a:pPr>
            <a:r>
              <a:t>One scorecard. Two defensible decisions.</a:t>
            </a:r>
          </a:p>
        </p:txBody>
      </p:sp>
      <p:sp>
        <p:nvSpPr>
          <p:cNvPr id="6" name="TextBox 5"/>
          <p:cNvSpPr txBox="1"/>
          <p:nvPr/>
        </p:nvSpPr>
        <p:spPr>
          <a:xfrm>
            <a:off x="621792" y="1847088"/>
            <a:ext cx="10698480" cy="502920"/>
          </a:xfrm>
          <a:prstGeom prst="rect">
            <a:avLst/>
          </a:prstGeom>
          <a:noFill/>
        </p:spPr>
        <p:txBody>
          <a:bodyPr wrap="square" anchor="t">
            <a:spAutoFit/>
          </a:bodyPr>
          <a:lstStyle/>
          <a:p>
            <a:pPr algn="l">
              <a:defRPr sz="1500" b="0">
                <a:solidFill>
                  <a:srgbClr val="53657D"/>
                </a:solidFill>
                <a:latin typeface="Aptos"/>
              </a:defRPr>
            </a:pPr>
            <a:r>
              <a:t>Signal strength never gets to hide weak execution evidence.</a:t>
            </a:r>
          </a:p>
        </p:txBody>
      </p:sp>
      <p:sp>
        <p:nvSpPr>
          <p:cNvPr id="7" name="Rectangle 6"/>
          <p:cNvSpPr/>
          <p:nvPr/>
        </p:nvSpPr>
        <p:spPr>
          <a:xfrm>
            <a:off x="594360" y="2423160"/>
            <a:ext cx="2487168" cy="1188720"/>
          </a:xfrm>
          <a:prstGeom prst="rect">
            <a:avLst/>
          </a:prstGeom>
          <a:solidFill>
            <a:srgbClr val="F2F7FB"/>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33472"/>
            <a:ext cx="2121408" cy="411480"/>
          </a:xfrm>
          <a:prstGeom prst="rect">
            <a:avLst/>
          </a:prstGeom>
          <a:noFill/>
        </p:spPr>
        <p:txBody>
          <a:bodyPr wrap="square" anchor="t">
            <a:spAutoFit/>
          </a:bodyPr>
          <a:lstStyle/>
          <a:p>
            <a:pPr algn="ctr">
              <a:defRPr sz="2400" b="1">
                <a:solidFill>
                  <a:srgbClr val="071D49"/>
                </a:solidFill>
                <a:latin typeface="Aptos"/>
              </a:defRPr>
            </a:pPr>
            <a:r>
              <a:t>85</a:t>
            </a:r>
          </a:p>
        </p:txBody>
      </p:sp>
      <p:sp>
        <p:nvSpPr>
          <p:cNvPr id="9" name="TextBox 8"/>
          <p:cNvSpPr txBox="1"/>
          <p:nvPr/>
        </p:nvSpPr>
        <p:spPr>
          <a:xfrm>
            <a:off x="777240" y="3127248"/>
            <a:ext cx="2121408" cy="228600"/>
          </a:xfrm>
          <a:prstGeom prst="rect">
            <a:avLst/>
          </a:prstGeom>
          <a:noFill/>
        </p:spPr>
        <p:txBody>
          <a:bodyPr wrap="square" anchor="t">
            <a:spAutoFit/>
          </a:bodyPr>
          <a:lstStyle/>
          <a:p>
            <a:pPr algn="ctr">
              <a:defRPr sz="1100" b="1">
                <a:solidFill>
                  <a:srgbClr val="53657D"/>
                </a:solidFill>
                <a:latin typeface="Aptos"/>
              </a:defRPr>
            </a:pPr>
            <a:r>
              <a:t>Signal quality</a:t>
            </a:r>
          </a:p>
        </p:txBody>
      </p:sp>
      <p:sp>
        <p:nvSpPr>
          <p:cNvPr id="10" name="Rectangle 9"/>
          <p:cNvSpPr/>
          <p:nvPr/>
        </p:nvSpPr>
        <p:spPr>
          <a:xfrm>
            <a:off x="3355848" y="2423160"/>
            <a:ext cx="2487168" cy="1188720"/>
          </a:xfrm>
          <a:prstGeom prst="rect">
            <a:avLst/>
          </a:prstGeom>
          <a:solidFill>
            <a:srgbClr val="F2F7FB"/>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38728" y="2633472"/>
            <a:ext cx="2121408" cy="411480"/>
          </a:xfrm>
          <a:prstGeom prst="rect">
            <a:avLst/>
          </a:prstGeom>
          <a:noFill/>
        </p:spPr>
        <p:txBody>
          <a:bodyPr wrap="square" anchor="t">
            <a:spAutoFit/>
          </a:bodyPr>
          <a:lstStyle/>
          <a:p>
            <a:pPr algn="ctr">
              <a:defRPr sz="2400" b="1">
                <a:solidFill>
                  <a:srgbClr val="071D49"/>
                </a:solidFill>
                <a:latin typeface="Aptos"/>
              </a:defRPr>
            </a:pPr>
            <a:r>
              <a:t>100</a:t>
            </a:r>
          </a:p>
        </p:txBody>
      </p:sp>
      <p:sp>
        <p:nvSpPr>
          <p:cNvPr id="12" name="TextBox 11"/>
          <p:cNvSpPr txBox="1"/>
          <p:nvPr/>
        </p:nvSpPr>
        <p:spPr>
          <a:xfrm>
            <a:off x="3538728" y="3127248"/>
            <a:ext cx="2121408" cy="228600"/>
          </a:xfrm>
          <a:prstGeom prst="rect">
            <a:avLst/>
          </a:prstGeom>
          <a:noFill/>
        </p:spPr>
        <p:txBody>
          <a:bodyPr wrap="square" anchor="t">
            <a:spAutoFit/>
          </a:bodyPr>
          <a:lstStyle/>
          <a:p>
            <a:pPr algn="ctr">
              <a:defRPr sz="1100" b="1">
                <a:solidFill>
                  <a:srgbClr val="53657D"/>
                </a:solidFill>
                <a:latin typeface="Aptos"/>
              </a:defRPr>
            </a:pPr>
            <a:r>
              <a:t>Decision stability</a:t>
            </a:r>
          </a:p>
        </p:txBody>
      </p:sp>
      <p:sp>
        <p:nvSpPr>
          <p:cNvPr id="13" name="Rectangle 12"/>
          <p:cNvSpPr/>
          <p:nvPr/>
        </p:nvSpPr>
        <p:spPr>
          <a:xfrm>
            <a:off x="6117336" y="2423160"/>
            <a:ext cx="2487168" cy="1188720"/>
          </a:xfrm>
          <a:prstGeom prst="rect">
            <a:avLst/>
          </a:prstGeom>
          <a:solidFill>
            <a:srgbClr val="F2F7FB"/>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0216" y="2633472"/>
            <a:ext cx="2121408" cy="411480"/>
          </a:xfrm>
          <a:prstGeom prst="rect">
            <a:avLst/>
          </a:prstGeom>
          <a:noFill/>
        </p:spPr>
        <p:txBody>
          <a:bodyPr wrap="square" anchor="t">
            <a:spAutoFit/>
          </a:bodyPr>
          <a:lstStyle/>
          <a:p>
            <a:pPr algn="ctr">
              <a:defRPr sz="2400" b="1">
                <a:solidFill>
                  <a:srgbClr val="071D49"/>
                </a:solidFill>
                <a:latin typeface="Aptos"/>
              </a:defRPr>
            </a:pPr>
            <a:r>
              <a:t>93</a:t>
            </a:r>
          </a:p>
        </p:txBody>
      </p:sp>
      <p:sp>
        <p:nvSpPr>
          <p:cNvPr id="15" name="TextBox 14"/>
          <p:cNvSpPr txBox="1"/>
          <p:nvPr/>
        </p:nvSpPr>
        <p:spPr>
          <a:xfrm>
            <a:off x="6300216" y="3127248"/>
            <a:ext cx="2121408" cy="228600"/>
          </a:xfrm>
          <a:prstGeom prst="rect">
            <a:avLst/>
          </a:prstGeom>
          <a:noFill/>
        </p:spPr>
        <p:txBody>
          <a:bodyPr wrap="square" anchor="t">
            <a:spAutoFit/>
          </a:bodyPr>
          <a:lstStyle/>
          <a:p>
            <a:pPr algn="ctr">
              <a:defRPr sz="1100" b="1">
                <a:solidFill>
                  <a:srgbClr val="53657D"/>
                </a:solidFill>
                <a:latin typeface="Aptos"/>
              </a:defRPr>
            </a:pPr>
            <a:r>
              <a:t>Execution quality</a:t>
            </a:r>
          </a:p>
        </p:txBody>
      </p:sp>
      <p:sp>
        <p:nvSpPr>
          <p:cNvPr id="16" name="Rectangle 15"/>
          <p:cNvSpPr/>
          <p:nvPr/>
        </p:nvSpPr>
        <p:spPr>
          <a:xfrm>
            <a:off x="8878824" y="2423160"/>
            <a:ext cx="2487168" cy="1188720"/>
          </a:xfrm>
          <a:prstGeom prst="rect">
            <a:avLst/>
          </a:prstGeom>
          <a:solidFill>
            <a:srgbClr val="F2F7FB"/>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61704" y="2633472"/>
            <a:ext cx="2121408" cy="411480"/>
          </a:xfrm>
          <a:prstGeom prst="rect">
            <a:avLst/>
          </a:prstGeom>
          <a:noFill/>
        </p:spPr>
        <p:txBody>
          <a:bodyPr wrap="square" anchor="t">
            <a:spAutoFit/>
          </a:bodyPr>
          <a:lstStyle/>
          <a:p>
            <a:pPr algn="ctr">
              <a:defRPr sz="2400" b="1">
                <a:solidFill>
                  <a:srgbClr val="071D49"/>
                </a:solidFill>
                <a:latin typeface="Aptos"/>
              </a:defRPr>
            </a:pPr>
            <a:r>
              <a:t>Pending</a:t>
            </a:r>
          </a:p>
        </p:txBody>
      </p:sp>
      <p:sp>
        <p:nvSpPr>
          <p:cNvPr id="18" name="TextBox 17"/>
          <p:cNvSpPr txBox="1"/>
          <p:nvPr/>
        </p:nvSpPr>
        <p:spPr>
          <a:xfrm>
            <a:off x="9061704" y="3127248"/>
            <a:ext cx="2121408" cy="228600"/>
          </a:xfrm>
          <a:prstGeom prst="rect">
            <a:avLst/>
          </a:prstGeom>
          <a:noFill/>
        </p:spPr>
        <p:txBody>
          <a:bodyPr wrap="square" anchor="t">
            <a:spAutoFit/>
          </a:bodyPr>
          <a:lstStyle/>
          <a:p>
            <a:pPr algn="ctr">
              <a:defRPr sz="1100" b="1">
                <a:solidFill>
                  <a:srgbClr val="53657D"/>
                </a:solidFill>
                <a:latin typeface="Aptos"/>
              </a:defRPr>
            </a:pPr>
            <a:r>
              <a:t>Outcome evidence</a:t>
            </a:r>
          </a:p>
        </p:txBody>
      </p:sp>
      <p:sp>
        <p:nvSpPr>
          <p:cNvPr id="19" name="Rectangle 18"/>
          <p:cNvSpPr/>
          <p:nvPr/>
        </p:nvSpPr>
        <p:spPr>
          <a:xfrm>
            <a:off x="594360" y="3977639"/>
            <a:ext cx="5349240" cy="1261872"/>
          </a:xfrm>
          <a:prstGeom prst="rect">
            <a:avLst/>
          </a:prstGeom>
          <a:solidFill>
            <a:srgbClr val="071D49"/>
          </a:solidFill>
          <a:ln>
            <a:solidFill>
              <a:srgbClr val="071D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224528"/>
            <a:ext cx="2011680" cy="228600"/>
          </a:xfrm>
          <a:prstGeom prst="rect">
            <a:avLst/>
          </a:prstGeom>
          <a:noFill/>
        </p:spPr>
        <p:txBody>
          <a:bodyPr wrap="square" anchor="t">
            <a:spAutoFit/>
          </a:bodyPr>
          <a:lstStyle/>
          <a:p>
            <a:pPr algn="l">
              <a:defRPr sz="1100" b="1">
                <a:solidFill>
                  <a:srgbClr val="72D4E8"/>
                </a:solidFill>
                <a:latin typeface="Aptos"/>
              </a:defRPr>
            </a:pPr>
            <a:r>
              <a:t>AUTHORIZED REPLAY</a:t>
            </a:r>
          </a:p>
        </p:txBody>
      </p:sp>
      <p:sp>
        <p:nvSpPr>
          <p:cNvPr id="21" name="TextBox 20"/>
          <p:cNvSpPr txBox="1"/>
          <p:nvPr/>
        </p:nvSpPr>
        <p:spPr>
          <a:xfrm>
            <a:off x="868680" y="4599432"/>
            <a:ext cx="4480560" cy="274320"/>
          </a:xfrm>
          <a:prstGeom prst="rect">
            <a:avLst/>
          </a:prstGeom>
          <a:noFill/>
        </p:spPr>
        <p:txBody>
          <a:bodyPr wrap="square" anchor="t">
            <a:spAutoFit/>
          </a:bodyPr>
          <a:lstStyle/>
          <a:p>
            <a:pPr algn="l">
              <a:defRPr sz="1700" b="1">
                <a:solidFill>
                  <a:srgbClr val="FFFFFF"/>
                </a:solidFill>
                <a:latin typeface="Aptos"/>
              </a:defRPr>
            </a:pPr>
            <a:r>
              <a:t>All deterministic gates passed</a:t>
            </a:r>
          </a:p>
        </p:txBody>
      </p:sp>
      <p:sp>
        <p:nvSpPr>
          <p:cNvPr id="22" name="Rectangle 21"/>
          <p:cNvSpPr/>
          <p:nvPr/>
        </p:nvSpPr>
        <p:spPr>
          <a:xfrm>
            <a:off x="6199632" y="3977639"/>
            <a:ext cx="5349240" cy="1261872"/>
          </a:xfrm>
          <a:prstGeom prst="rect">
            <a:avLst/>
          </a:prstGeom>
          <a:solidFill>
            <a:srgbClr val="F2F7FB"/>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4224528"/>
            <a:ext cx="2103120" cy="228600"/>
          </a:xfrm>
          <a:prstGeom prst="rect">
            <a:avLst/>
          </a:prstGeom>
          <a:noFill/>
        </p:spPr>
        <p:txBody>
          <a:bodyPr wrap="square" anchor="t">
            <a:spAutoFit/>
          </a:bodyPr>
          <a:lstStyle/>
          <a:p>
            <a:pPr algn="l">
              <a:defRPr sz="1100" b="1">
                <a:solidFill>
                  <a:srgbClr val="19B5D8"/>
                </a:solidFill>
                <a:latin typeface="Aptos"/>
              </a:defRPr>
            </a:pPr>
            <a:r>
              <a:t>LIVE CLOUD EVIDENCE</a:t>
            </a:r>
          </a:p>
        </p:txBody>
      </p:sp>
      <p:sp>
        <p:nvSpPr>
          <p:cNvPr id="24" name="TextBox 23"/>
          <p:cNvSpPr txBox="1"/>
          <p:nvPr/>
        </p:nvSpPr>
        <p:spPr>
          <a:xfrm>
            <a:off x="6473952" y="4599432"/>
            <a:ext cx="4526280" cy="274320"/>
          </a:xfrm>
          <a:prstGeom prst="rect">
            <a:avLst/>
          </a:prstGeom>
          <a:noFill/>
        </p:spPr>
        <p:txBody>
          <a:bodyPr wrap="square" anchor="t">
            <a:spAutoFit/>
          </a:bodyPr>
          <a:lstStyle/>
          <a:p>
            <a:pPr algn="l">
              <a:defRPr sz="1700" b="1">
                <a:solidFill>
                  <a:srgbClr val="071D49"/>
                </a:solidFill>
                <a:latin typeface="Aptos"/>
              </a:defRPr>
            </a:pPr>
            <a:r>
              <a:t>ABSTAIN · 14 of 15 gates passed</a:t>
            </a:r>
          </a:p>
        </p:txBody>
      </p:sp>
      <p:sp>
        <p:nvSpPr>
          <p:cNvPr id="25" name="TextBox 24"/>
          <p:cNvSpPr txBox="1"/>
          <p:nvPr/>
        </p:nvSpPr>
        <p:spPr>
          <a:xfrm>
            <a:off x="685800" y="5650992"/>
            <a:ext cx="10698480" cy="228600"/>
          </a:xfrm>
          <a:prstGeom prst="rect">
            <a:avLst/>
          </a:prstGeom>
          <a:noFill/>
        </p:spPr>
        <p:txBody>
          <a:bodyPr wrap="square" anchor="t">
            <a:spAutoFit/>
          </a:bodyPr>
          <a:lstStyle/>
          <a:p>
            <a:pPr algn="ctr">
              <a:defRPr sz="1100" b="1">
                <a:solidFill>
                  <a:srgbClr val="53657D"/>
                </a:solidFill>
                <a:latin typeface="Aptos"/>
              </a:defRPr>
            </a:pPr>
            <a:r>
              <a:t>CS-20260831-66AAE940 · sealed receipt · zero broker mutations</a:t>
            </a:r>
          </a:p>
        </p:txBody>
      </p:sp>
      <p:sp>
        <p:nvSpPr>
          <p:cNvPr id="26" name="TextBox 25"/>
          <p:cNvSpPr txBox="1"/>
          <p:nvPr/>
        </p:nvSpPr>
        <p:spPr>
          <a:xfrm>
            <a:off x="594360" y="6473952"/>
            <a:ext cx="9875520" cy="182880"/>
          </a:xfrm>
          <a:prstGeom prst="rect">
            <a:avLst/>
          </a:prstGeom>
          <a:noFill/>
        </p:spPr>
        <p:txBody>
          <a:bodyPr wrap="square" anchor="t">
            <a:spAutoFit/>
          </a:bodyPr>
          <a:lstStyle/>
          <a:p>
            <a:pPr algn="l">
              <a:defRPr sz="800" b="1">
                <a:solidFill>
                  <a:srgbClr val="53657D"/>
                </a:solidFill>
                <a:latin typeface="Aptos"/>
              </a:defRPr>
            </a:pPr>
            <a:r>
              <a:t>CROSSSIGNAL · OMOBOLAJI E ADEYAN · ALPACA PAPER TRADING</a:t>
            </a:r>
          </a:p>
        </p:txBody>
      </p:sp>
      <p:sp>
        <p:nvSpPr>
          <p:cNvPr id="27" name="TextBox 26"/>
          <p:cNvSpPr txBox="1"/>
          <p:nvPr/>
        </p:nvSpPr>
        <p:spPr>
          <a:xfrm>
            <a:off x="11064240" y="6437376"/>
            <a:ext cx="457200" cy="228600"/>
          </a:xfrm>
          <a:prstGeom prst="rect">
            <a:avLst/>
          </a:prstGeom>
          <a:noFill/>
        </p:spPr>
        <p:txBody>
          <a:bodyPr wrap="square" anchor="t">
            <a:spAutoFit/>
          </a:bodyPr>
          <a:lstStyle/>
          <a:p>
            <a:pPr algn="r">
              <a:defRPr sz="900" b="1">
                <a:solidFill>
                  <a:srgbClr val="53657D"/>
                </a:solidFill>
                <a:latin typeface="Aptos"/>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457200" cy="228600"/>
          </a:xfrm>
          <a:prstGeom prst="rect">
            <a:avLst/>
          </a:prstGeom>
          <a:noFill/>
        </p:spPr>
        <p:txBody>
          <a:bodyPr wrap="square" anchor="t">
            <a:spAutoFit/>
          </a:bodyPr>
          <a:lstStyle/>
          <a:p>
            <a:pPr algn="l">
              <a:defRPr sz="1000" b="1">
                <a:solidFill>
                  <a:srgbClr val="19B5D8"/>
                </a:solidFill>
                <a:latin typeface="Aptos"/>
              </a:defRPr>
            </a:pPr>
            <a:r>
              <a:t>06</a:t>
            </a:r>
          </a:p>
        </p:txBody>
      </p:sp>
      <p:sp>
        <p:nvSpPr>
          <p:cNvPr id="3" name="TextBox 2"/>
          <p:cNvSpPr txBox="1"/>
          <p:nvPr/>
        </p:nvSpPr>
        <p:spPr>
          <a:xfrm>
            <a:off x="960120" y="310896"/>
            <a:ext cx="5029200" cy="274320"/>
          </a:xfrm>
          <a:prstGeom prst="rect">
            <a:avLst/>
          </a:prstGeom>
          <a:noFill/>
        </p:spPr>
        <p:txBody>
          <a:bodyPr wrap="square" anchor="t">
            <a:spAutoFit/>
          </a:bodyPr>
          <a:lstStyle/>
          <a:p>
            <a:pPr algn="l">
              <a:defRPr sz="1000" b="1">
                <a:solidFill>
                  <a:srgbClr val="53657D"/>
                </a:solidFill>
                <a:latin typeface="Aptos"/>
              </a:defRPr>
            </a:pPr>
            <a:r>
              <a:t>TRUST AND SAFETY</a:t>
            </a:r>
          </a:p>
        </p:txBody>
      </p:sp>
      <p:sp>
        <p:nvSpPr>
          <p:cNvPr id="4" name="Rectangle 3"/>
          <p:cNvSpPr/>
          <p:nvPr/>
        </p:nvSpPr>
        <p:spPr>
          <a:xfrm>
            <a:off x="502920" y="685800"/>
            <a:ext cx="11155680" cy="13716"/>
          </a:xfrm>
          <a:prstGeom prst="rect">
            <a:avLst/>
          </a:prstGeom>
          <a:solidFill>
            <a:srgbClr val="D5E0E9"/>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87552"/>
            <a:ext cx="10972800" cy="960120"/>
          </a:xfrm>
          <a:prstGeom prst="rect">
            <a:avLst/>
          </a:prstGeom>
          <a:noFill/>
        </p:spPr>
        <p:txBody>
          <a:bodyPr wrap="square" anchor="t">
            <a:spAutoFit/>
          </a:bodyPr>
          <a:lstStyle/>
          <a:p>
            <a:pPr algn="l">
              <a:defRPr sz="3400" b="1">
                <a:solidFill>
                  <a:srgbClr val="071D49"/>
                </a:solidFill>
                <a:latin typeface="Aptos Display"/>
              </a:defRPr>
            </a:pPr>
            <a:r>
              <a:t>Safe by architecture—not by prompt</a:t>
            </a:r>
          </a:p>
        </p:txBody>
      </p:sp>
      <p:sp>
        <p:nvSpPr>
          <p:cNvPr id="6" name="Rectangle 5"/>
          <p:cNvSpPr/>
          <p:nvPr/>
        </p:nvSpPr>
        <p:spPr>
          <a:xfrm>
            <a:off x="594360" y="2377440"/>
            <a:ext cx="3429000" cy="1024128"/>
          </a:xfrm>
          <a:prstGeom prst="rect">
            <a:avLst/>
          </a:prstGeom>
          <a:solidFill>
            <a:srgbClr val="F2F7FB"/>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377440"/>
            <a:ext cx="73152" cy="1024128"/>
          </a:xfrm>
          <a:prstGeom prst="rect">
            <a:avLst/>
          </a:prstGeom>
          <a:solidFill>
            <a:srgbClr val="1E8E53"/>
          </a:solidFill>
          <a:ln>
            <a:solidFill>
              <a:srgbClr val="1E8E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560320"/>
            <a:ext cx="1143000" cy="256032"/>
          </a:xfrm>
          <a:prstGeom prst="rect">
            <a:avLst/>
          </a:prstGeom>
          <a:noFill/>
        </p:spPr>
        <p:txBody>
          <a:bodyPr wrap="square" anchor="t">
            <a:spAutoFit/>
          </a:bodyPr>
          <a:lstStyle/>
          <a:p>
            <a:pPr algn="l">
              <a:defRPr sz="1100" b="1">
                <a:solidFill>
                  <a:srgbClr val="071D49"/>
                </a:solidFill>
                <a:latin typeface="Aptos"/>
              </a:defRPr>
            </a:pPr>
            <a:r>
              <a:t>Public UI</a:t>
            </a:r>
          </a:p>
        </p:txBody>
      </p:sp>
      <p:sp>
        <p:nvSpPr>
          <p:cNvPr id="9" name="TextBox 8"/>
          <p:cNvSpPr txBox="1"/>
          <p:nvPr/>
        </p:nvSpPr>
        <p:spPr>
          <a:xfrm>
            <a:off x="2103120" y="2560320"/>
            <a:ext cx="1600200" cy="457200"/>
          </a:xfrm>
          <a:prstGeom prst="rect">
            <a:avLst/>
          </a:prstGeom>
          <a:noFill/>
        </p:spPr>
        <p:txBody>
          <a:bodyPr wrap="square" anchor="t">
            <a:spAutoFit/>
          </a:bodyPr>
          <a:lstStyle/>
          <a:p>
            <a:pPr algn="l">
              <a:defRPr sz="1100" b="0">
                <a:solidFill>
                  <a:srgbClr val="53657D"/>
                </a:solidFill>
                <a:latin typeface="Aptos"/>
              </a:defRPr>
            </a:pPr>
            <a:r>
              <a:t>Read-only replay</a:t>
            </a:r>
          </a:p>
        </p:txBody>
      </p:sp>
      <p:sp>
        <p:nvSpPr>
          <p:cNvPr id="10" name="Rectangle 9"/>
          <p:cNvSpPr/>
          <p:nvPr/>
        </p:nvSpPr>
        <p:spPr>
          <a:xfrm>
            <a:off x="4361688" y="2377440"/>
            <a:ext cx="3429000" cy="1024128"/>
          </a:xfrm>
          <a:prstGeom prst="rect">
            <a:avLst/>
          </a:prstGeom>
          <a:solidFill>
            <a:srgbClr val="F2F7FB"/>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61688" y="2377440"/>
            <a:ext cx="73152" cy="1024128"/>
          </a:xfrm>
          <a:prstGeom prst="rect">
            <a:avLst/>
          </a:prstGeom>
          <a:solidFill>
            <a:srgbClr val="1E8E53"/>
          </a:solidFill>
          <a:ln>
            <a:solidFill>
              <a:srgbClr val="1E8E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36008" y="2560320"/>
            <a:ext cx="1143000" cy="256032"/>
          </a:xfrm>
          <a:prstGeom prst="rect">
            <a:avLst/>
          </a:prstGeom>
          <a:noFill/>
        </p:spPr>
        <p:txBody>
          <a:bodyPr wrap="square" anchor="t">
            <a:spAutoFit/>
          </a:bodyPr>
          <a:lstStyle/>
          <a:p>
            <a:pPr algn="l">
              <a:defRPr sz="1100" b="1">
                <a:solidFill>
                  <a:srgbClr val="071D49"/>
                </a:solidFill>
                <a:latin typeface="Aptos"/>
              </a:defRPr>
            </a:pPr>
            <a:r>
              <a:t>Cloud watch</a:t>
            </a:r>
          </a:p>
        </p:txBody>
      </p:sp>
      <p:sp>
        <p:nvSpPr>
          <p:cNvPr id="13" name="TextBox 12"/>
          <p:cNvSpPr txBox="1"/>
          <p:nvPr/>
        </p:nvSpPr>
        <p:spPr>
          <a:xfrm>
            <a:off x="5870448" y="2560320"/>
            <a:ext cx="1600200" cy="457200"/>
          </a:xfrm>
          <a:prstGeom prst="rect">
            <a:avLst/>
          </a:prstGeom>
          <a:noFill/>
        </p:spPr>
        <p:txBody>
          <a:bodyPr wrap="square" anchor="t">
            <a:spAutoFit/>
          </a:bodyPr>
          <a:lstStyle/>
          <a:p>
            <a:pPr algn="l">
              <a:defRPr sz="1100" b="0">
                <a:solidFill>
                  <a:srgbClr val="53657D"/>
                </a:solidFill>
                <a:latin typeface="Aptos"/>
              </a:defRPr>
            </a:pPr>
            <a:r>
              <a:t>Observe only</a:t>
            </a:r>
          </a:p>
        </p:txBody>
      </p:sp>
      <p:sp>
        <p:nvSpPr>
          <p:cNvPr id="14" name="Rectangle 13"/>
          <p:cNvSpPr/>
          <p:nvPr/>
        </p:nvSpPr>
        <p:spPr>
          <a:xfrm>
            <a:off x="8129016" y="2377440"/>
            <a:ext cx="3429000" cy="1024128"/>
          </a:xfrm>
          <a:prstGeom prst="rect">
            <a:avLst/>
          </a:prstGeom>
          <a:solidFill>
            <a:srgbClr val="F2F7FB"/>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29016" y="2377440"/>
            <a:ext cx="73152" cy="1024128"/>
          </a:xfrm>
          <a:prstGeom prst="rect">
            <a:avLst/>
          </a:prstGeom>
          <a:solidFill>
            <a:srgbClr val="1E8E53"/>
          </a:solidFill>
          <a:ln>
            <a:solidFill>
              <a:srgbClr val="1E8E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03336" y="2560320"/>
            <a:ext cx="1143000" cy="256032"/>
          </a:xfrm>
          <a:prstGeom prst="rect">
            <a:avLst/>
          </a:prstGeom>
          <a:noFill/>
        </p:spPr>
        <p:txBody>
          <a:bodyPr wrap="square" anchor="t">
            <a:spAutoFit/>
          </a:bodyPr>
          <a:lstStyle/>
          <a:p>
            <a:pPr algn="l">
              <a:defRPr sz="1100" b="1">
                <a:solidFill>
                  <a:srgbClr val="071D49"/>
                </a:solidFill>
                <a:latin typeface="Aptos"/>
              </a:defRPr>
            </a:pPr>
            <a:r>
              <a:t>LLM</a:t>
            </a:r>
          </a:p>
        </p:txBody>
      </p:sp>
      <p:sp>
        <p:nvSpPr>
          <p:cNvPr id="17" name="TextBox 16"/>
          <p:cNvSpPr txBox="1"/>
          <p:nvPr/>
        </p:nvSpPr>
        <p:spPr>
          <a:xfrm>
            <a:off x="9637776" y="2560320"/>
            <a:ext cx="1600200" cy="457200"/>
          </a:xfrm>
          <a:prstGeom prst="rect">
            <a:avLst/>
          </a:prstGeom>
          <a:noFill/>
        </p:spPr>
        <p:txBody>
          <a:bodyPr wrap="square" anchor="t">
            <a:spAutoFit/>
          </a:bodyPr>
          <a:lstStyle/>
          <a:p>
            <a:pPr algn="l">
              <a:defRPr sz="1100" b="0">
                <a:solidFill>
                  <a:srgbClr val="53657D"/>
                </a:solidFill>
                <a:latin typeface="Aptos"/>
              </a:defRPr>
            </a:pPr>
            <a:r>
              <a:t>No direct tool access</a:t>
            </a:r>
          </a:p>
        </p:txBody>
      </p:sp>
      <p:sp>
        <p:nvSpPr>
          <p:cNvPr id="18" name="Rectangle 17"/>
          <p:cNvSpPr/>
          <p:nvPr/>
        </p:nvSpPr>
        <p:spPr>
          <a:xfrm>
            <a:off x="594360" y="3703320"/>
            <a:ext cx="3429000" cy="1024128"/>
          </a:xfrm>
          <a:prstGeom prst="rect">
            <a:avLst/>
          </a:prstGeom>
          <a:solidFill>
            <a:srgbClr val="F2F7FB"/>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 y="3703320"/>
            <a:ext cx="73152" cy="1024128"/>
          </a:xfrm>
          <a:prstGeom prst="rect">
            <a:avLst/>
          </a:prstGeom>
          <a:solidFill>
            <a:srgbClr val="1E8E53"/>
          </a:solidFill>
          <a:ln>
            <a:solidFill>
              <a:srgbClr val="1E8E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886200"/>
            <a:ext cx="1143000" cy="256032"/>
          </a:xfrm>
          <a:prstGeom prst="rect">
            <a:avLst/>
          </a:prstGeom>
          <a:noFill/>
        </p:spPr>
        <p:txBody>
          <a:bodyPr wrap="square" anchor="t">
            <a:spAutoFit/>
          </a:bodyPr>
          <a:lstStyle/>
          <a:p>
            <a:pPr algn="l">
              <a:defRPr sz="1100" b="1">
                <a:solidFill>
                  <a:srgbClr val="071D49"/>
                </a:solidFill>
                <a:latin typeface="Aptos"/>
              </a:defRPr>
            </a:pPr>
            <a:r>
              <a:t>Evidence</a:t>
            </a:r>
          </a:p>
        </p:txBody>
      </p:sp>
      <p:sp>
        <p:nvSpPr>
          <p:cNvPr id="21" name="TextBox 20"/>
          <p:cNvSpPr txBox="1"/>
          <p:nvPr/>
        </p:nvSpPr>
        <p:spPr>
          <a:xfrm>
            <a:off x="2103120" y="3886200"/>
            <a:ext cx="1600200" cy="457200"/>
          </a:xfrm>
          <a:prstGeom prst="rect">
            <a:avLst/>
          </a:prstGeom>
          <a:noFill/>
        </p:spPr>
        <p:txBody>
          <a:bodyPr wrap="square" anchor="t">
            <a:spAutoFit/>
          </a:bodyPr>
          <a:lstStyle/>
          <a:p>
            <a:pPr algn="l">
              <a:defRPr sz="1100" b="0">
                <a:solidFill>
                  <a:srgbClr val="53657D"/>
                </a:solidFill>
                <a:latin typeface="Aptos"/>
              </a:defRPr>
            </a:pPr>
            <a:r>
              <a:t>Secret-free receipts</a:t>
            </a:r>
          </a:p>
        </p:txBody>
      </p:sp>
      <p:sp>
        <p:nvSpPr>
          <p:cNvPr id="22" name="Rectangle 21"/>
          <p:cNvSpPr/>
          <p:nvPr/>
        </p:nvSpPr>
        <p:spPr>
          <a:xfrm>
            <a:off x="4361688" y="3703320"/>
            <a:ext cx="3429000" cy="1024128"/>
          </a:xfrm>
          <a:prstGeom prst="rect">
            <a:avLst/>
          </a:prstGeom>
          <a:solidFill>
            <a:srgbClr val="F2F7FB"/>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61688" y="3703320"/>
            <a:ext cx="73152" cy="1024128"/>
          </a:xfrm>
          <a:prstGeom prst="rect">
            <a:avLst/>
          </a:prstGeom>
          <a:solidFill>
            <a:srgbClr val="C67E00"/>
          </a:solidFill>
          <a:ln>
            <a:solidFill>
              <a:srgbClr val="C67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36008" y="3886200"/>
            <a:ext cx="1143000" cy="256032"/>
          </a:xfrm>
          <a:prstGeom prst="rect">
            <a:avLst/>
          </a:prstGeom>
          <a:noFill/>
        </p:spPr>
        <p:txBody>
          <a:bodyPr wrap="square" anchor="t">
            <a:spAutoFit/>
          </a:bodyPr>
          <a:lstStyle/>
          <a:p>
            <a:pPr algn="l">
              <a:defRPr sz="1100" b="1">
                <a:solidFill>
                  <a:srgbClr val="071D49"/>
                </a:solidFill>
                <a:latin typeface="Aptos"/>
              </a:defRPr>
            </a:pPr>
            <a:r>
              <a:t>Recovery</a:t>
            </a:r>
          </a:p>
        </p:txBody>
      </p:sp>
      <p:sp>
        <p:nvSpPr>
          <p:cNvPr id="25" name="TextBox 24"/>
          <p:cNvSpPr txBox="1"/>
          <p:nvPr/>
        </p:nvSpPr>
        <p:spPr>
          <a:xfrm>
            <a:off x="5870448" y="3886200"/>
            <a:ext cx="1600200" cy="457200"/>
          </a:xfrm>
          <a:prstGeom prst="rect">
            <a:avLst/>
          </a:prstGeom>
          <a:noFill/>
        </p:spPr>
        <p:txBody>
          <a:bodyPr wrap="square" anchor="t">
            <a:spAutoFit/>
          </a:bodyPr>
          <a:lstStyle/>
          <a:p>
            <a:pPr algn="l">
              <a:defRPr sz="1100" b="0">
                <a:solidFill>
                  <a:srgbClr val="53657D"/>
                </a:solidFill>
                <a:latin typeface="Aptos"/>
              </a:defRPr>
            </a:pPr>
            <a:r>
              <a:t>Explicit approval</a:t>
            </a:r>
          </a:p>
        </p:txBody>
      </p:sp>
      <p:sp>
        <p:nvSpPr>
          <p:cNvPr id="26" name="Rectangle 25"/>
          <p:cNvSpPr/>
          <p:nvPr/>
        </p:nvSpPr>
        <p:spPr>
          <a:xfrm>
            <a:off x="8129016" y="3703320"/>
            <a:ext cx="3429000" cy="1024128"/>
          </a:xfrm>
          <a:prstGeom prst="rect">
            <a:avLst/>
          </a:prstGeom>
          <a:solidFill>
            <a:srgbClr val="F2F7FB"/>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29016" y="3703320"/>
            <a:ext cx="73152" cy="1024128"/>
          </a:xfrm>
          <a:prstGeom prst="rect">
            <a:avLst/>
          </a:prstGeom>
          <a:solidFill>
            <a:srgbClr val="C67E00"/>
          </a:solidFill>
          <a:ln>
            <a:solidFill>
              <a:srgbClr val="C67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03336" y="3886200"/>
            <a:ext cx="1143000" cy="256032"/>
          </a:xfrm>
          <a:prstGeom prst="rect">
            <a:avLst/>
          </a:prstGeom>
          <a:noFill/>
        </p:spPr>
        <p:txBody>
          <a:bodyPr wrap="square" anchor="t">
            <a:spAutoFit/>
          </a:bodyPr>
          <a:lstStyle/>
          <a:p>
            <a:pPr algn="l">
              <a:defRPr sz="1100" b="1">
                <a:solidFill>
                  <a:srgbClr val="071D49"/>
                </a:solidFill>
                <a:latin typeface="Aptos"/>
              </a:defRPr>
            </a:pPr>
            <a:r>
              <a:t>News</a:t>
            </a:r>
          </a:p>
        </p:txBody>
      </p:sp>
      <p:sp>
        <p:nvSpPr>
          <p:cNvPr id="29" name="TextBox 28"/>
          <p:cNvSpPr txBox="1"/>
          <p:nvPr/>
        </p:nvSpPr>
        <p:spPr>
          <a:xfrm>
            <a:off x="9637776" y="3886200"/>
            <a:ext cx="1600200" cy="457200"/>
          </a:xfrm>
          <a:prstGeom prst="rect">
            <a:avLst/>
          </a:prstGeom>
          <a:noFill/>
        </p:spPr>
        <p:txBody>
          <a:bodyPr wrap="square" anchor="t">
            <a:spAutoFit/>
          </a:bodyPr>
          <a:lstStyle/>
          <a:p>
            <a:pPr algn="l">
              <a:defRPr sz="1100" b="0">
                <a:solidFill>
                  <a:srgbClr val="53657D"/>
                </a:solidFill>
                <a:latin typeface="Aptos"/>
              </a:defRPr>
            </a:pPr>
            <a:r>
              <a:t>Untrusted context</a:t>
            </a:r>
          </a:p>
        </p:txBody>
      </p:sp>
      <p:sp>
        <p:nvSpPr>
          <p:cNvPr id="30" name="Rectangle 29"/>
          <p:cNvSpPr/>
          <p:nvPr/>
        </p:nvSpPr>
        <p:spPr>
          <a:xfrm>
            <a:off x="594360" y="5184648"/>
            <a:ext cx="10972800" cy="530352"/>
          </a:xfrm>
          <a:prstGeom prst="rect">
            <a:avLst/>
          </a:prstGeom>
          <a:solidFill>
            <a:srgbClr val="003B70"/>
          </a:solidFill>
          <a:ln>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349240"/>
            <a:ext cx="10515600" cy="228600"/>
          </a:xfrm>
          <a:prstGeom prst="rect">
            <a:avLst/>
          </a:prstGeom>
          <a:noFill/>
        </p:spPr>
        <p:txBody>
          <a:bodyPr wrap="square" anchor="t">
            <a:spAutoFit/>
          </a:bodyPr>
          <a:lstStyle/>
          <a:p>
            <a:pPr algn="ctr">
              <a:defRPr sz="1300" b="1">
                <a:solidFill>
                  <a:srgbClr val="FFFFFF"/>
                </a:solidFill>
                <a:latin typeface="Aptos"/>
              </a:defRPr>
            </a:pPr>
            <a:r>
              <a:t>NIST AI RMF and SSDF aligned · voluntary and tailorable · not NIST-certified</a:t>
            </a:r>
          </a:p>
        </p:txBody>
      </p:sp>
      <p:sp>
        <p:nvSpPr>
          <p:cNvPr id="32" name="TextBox 31"/>
          <p:cNvSpPr txBox="1"/>
          <p:nvPr/>
        </p:nvSpPr>
        <p:spPr>
          <a:xfrm>
            <a:off x="594360" y="6473952"/>
            <a:ext cx="9875520" cy="182880"/>
          </a:xfrm>
          <a:prstGeom prst="rect">
            <a:avLst/>
          </a:prstGeom>
          <a:noFill/>
        </p:spPr>
        <p:txBody>
          <a:bodyPr wrap="square" anchor="t">
            <a:spAutoFit/>
          </a:bodyPr>
          <a:lstStyle/>
          <a:p>
            <a:pPr algn="l">
              <a:defRPr sz="800" b="1">
                <a:solidFill>
                  <a:srgbClr val="53657D"/>
                </a:solidFill>
                <a:latin typeface="Aptos"/>
              </a:defRPr>
            </a:pPr>
            <a:r>
              <a:t>CROSSSIGNAL · OMOBOLAJI E ADEYAN · ALPACA PAPER TRADING</a:t>
            </a:r>
          </a:p>
        </p:txBody>
      </p:sp>
      <p:sp>
        <p:nvSpPr>
          <p:cNvPr id="33" name="TextBox 32"/>
          <p:cNvSpPr txBox="1"/>
          <p:nvPr/>
        </p:nvSpPr>
        <p:spPr>
          <a:xfrm>
            <a:off x="11064240" y="6437376"/>
            <a:ext cx="457200" cy="228600"/>
          </a:xfrm>
          <a:prstGeom prst="rect">
            <a:avLst/>
          </a:prstGeom>
          <a:noFill/>
        </p:spPr>
        <p:txBody>
          <a:bodyPr wrap="square" anchor="t">
            <a:spAutoFit/>
          </a:bodyPr>
          <a:lstStyle/>
          <a:p>
            <a:pPr algn="r">
              <a:defRPr sz="900" b="1">
                <a:solidFill>
                  <a:srgbClr val="53657D"/>
                </a:solidFill>
                <a:latin typeface="Aptos"/>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457200" cy="228600"/>
          </a:xfrm>
          <a:prstGeom prst="rect">
            <a:avLst/>
          </a:prstGeom>
          <a:noFill/>
        </p:spPr>
        <p:txBody>
          <a:bodyPr wrap="square" anchor="t">
            <a:spAutoFit/>
          </a:bodyPr>
          <a:lstStyle/>
          <a:p>
            <a:pPr algn="l">
              <a:defRPr sz="1000" b="1">
                <a:solidFill>
                  <a:srgbClr val="19B5D8"/>
                </a:solidFill>
                <a:latin typeface="Aptos"/>
              </a:defRPr>
            </a:pPr>
            <a:r>
              <a:t>07</a:t>
            </a:r>
          </a:p>
        </p:txBody>
      </p:sp>
      <p:sp>
        <p:nvSpPr>
          <p:cNvPr id="3" name="TextBox 2"/>
          <p:cNvSpPr txBox="1"/>
          <p:nvPr/>
        </p:nvSpPr>
        <p:spPr>
          <a:xfrm>
            <a:off x="960120" y="310896"/>
            <a:ext cx="5029200" cy="274320"/>
          </a:xfrm>
          <a:prstGeom prst="rect">
            <a:avLst/>
          </a:prstGeom>
          <a:noFill/>
        </p:spPr>
        <p:txBody>
          <a:bodyPr wrap="square" anchor="t">
            <a:spAutoFit/>
          </a:bodyPr>
          <a:lstStyle/>
          <a:p>
            <a:pPr algn="l">
              <a:defRPr sz="1000" b="1">
                <a:solidFill>
                  <a:srgbClr val="53657D"/>
                </a:solidFill>
                <a:latin typeface="Aptos"/>
              </a:defRPr>
            </a:pPr>
            <a:r>
              <a:t>BUSINESS VALUE</a:t>
            </a:r>
          </a:p>
        </p:txBody>
      </p:sp>
      <p:sp>
        <p:nvSpPr>
          <p:cNvPr id="4" name="Rectangle 3"/>
          <p:cNvSpPr/>
          <p:nvPr/>
        </p:nvSpPr>
        <p:spPr>
          <a:xfrm>
            <a:off x="502920" y="685800"/>
            <a:ext cx="11155680" cy="13716"/>
          </a:xfrm>
          <a:prstGeom prst="rect">
            <a:avLst/>
          </a:prstGeom>
          <a:solidFill>
            <a:srgbClr val="D5E0E9"/>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87552"/>
            <a:ext cx="10972800" cy="960120"/>
          </a:xfrm>
          <a:prstGeom prst="rect">
            <a:avLst/>
          </a:prstGeom>
          <a:noFill/>
        </p:spPr>
        <p:txBody>
          <a:bodyPr wrap="square" anchor="t">
            <a:spAutoFit/>
          </a:bodyPr>
          <a:lstStyle/>
          <a:p>
            <a:pPr algn="l">
              <a:defRPr sz="3400" b="1">
                <a:solidFill>
                  <a:srgbClr val="071D49"/>
                </a:solidFill>
                <a:latin typeface="Aptos Display"/>
              </a:defRPr>
            </a:pPr>
            <a:r>
              <a:t>The accountability layer for AI-assisted trading</a:t>
            </a:r>
          </a:p>
        </p:txBody>
      </p:sp>
      <p:sp>
        <p:nvSpPr>
          <p:cNvPr id="6" name="TextBox 5"/>
          <p:cNvSpPr txBox="1"/>
          <p:nvPr/>
        </p:nvSpPr>
        <p:spPr>
          <a:xfrm>
            <a:off x="640080" y="2286000"/>
            <a:ext cx="3200400" cy="274320"/>
          </a:xfrm>
          <a:prstGeom prst="rect">
            <a:avLst/>
          </a:prstGeom>
          <a:noFill/>
        </p:spPr>
        <p:txBody>
          <a:bodyPr wrap="square" anchor="t">
            <a:spAutoFit/>
          </a:bodyPr>
          <a:lstStyle/>
          <a:p>
            <a:pPr algn="l">
              <a:defRPr sz="1100" b="1">
                <a:solidFill>
                  <a:srgbClr val="19B5D8"/>
                </a:solidFill>
                <a:latin typeface="Aptos"/>
              </a:defRPr>
            </a:pPr>
            <a:r>
              <a:t>WHO NEEDS IT</a:t>
            </a:r>
          </a:p>
        </p:txBody>
      </p:sp>
      <p:sp>
        <p:nvSpPr>
          <p:cNvPr id="7" name="TextBox 6"/>
          <p:cNvSpPr txBox="1"/>
          <p:nvPr/>
        </p:nvSpPr>
        <p:spPr>
          <a:xfrm>
            <a:off x="640080" y="2743200"/>
            <a:ext cx="4206240" cy="2011680"/>
          </a:xfrm>
          <a:prstGeom prst="rect">
            <a:avLst/>
          </a:prstGeom>
          <a:noFill/>
        </p:spPr>
        <p:txBody>
          <a:bodyPr wrap="square">
            <a:spAutoFit/>
          </a:bodyPr>
          <a:lstStyle/>
          <a:p>
            <a:pPr>
              <a:spcAft>
                <a:spcPts val="1400"/>
              </a:spcAft>
              <a:defRPr sz="1800">
                <a:solidFill>
                  <a:srgbClr val="071D49"/>
                </a:solidFill>
                <a:latin typeface="Aptos"/>
              </a:defRPr>
            </a:pPr>
            <a:r>
              <a:t>•  Active options traders</a:t>
            </a:r>
          </a:p>
          <a:p>
            <a:pPr>
              <a:spcAft>
                <a:spcPts val="1400"/>
              </a:spcAft>
              <a:defRPr sz="1800">
                <a:solidFill>
                  <a:srgbClr val="071D49"/>
                </a:solidFill>
                <a:latin typeface="Aptos"/>
              </a:defRPr>
            </a:pPr>
            <a:r>
              <a:t>•  Small investment teams</a:t>
            </a:r>
          </a:p>
          <a:p>
            <a:pPr>
              <a:spcAft>
                <a:spcPts val="1400"/>
              </a:spcAft>
              <a:defRPr sz="1800">
                <a:solidFill>
                  <a:srgbClr val="071D49"/>
                </a:solidFill>
                <a:latin typeface="Aptos"/>
              </a:defRPr>
            </a:pPr>
            <a:r>
              <a:t>•  Broker and platform providers</a:t>
            </a:r>
          </a:p>
          <a:p>
            <a:pPr>
              <a:spcAft>
                <a:spcPts val="1400"/>
              </a:spcAft>
              <a:defRPr sz="1800">
                <a:solidFill>
                  <a:srgbClr val="071D49"/>
                </a:solidFill>
                <a:latin typeface="Aptos"/>
              </a:defRPr>
            </a:pPr>
            <a:r>
              <a:t>•  Risk and compliance teams</a:t>
            </a:r>
          </a:p>
        </p:txBody>
      </p:sp>
      <p:sp>
        <p:nvSpPr>
          <p:cNvPr id="8" name="Rectangle 7"/>
          <p:cNvSpPr/>
          <p:nvPr/>
        </p:nvSpPr>
        <p:spPr>
          <a:xfrm>
            <a:off x="4892040" y="2240280"/>
            <a:ext cx="18288" cy="3108960"/>
          </a:xfrm>
          <a:prstGeom prst="rect">
            <a:avLst/>
          </a:prstGeom>
          <a:solidFill>
            <a:srgbClr val="D5E0E9"/>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0" y="2286000"/>
            <a:ext cx="3200400" cy="274320"/>
          </a:xfrm>
          <a:prstGeom prst="rect">
            <a:avLst/>
          </a:prstGeom>
          <a:noFill/>
        </p:spPr>
        <p:txBody>
          <a:bodyPr wrap="square" anchor="t">
            <a:spAutoFit/>
          </a:bodyPr>
          <a:lstStyle/>
          <a:p>
            <a:pPr algn="l">
              <a:defRPr sz="1100" b="1">
                <a:solidFill>
                  <a:srgbClr val="19B5D8"/>
                </a:solidFill>
                <a:latin typeface="Aptos"/>
              </a:defRPr>
            </a:pPr>
            <a:r>
              <a:t>HOW IT GROWS</a:t>
            </a:r>
          </a:p>
        </p:txBody>
      </p:sp>
      <p:sp>
        <p:nvSpPr>
          <p:cNvPr id="10" name="TextBox 9"/>
          <p:cNvSpPr txBox="1"/>
          <p:nvPr/>
        </p:nvSpPr>
        <p:spPr>
          <a:xfrm>
            <a:off x="5303520" y="2743200"/>
            <a:ext cx="594360" cy="274320"/>
          </a:xfrm>
          <a:prstGeom prst="rect">
            <a:avLst/>
          </a:prstGeom>
          <a:noFill/>
        </p:spPr>
        <p:txBody>
          <a:bodyPr wrap="square" anchor="t">
            <a:spAutoFit/>
          </a:bodyPr>
          <a:lstStyle/>
          <a:p>
            <a:pPr algn="l">
              <a:defRPr sz="1100" b="1">
                <a:solidFill>
                  <a:srgbClr val="19B5D8"/>
                </a:solidFill>
                <a:latin typeface="Aptos"/>
              </a:defRPr>
            </a:pPr>
            <a:r>
              <a:t>01</a:t>
            </a:r>
          </a:p>
        </p:txBody>
      </p:sp>
      <p:sp>
        <p:nvSpPr>
          <p:cNvPr id="11" name="TextBox 10"/>
          <p:cNvSpPr txBox="1"/>
          <p:nvPr/>
        </p:nvSpPr>
        <p:spPr>
          <a:xfrm>
            <a:off x="5989320" y="2715768"/>
            <a:ext cx="3977639" cy="320040"/>
          </a:xfrm>
          <a:prstGeom prst="rect">
            <a:avLst/>
          </a:prstGeom>
          <a:noFill/>
        </p:spPr>
        <p:txBody>
          <a:bodyPr wrap="square" anchor="t">
            <a:spAutoFit/>
          </a:bodyPr>
          <a:lstStyle/>
          <a:p>
            <a:pPr algn="l">
              <a:defRPr sz="1700" b="1">
                <a:solidFill>
                  <a:srgbClr val="071D49"/>
                </a:solidFill>
                <a:latin typeface="Aptos"/>
              </a:defRPr>
            </a:pPr>
            <a:r>
              <a:t>Professional SaaS</a:t>
            </a:r>
          </a:p>
        </p:txBody>
      </p:sp>
      <p:sp>
        <p:nvSpPr>
          <p:cNvPr id="12" name="TextBox 11"/>
          <p:cNvSpPr txBox="1"/>
          <p:nvPr/>
        </p:nvSpPr>
        <p:spPr>
          <a:xfrm>
            <a:off x="5303520" y="3355848"/>
            <a:ext cx="594360" cy="274320"/>
          </a:xfrm>
          <a:prstGeom prst="rect">
            <a:avLst/>
          </a:prstGeom>
          <a:noFill/>
        </p:spPr>
        <p:txBody>
          <a:bodyPr wrap="square" anchor="t">
            <a:spAutoFit/>
          </a:bodyPr>
          <a:lstStyle/>
          <a:p>
            <a:pPr algn="l">
              <a:defRPr sz="1100" b="1">
                <a:solidFill>
                  <a:srgbClr val="19B5D8"/>
                </a:solidFill>
                <a:latin typeface="Aptos"/>
              </a:defRPr>
            </a:pPr>
            <a:r>
              <a:t>02</a:t>
            </a:r>
          </a:p>
        </p:txBody>
      </p:sp>
      <p:sp>
        <p:nvSpPr>
          <p:cNvPr id="13" name="TextBox 12"/>
          <p:cNvSpPr txBox="1"/>
          <p:nvPr/>
        </p:nvSpPr>
        <p:spPr>
          <a:xfrm>
            <a:off x="5989320" y="3328416"/>
            <a:ext cx="3977639" cy="320040"/>
          </a:xfrm>
          <a:prstGeom prst="rect">
            <a:avLst/>
          </a:prstGeom>
          <a:noFill/>
        </p:spPr>
        <p:txBody>
          <a:bodyPr wrap="square" anchor="t">
            <a:spAutoFit/>
          </a:bodyPr>
          <a:lstStyle/>
          <a:p>
            <a:pPr algn="l">
              <a:defRPr sz="1700" b="1">
                <a:solidFill>
                  <a:srgbClr val="071D49"/>
                </a:solidFill>
                <a:latin typeface="Aptos"/>
              </a:defRPr>
            </a:pPr>
            <a:r>
              <a:t>Team governance</a:t>
            </a:r>
          </a:p>
        </p:txBody>
      </p:sp>
      <p:sp>
        <p:nvSpPr>
          <p:cNvPr id="14" name="TextBox 13"/>
          <p:cNvSpPr txBox="1"/>
          <p:nvPr/>
        </p:nvSpPr>
        <p:spPr>
          <a:xfrm>
            <a:off x="5303520" y="3968496"/>
            <a:ext cx="594360" cy="274320"/>
          </a:xfrm>
          <a:prstGeom prst="rect">
            <a:avLst/>
          </a:prstGeom>
          <a:noFill/>
        </p:spPr>
        <p:txBody>
          <a:bodyPr wrap="square" anchor="t">
            <a:spAutoFit/>
          </a:bodyPr>
          <a:lstStyle/>
          <a:p>
            <a:pPr algn="l">
              <a:defRPr sz="1100" b="1">
                <a:solidFill>
                  <a:srgbClr val="19B5D8"/>
                </a:solidFill>
                <a:latin typeface="Aptos"/>
              </a:defRPr>
            </a:pPr>
            <a:r>
              <a:t>03</a:t>
            </a:r>
          </a:p>
        </p:txBody>
      </p:sp>
      <p:sp>
        <p:nvSpPr>
          <p:cNvPr id="15" name="TextBox 14"/>
          <p:cNvSpPr txBox="1"/>
          <p:nvPr/>
        </p:nvSpPr>
        <p:spPr>
          <a:xfrm>
            <a:off x="5989320" y="3941063"/>
            <a:ext cx="3977639" cy="320040"/>
          </a:xfrm>
          <a:prstGeom prst="rect">
            <a:avLst/>
          </a:prstGeom>
          <a:noFill/>
        </p:spPr>
        <p:txBody>
          <a:bodyPr wrap="square" anchor="t">
            <a:spAutoFit/>
          </a:bodyPr>
          <a:lstStyle/>
          <a:p>
            <a:pPr algn="l">
              <a:defRPr sz="1700" b="1">
                <a:solidFill>
                  <a:srgbClr val="071D49"/>
                </a:solidFill>
                <a:latin typeface="Aptos"/>
              </a:defRPr>
            </a:pPr>
            <a:r>
              <a:t>Broker partnerships</a:t>
            </a:r>
          </a:p>
        </p:txBody>
      </p:sp>
      <p:sp>
        <p:nvSpPr>
          <p:cNvPr id="16" name="TextBox 15"/>
          <p:cNvSpPr txBox="1"/>
          <p:nvPr/>
        </p:nvSpPr>
        <p:spPr>
          <a:xfrm>
            <a:off x="5303520" y="4581144"/>
            <a:ext cx="594360" cy="274320"/>
          </a:xfrm>
          <a:prstGeom prst="rect">
            <a:avLst/>
          </a:prstGeom>
          <a:noFill/>
        </p:spPr>
        <p:txBody>
          <a:bodyPr wrap="square" anchor="t">
            <a:spAutoFit/>
          </a:bodyPr>
          <a:lstStyle/>
          <a:p>
            <a:pPr algn="l">
              <a:defRPr sz="1100" b="1">
                <a:solidFill>
                  <a:srgbClr val="19B5D8"/>
                </a:solidFill>
                <a:latin typeface="Aptos"/>
              </a:defRPr>
            </a:pPr>
            <a:r>
              <a:t>04</a:t>
            </a:r>
          </a:p>
        </p:txBody>
      </p:sp>
      <p:sp>
        <p:nvSpPr>
          <p:cNvPr id="17" name="TextBox 16"/>
          <p:cNvSpPr txBox="1"/>
          <p:nvPr/>
        </p:nvSpPr>
        <p:spPr>
          <a:xfrm>
            <a:off x="5989320" y="4553712"/>
            <a:ext cx="3977639" cy="320040"/>
          </a:xfrm>
          <a:prstGeom prst="rect">
            <a:avLst/>
          </a:prstGeom>
          <a:noFill/>
        </p:spPr>
        <p:txBody>
          <a:bodyPr wrap="square" anchor="t">
            <a:spAutoFit/>
          </a:bodyPr>
          <a:lstStyle/>
          <a:p>
            <a:pPr algn="l">
              <a:defRPr sz="1700" b="1">
                <a:solidFill>
                  <a:srgbClr val="071D49"/>
                </a:solidFill>
                <a:latin typeface="Aptos"/>
              </a:defRPr>
            </a:pPr>
            <a:r>
              <a:t>Enterprise policy APIs</a:t>
            </a:r>
          </a:p>
        </p:txBody>
      </p:sp>
      <p:sp>
        <p:nvSpPr>
          <p:cNvPr id="18" name="Rectangle 17"/>
          <p:cNvSpPr/>
          <p:nvPr/>
        </p:nvSpPr>
        <p:spPr>
          <a:xfrm>
            <a:off x="9646920" y="2240280"/>
            <a:ext cx="1874519" cy="3108960"/>
          </a:xfrm>
          <a:prstGeom prst="rect">
            <a:avLst/>
          </a:prstGeom>
          <a:solidFill>
            <a:srgbClr val="071D49"/>
          </a:solidFill>
          <a:ln>
            <a:solidFill>
              <a:srgbClr val="071D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0" y="2560320"/>
            <a:ext cx="1234440" cy="274320"/>
          </a:xfrm>
          <a:prstGeom prst="rect">
            <a:avLst/>
          </a:prstGeom>
          <a:noFill/>
        </p:spPr>
        <p:txBody>
          <a:bodyPr wrap="square" anchor="t">
            <a:spAutoFit/>
          </a:bodyPr>
          <a:lstStyle/>
          <a:p>
            <a:pPr algn="ctr">
              <a:defRPr sz="1000" b="1">
                <a:solidFill>
                  <a:srgbClr val="72D4E8"/>
                </a:solidFill>
                <a:latin typeface="Aptos"/>
              </a:defRPr>
            </a:pPr>
            <a:r>
              <a:t>VALUE</a:t>
            </a:r>
          </a:p>
        </p:txBody>
      </p:sp>
      <p:sp>
        <p:nvSpPr>
          <p:cNvPr id="20" name="TextBox 19"/>
          <p:cNvSpPr txBox="1"/>
          <p:nvPr/>
        </p:nvSpPr>
        <p:spPr>
          <a:xfrm>
            <a:off x="9802368" y="3154680"/>
            <a:ext cx="1554480" cy="1600200"/>
          </a:xfrm>
          <a:prstGeom prst="rect">
            <a:avLst/>
          </a:prstGeom>
          <a:noFill/>
        </p:spPr>
        <p:txBody>
          <a:bodyPr wrap="square" anchor="t">
            <a:spAutoFit/>
          </a:bodyPr>
          <a:lstStyle/>
          <a:p>
            <a:pPr algn="ctr">
              <a:defRPr sz="1800" b="1">
                <a:solidFill>
                  <a:srgbClr val="FFFFFF"/>
                </a:solidFill>
                <a:latin typeface="Aptos"/>
              </a:defRPr>
            </a:pPr>
            <a:r>
              <a:t>Faster</a:t>
            </a:r>
            <a:br/>
            <a:r>
              <a:t>review.</a:t>
            </a:r>
            <a:br/>
            <a:r>
              <a:t>Stronger</a:t>
            </a:r>
            <a:br/>
            <a:r>
              <a:t>trust.</a:t>
            </a:r>
          </a:p>
        </p:txBody>
      </p:sp>
      <p:sp>
        <p:nvSpPr>
          <p:cNvPr id="21" name="TextBox 20"/>
          <p:cNvSpPr txBox="1"/>
          <p:nvPr/>
        </p:nvSpPr>
        <p:spPr>
          <a:xfrm>
            <a:off x="594360" y="6473952"/>
            <a:ext cx="9875520" cy="182880"/>
          </a:xfrm>
          <a:prstGeom prst="rect">
            <a:avLst/>
          </a:prstGeom>
          <a:noFill/>
        </p:spPr>
        <p:txBody>
          <a:bodyPr wrap="square" anchor="t">
            <a:spAutoFit/>
          </a:bodyPr>
          <a:lstStyle/>
          <a:p>
            <a:pPr algn="l">
              <a:defRPr sz="800" b="1">
                <a:solidFill>
                  <a:srgbClr val="53657D"/>
                </a:solidFill>
                <a:latin typeface="Aptos"/>
              </a:defRPr>
            </a:pPr>
            <a:r>
              <a:t>CROSSSIGNAL · OMOBOLAJI E ADEYAN · ALPACA PAPER TRADING</a:t>
            </a:r>
          </a:p>
        </p:txBody>
      </p:sp>
      <p:sp>
        <p:nvSpPr>
          <p:cNvPr id="22" name="TextBox 21"/>
          <p:cNvSpPr txBox="1"/>
          <p:nvPr/>
        </p:nvSpPr>
        <p:spPr>
          <a:xfrm>
            <a:off x="11064240" y="6437376"/>
            <a:ext cx="457200" cy="228600"/>
          </a:xfrm>
          <a:prstGeom prst="rect">
            <a:avLst/>
          </a:prstGeom>
          <a:noFill/>
        </p:spPr>
        <p:txBody>
          <a:bodyPr wrap="square" anchor="t">
            <a:spAutoFit/>
          </a:bodyPr>
          <a:lstStyle/>
          <a:p>
            <a:pPr algn="r">
              <a:defRPr sz="900" b="1">
                <a:solidFill>
                  <a:srgbClr val="53657D"/>
                </a:solidFill>
                <a:latin typeface="Aptos"/>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D49"/>
          </a:solidFill>
          <a:ln>
            <a:solidFill>
              <a:srgbClr val="071D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40080"/>
            <a:ext cx="3657600" cy="274320"/>
          </a:xfrm>
          <a:prstGeom prst="rect">
            <a:avLst/>
          </a:prstGeom>
          <a:noFill/>
        </p:spPr>
        <p:txBody>
          <a:bodyPr wrap="square" anchor="t">
            <a:spAutoFit/>
          </a:bodyPr>
          <a:lstStyle/>
          <a:p>
            <a:pPr algn="l">
              <a:defRPr sz="1100" b="1">
                <a:solidFill>
                  <a:srgbClr val="72D4E8"/>
                </a:solidFill>
                <a:latin typeface="Aptos"/>
              </a:defRPr>
            </a:pPr>
            <a:r>
              <a:t>THE PROOF IS PUBLIC</a:t>
            </a:r>
          </a:p>
        </p:txBody>
      </p:sp>
      <p:sp>
        <p:nvSpPr>
          <p:cNvPr id="4" name="TextBox 3"/>
          <p:cNvSpPr txBox="1"/>
          <p:nvPr/>
        </p:nvSpPr>
        <p:spPr>
          <a:xfrm>
            <a:off x="658368" y="1234440"/>
            <a:ext cx="8046720" cy="1417320"/>
          </a:xfrm>
          <a:prstGeom prst="rect">
            <a:avLst/>
          </a:prstGeom>
          <a:noFill/>
        </p:spPr>
        <p:txBody>
          <a:bodyPr wrap="square" anchor="t">
            <a:spAutoFit/>
          </a:bodyPr>
          <a:lstStyle/>
          <a:p>
            <a:pPr algn="l">
              <a:defRPr sz="3600" b="1">
                <a:solidFill>
                  <a:srgbClr val="FFFFFF"/>
                </a:solidFill>
                <a:latin typeface="Aptos Display"/>
              </a:defRPr>
            </a:pPr>
            <a:r>
              <a:t>Inspect the intelligence.</a:t>
            </a:r>
            <a:br/>
            <a:r>
              <a:t>Challenge the decision.</a:t>
            </a:r>
          </a:p>
        </p:txBody>
      </p:sp>
      <p:sp>
        <p:nvSpPr>
          <p:cNvPr id="5" name="TextBox 4"/>
          <p:cNvSpPr txBox="1"/>
          <p:nvPr/>
        </p:nvSpPr>
        <p:spPr>
          <a:xfrm>
            <a:off x="685800" y="3063240"/>
            <a:ext cx="2011680" cy="502920"/>
          </a:xfrm>
          <a:prstGeom prst="rect">
            <a:avLst/>
          </a:prstGeom>
          <a:noFill/>
        </p:spPr>
        <p:txBody>
          <a:bodyPr wrap="square" anchor="t">
            <a:spAutoFit/>
          </a:bodyPr>
          <a:lstStyle/>
          <a:p>
            <a:pPr algn="l">
              <a:defRPr sz="2700" b="1">
                <a:solidFill>
                  <a:srgbClr val="72D4E8"/>
                </a:solidFill>
                <a:latin typeface="Aptos"/>
              </a:defRPr>
            </a:pPr>
            <a:r>
              <a:t>35</a:t>
            </a:r>
          </a:p>
        </p:txBody>
      </p:sp>
      <p:sp>
        <p:nvSpPr>
          <p:cNvPr id="6" name="TextBox 5"/>
          <p:cNvSpPr txBox="1"/>
          <p:nvPr/>
        </p:nvSpPr>
        <p:spPr>
          <a:xfrm>
            <a:off x="685800" y="3611880"/>
            <a:ext cx="2011680" cy="274320"/>
          </a:xfrm>
          <a:prstGeom prst="rect">
            <a:avLst/>
          </a:prstGeom>
          <a:noFill/>
        </p:spPr>
        <p:txBody>
          <a:bodyPr wrap="square" anchor="t">
            <a:spAutoFit/>
          </a:bodyPr>
          <a:lstStyle/>
          <a:p>
            <a:pPr algn="l">
              <a:defRPr sz="1200" b="0">
                <a:solidFill>
                  <a:srgbClr val="FFFFFF"/>
                </a:solidFill>
                <a:latin typeface="Aptos"/>
              </a:defRPr>
            </a:pPr>
            <a:r>
              <a:t>automated tests</a:t>
            </a:r>
          </a:p>
        </p:txBody>
      </p:sp>
      <p:sp>
        <p:nvSpPr>
          <p:cNvPr id="7" name="TextBox 6"/>
          <p:cNvSpPr txBox="1"/>
          <p:nvPr/>
        </p:nvSpPr>
        <p:spPr>
          <a:xfrm>
            <a:off x="3017520" y="3063240"/>
            <a:ext cx="2011680" cy="502920"/>
          </a:xfrm>
          <a:prstGeom prst="rect">
            <a:avLst/>
          </a:prstGeom>
          <a:noFill/>
        </p:spPr>
        <p:txBody>
          <a:bodyPr wrap="square" anchor="t">
            <a:spAutoFit/>
          </a:bodyPr>
          <a:lstStyle/>
          <a:p>
            <a:pPr algn="l">
              <a:defRPr sz="2700" b="1">
                <a:solidFill>
                  <a:srgbClr val="72D4E8"/>
                </a:solidFill>
                <a:latin typeface="Aptos"/>
              </a:defRPr>
            </a:pPr>
            <a:r>
              <a:t>85/100</a:t>
            </a:r>
          </a:p>
        </p:txBody>
      </p:sp>
      <p:sp>
        <p:nvSpPr>
          <p:cNvPr id="8" name="TextBox 7"/>
          <p:cNvSpPr txBox="1"/>
          <p:nvPr/>
        </p:nvSpPr>
        <p:spPr>
          <a:xfrm>
            <a:off x="3017520" y="3611880"/>
            <a:ext cx="2011680" cy="274320"/>
          </a:xfrm>
          <a:prstGeom prst="rect">
            <a:avLst/>
          </a:prstGeom>
          <a:noFill/>
        </p:spPr>
        <p:txBody>
          <a:bodyPr wrap="square" anchor="t">
            <a:spAutoFit/>
          </a:bodyPr>
          <a:lstStyle/>
          <a:p>
            <a:pPr algn="l">
              <a:defRPr sz="1200" b="0">
                <a:solidFill>
                  <a:srgbClr val="FFFFFF"/>
                </a:solidFill>
                <a:latin typeface="Aptos"/>
              </a:defRPr>
            </a:pPr>
            <a:r>
              <a:t>live signal quality</a:t>
            </a:r>
          </a:p>
        </p:txBody>
      </p:sp>
      <p:sp>
        <p:nvSpPr>
          <p:cNvPr id="9" name="TextBox 8"/>
          <p:cNvSpPr txBox="1"/>
          <p:nvPr/>
        </p:nvSpPr>
        <p:spPr>
          <a:xfrm>
            <a:off x="5349240" y="3063240"/>
            <a:ext cx="2011680" cy="502920"/>
          </a:xfrm>
          <a:prstGeom prst="rect">
            <a:avLst/>
          </a:prstGeom>
          <a:noFill/>
        </p:spPr>
        <p:txBody>
          <a:bodyPr wrap="square" anchor="t">
            <a:spAutoFit/>
          </a:bodyPr>
          <a:lstStyle/>
          <a:p>
            <a:pPr algn="l">
              <a:defRPr sz="2700" b="1">
                <a:solidFill>
                  <a:srgbClr val="72D4E8"/>
                </a:solidFill>
                <a:latin typeface="Aptos"/>
              </a:defRPr>
            </a:pPr>
            <a:r>
              <a:t>14/15</a:t>
            </a:r>
          </a:p>
        </p:txBody>
      </p:sp>
      <p:sp>
        <p:nvSpPr>
          <p:cNvPr id="10" name="TextBox 9"/>
          <p:cNvSpPr txBox="1"/>
          <p:nvPr/>
        </p:nvSpPr>
        <p:spPr>
          <a:xfrm>
            <a:off x="5349240" y="3611880"/>
            <a:ext cx="2011680" cy="274320"/>
          </a:xfrm>
          <a:prstGeom prst="rect">
            <a:avLst/>
          </a:prstGeom>
          <a:noFill/>
        </p:spPr>
        <p:txBody>
          <a:bodyPr wrap="square" anchor="t">
            <a:spAutoFit/>
          </a:bodyPr>
          <a:lstStyle/>
          <a:p>
            <a:pPr algn="l">
              <a:defRPr sz="1200" b="0">
                <a:solidFill>
                  <a:srgbClr val="FFFFFF"/>
                </a:solidFill>
                <a:latin typeface="Aptos"/>
              </a:defRPr>
            </a:pPr>
            <a:r>
              <a:t>risk gates passed</a:t>
            </a:r>
          </a:p>
        </p:txBody>
      </p:sp>
      <p:sp>
        <p:nvSpPr>
          <p:cNvPr id="11" name="Rectangle 10"/>
          <p:cNvSpPr/>
          <p:nvPr/>
        </p:nvSpPr>
        <p:spPr>
          <a:xfrm>
            <a:off x="8092440" y="1097280"/>
            <a:ext cx="3429000" cy="42062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1481328"/>
            <a:ext cx="2788920" cy="274320"/>
          </a:xfrm>
          <a:prstGeom prst="rect">
            <a:avLst/>
          </a:prstGeom>
          <a:noFill/>
        </p:spPr>
        <p:txBody>
          <a:bodyPr wrap="square" anchor="t">
            <a:spAutoFit/>
          </a:bodyPr>
          <a:lstStyle/>
          <a:p>
            <a:pPr algn="ctr">
              <a:defRPr sz="1100" b="1">
                <a:solidFill>
                  <a:srgbClr val="003B70"/>
                </a:solidFill>
                <a:latin typeface="Aptos"/>
              </a:defRPr>
            </a:pPr>
            <a:r>
              <a:t>LIVE JUDGE DEMO</a:t>
            </a:r>
          </a:p>
        </p:txBody>
      </p:sp>
      <p:sp>
        <p:nvSpPr>
          <p:cNvPr id="13" name="TextBox 12"/>
          <p:cNvSpPr txBox="1"/>
          <p:nvPr/>
        </p:nvSpPr>
        <p:spPr>
          <a:xfrm>
            <a:off x="8412480" y="2057400"/>
            <a:ext cx="2788920" cy="777240"/>
          </a:xfrm>
          <a:prstGeom prst="rect">
            <a:avLst/>
          </a:prstGeom>
          <a:noFill/>
        </p:spPr>
        <p:txBody>
          <a:bodyPr wrap="square" anchor="t">
            <a:spAutoFit/>
          </a:bodyPr>
          <a:lstStyle/>
          <a:p>
            <a:pPr algn="ctr">
              <a:defRPr sz="1800" b="1">
                <a:solidFill>
                  <a:srgbClr val="071D49"/>
                </a:solidFill>
                <a:latin typeface="Aptos"/>
              </a:defRPr>
            </a:pPr>
            <a:r>
              <a:t>crosssignal-ai-agent</a:t>
            </a:r>
            <a:br/>
            <a:r>
              <a:t>.streamlit.app</a:t>
            </a:r>
          </a:p>
        </p:txBody>
      </p:sp>
      <p:sp>
        <p:nvSpPr>
          <p:cNvPr id="14" name="Rectangle 13"/>
          <p:cNvSpPr/>
          <p:nvPr/>
        </p:nvSpPr>
        <p:spPr>
          <a:xfrm>
            <a:off x="8412480" y="2971800"/>
            <a:ext cx="2788920" cy="27432"/>
          </a:xfrm>
          <a:prstGeom prst="rect">
            <a:avLst/>
          </a:prstGeom>
          <a:solidFill>
            <a:srgbClr val="19B5D8"/>
          </a:solidFill>
          <a:ln>
            <a:solidFill>
              <a:srgbClr val="19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3401568"/>
            <a:ext cx="2788920" cy="274320"/>
          </a:xfrm>
          <a:prstGeom prst="rect">
            <a:avLst/>
          </a:prstGeom>
          <a:noFill/>
        </p:spPr>
        <p:txBody>
          <a:bodyPr wrap="square" anchor="t">
            <a:spAutoFit/>
          </a:bodyPr>
          <a:lstStyle/>
          <a:p>
            <a:pPr algn="ctr">
              <a:defRPr sz="1100" b="1">
                <a:solidFill>
                  <a:srgbClr val="003B70"/>
                </a:solidFill>
                <a:latin typeface="Aptos"/>
              </a:defRPr>
            </a:pPr>
            <a:r>
              <a:t>SOURCE CODE</a:t>
            </a:r>
          </a:p>
        </p:txBody>
      </p:sp>
      <p:sp>
        <p:nvSpPr>
          <p:cNvPr id="16" name="TextBox 15"/>
          <p:cNvSpPr txBox="1"/>
          <p:nvPr/>
        </p:nvSpPr>
        <p:spPr>
          <a:xfrm>
            <a:off x="8275320" y="3913632"/>
            <a:ext cx="3063240" cy="777240"/>
          </a:xfrm>
          <a:prstGeom prst="rect">
            <a:avLst/>
          </a:prstGeom>
          <a:noFill/>
        </p:spPr>
        <p:txBody>
          <a:bodyPr wrap="square" anchor="t">
            <a:spAutoFit/>
          </a:bodyPr>
          <a:lstStyle/>
          <a:p>
            <a:pPr algn="ctr">
              <a:defRPr sz="1300" b="1">
                <a:solidFill>
                  <a:srgbClr val="071D49"/>
                </a:solidFill>
                <a:latin typeface="Aptos"/>
              </a:defRPr>
            </a:pPr>
            <a:r>
              <a:t>github.com/omobolajiadeyan/</a:t>
            </a:r>
            <a:br/>
            <a:r>
              <a:t>alpaca-cross-market-agent</a:t>
            </a:r>
          </a:p>
        </p:txBody>
      </p:sp>
      <p:sp>
        <p:nvSpPr>
          <p:cNvPr id="17" name="TextBox 16"/>
          <p:cNvSpPr txBox="1"/>
          <p:nvPr/>
        </p:nvSpPr>
        <p:spPr>
          <a:xfrm>
            <a:off x="685800" y="4892040"/>
            <a:ext cx="6812280" cy="777240"/>
          </a:xfrm>
          <a:prstGeom prst="rect">
            <a:avLst/>
          </a:prstGeom>
          <a:noFill/>
        </p:spPr>
        <p:txBody>
          <a:bodyPr wrap="square" anchor="t">
            <a:spAutoFit/>
          </a:bodyPr>
          <a:lstStyle/>
          <a:p>
            <a:pPr algn="l">
              <a:defRPr sz="1700" b="1">
                <a:solidFill>
                  <a:srgbClr val="FFFFFF"/>
                </a:solidFill>
                <a:latin typeface="Aptos"/>
              </a:defRPr>
            </a:pPr>
            <a:r>
              <a:t>CrossSignal does not merely recommend a trade.</a:t>
            </a:r>
            <a:br/>
            <a:r>
              <a:t>It proves whether the trade deserves authorization.</a:t>
            </a:r>
          </a:p>
        </p:txBody>
      </p:sp>
      <p:sp>
        <p:nvSpPr>
          <p:cNvPr id="18" name="TextBox 17"/>
          <p:cNvSpPr txBox="1"/>
          <p:nvPr/>
        </p:nvSpPr>
        <p:spPr>
          <a:xfrm>
            <a:off x="685800" y="6172200"/>
            <a:ext cx="7315200" cy="274320"/>
          </a:xfrm>
          <a:prstGeom prst="rect">
            <a:avLst/>
          </a:prstGeom>
          <a:noFill/>
        </p:spPr>
        <p:txBody>
          <a:bodyPr wrap="square" anchor="t">
            <a:spAutoFit/>
          </a:bodyPr>
          <a:lstStyle/>
          <a:p>
            <a:pPr algn="l">
              <a:defRPr sz="1100" b="0">
                <a:solidFill>
                  <a:srgbClr val="72D4E8"/>
                </a:solidFill>
                <a:latin typeface="Aptos"/>
              </a:defRPr>
            </a:pPr>
            <a:r>
              <a:t>Omobolaji E Adeyan · Paper trading only · Not investment advice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