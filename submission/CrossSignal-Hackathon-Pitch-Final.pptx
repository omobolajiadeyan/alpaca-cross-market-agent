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Markets often disagree before they reprice. CrossSignal identifies that disagreement, challenges the conclusion, applies deterministic controls, and records whether the prediction was ultimately correct.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Markets transmit information at different speeds. CrossSignal addresses fragmentation, weak AI accountability, and the absence of honest forward scoring.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Every decision passes a proof chain. Crucially, abstention is treated as a correct policy outcome when evidence fails a gate.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official Alpaca MCP server powers sponsor-native market evidence and the paper execution lifecycle. Claude reasons, but deterministic code controls broker access.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defensibility comes from precommitment. A judge can inspect what the agent knew, how it was challenged, what was authorized, and what happened later.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CrossSignal follows NIST-aligned risk-management reasoning without claiming certification. Public infrastructure has no broker mutation capability.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wedge is decision accountability for serious individual and small-team options users, with a path toward broker and enterprise governance integrations.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Close on the differentiator: CrossSignal makes AI trading decisions inspectable, challengeable, reproducible, and measurable. Invite judges to open the live application and repository.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1D49"/>
          </a:solidFill>
          <a:ln>
            <a:solidFill>
              <a:srgbClr val="071D4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0080" y="640080"/>
            <a:ext cx="54864" cy="384048"/>
          </a:xfrm>
          <a:prstGeom prst="rect">
            <a:avLst/>
          </a:prstGeom>
          <a:solidFill>
            <a:srgbClr val="19B5D8"/>
          </a:solidFill>
          <a:ln>
            <a:solidFill>
              <a:srgbClr val="19B5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667512"/>
            <a:ext cx="65836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100" b="1">
                <a:solidFill>
                  <a:srgbClr val="72D4E8"/>
                </a:solidFill>
                <a:latin typeface="Aptos"/>
              </a:defRPr>
            </a:pPr>
            <a:r>
              <a:t>DECISION INTELLIGENCE FOR CROSS-MARKET TRADING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417320"/>
            <a:ext cx="8046720" cy="2057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4200" b="1">
                <a:solidFill>
                  <a:srgbClr val="FFFFFF"/>
                </a:solidFill>
                <a:latin typeface="Aptos Display"/>
              </a:defRPr>
            </a:pPr>
            <a:r>
              <a:t>Markets disagree.</a:t>
            </a:r>
            <a:br/>
            <a:r>
              <a:t>We trade the gap.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3822191"/>
            <a:ext cx="7498079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2000" b="0">
                <a:solidFill>
                  <a:srgbClr val="72D4E8"/>
                </a:solidFill>
                <a:latin typeface="Aptos"/>
              </a:defRPr>
            </a:pPr>
            <a:r>
              <a:t>An auditable AI trading agent that challenges, governs and scores every decision.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869680" y="-548640"/>
            <a:ext cx="4114800" cy="4114800"/>
          </a:xfrm>
          <a:prstGeom prst="roundRect">
            <a:avLst/>
          </a:prstGeom>
          <a:solidFill>
            <a:srgbClr val="19B5D8"/>
          </a:solidFill>
          <a:ln>
            <a:solidFill>
              <a:srgbClr val="19B5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9528048" y="109728"/>
            <a:ext cx="2834640" cy="2834640"/>
          </a:xfrm>
          <a:prstGeom prst="roundRect">
            <a:avLst/>
          </a:prstGeom>
          <a:solidFill>
            <a:srgbClr val="071D49"/>
          </a:solidFill>
          <a:ln>
            <a:solidFill>
              <a:srgbClr val="071D4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5715000"/>
            <a:ext cx="3657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Aptos"/>
              </a:defRPr>
            </a:pPr>
            <a:r>
              <a:t>CROSSSIGNAL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6126480"/>
            <a:ext cx="45720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200" b="0">
                <a:solidFill>
                  <a:srgbClr val="72D4E8"/>
                </a:solidFill>
                <a:latin typeface="Aptos"/>
              </a:defRPr>
            </a:pPr>
            <a:r>
              <a:t>Created by Omobolaji E Adeyan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9184"/>
            <a:ext cx="4572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000" b="1">
                <a:solidFill>
                  <a:srgbClr val="19B5D8"/>
                </a:solidFill>
                <a:latin typeface="Aptos"/>
              </a:defRPr>
            </a:pPr>
            <a:r>
              <a:t>02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60120" y="310896"/>
            <a:ext cx="5029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000" b="1">
                <a:solidFill>
                  <a:srgbClr val="53657D"/>
                </a:solidFill>
                <a:latin typeface="Aptos"/>
              </a:defRPr>
            </a:pPr>
            <a:r>
              <a:t>THE PROBLEM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685800"/>
            <a:ext cx="11155680" cy="13716"/>
          </a:xfrm>
          <a:prstGeom prst="rect">
            <a:avLst/>
          </a:prstGeom>
          <a:solidFill>
            <a:srgbClr val="D5E0E9"/>
          </a:solidFill>
          <a:ln>
            <a:solidFill>
              <a:srgbClr val="D5E0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94360" y="987552"/>
            <a:ext cx="10972800" cy="960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3400" b="1">
                <a:solidFill>
                  <a:srgbClr val="071D49"/>
                </a:solidFill>
                <a:latin typeface="Aptos Display"/>
              </a:defRPr>
            </a:pPr>
            <a:r>
              <a:t>Trading agents generate signals.</a:t>
            </a:r>
            <a:br/>
            <a:r>
              <a:t>Few can defend a decision.</a:t>
            </a:r>
          </a:p>
        </p:txBody>
      </p:sp>
      <p:sp>
        <p:nvSpPr>
          <p:cNvPr id="6" name="Rectangle 5"/>
          <p:cNvSpPr/>
          <p:nvPr/>
        </p:nvSpPr>
        <p:spPr>
          <a:xfrm>
            <a:off x="594360" y="2971800"/>
            <a:ext cx="3474720" cy="2331720"/>
          </a:xfrm>
          <a:prstGeom prst="rect">
            <a:avLst/>
          </a:prstGeom>
          <a:solidFill>
            <a:srgbClr val="F2F7FB"/>
          </a:solidFill>
          <a:ln>
            <a:solidFill>
              <a:srgbClr val="D5E0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3246120"/>
            <a:ext cx="457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200" b="1">
                <a:solidFill>
                  <a:srgbClr val="19B5D8"/>
                </a:solidFill>
                <a:latin typeface="Aptos"/>
              </a:defRPr>
            </a:pPr>
            <a: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3657600"/>
            <a:ext cx="29260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2100" b="1">
                <a:solidFill>
                  <a:srgbClr val="071D49"/>
                </a:solidFill>
                <a:latin typeface="Aptos"/>
              </a:defRPr>
            </a:pPr>
            <a:r>
              <a:t>Fragmented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4160520"/>
            <a:ext cx="292608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400" b="0">
                <a:solidFill>
                  <a:srgbClr val="53657D"/>
                </a:solidFill>
                <a:latin typeface="Aptos"/>
              </a:defRPr>
            </a:pPr>
            <a:r>
              <a:t>Single-market analysis misses information moving between rates, credit and equities.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89120" y="2971800"/>
            <a:ext cx="3474720" cy="2331720"/>
          </a:xfrm>
          <a:prstGeom prst="rect">
            <a:avLst/>
          </a:prstGeom>
          <a:solidFill>
            <a:srgbClr val="F2F7FB"/>
          </a:solidFill>
          <a:ln>
            <a:solidFill>
              <a:srgbClr val="D5E0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617720" y="3246120"/>
            <a:ext cx="457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200" b="1">
                <a:solidFill>
                  <a:srgbClr val="19B5D8"/>
                </a:solidFill>
                <a:latin typeface="Aptos"/>
              </a:defRPr>
            </a:pPr>
            <a:r>
              <a:t>02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17720" y="3657600"/>
            <a:ext cx="29260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2100" b="1">
                <a:solidFill>
                  <a:srgbClr val="071D49"/>
                </a:solidFill>
                <a:latin typeface="Aptos"/>
              </a:defRPr>
            </a:pPr>
            <a:r>
              <a:t>Unaccountable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617720" y="4160520"/>
            <a:ext cx="292608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400" b="0">
                <a:solidFill>
                  <a:srgbClr val="53657D"/>
                </a:solidFill>
                <a:latin typeface="Aptos"/>
              </a:defRPr>
            </a:pPr>
            <a:r>
              <a:t>LLM conclusions are difficult to reproduce, challenge or audit after the outcome.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183880" y="2971800"/>
            <a:ext cx="3474720" cy="2331720"/>
          </a:xfrm>
          <a:prstGeom prst="rect">
            <a:avLst/>
          </a:prstGeom>
          <a:solidFill>
            <a:srgbClr val="F2F7FB"/>
          </a:solidFill>
          <a:ln>
            <a:solidFill>
              <a:srgbClr val="D5E0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412480" y="3246120"/>
            <a:ext cx="457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200" b="1">
                <a:solidFill>
                  <a:srgbClr val="19B5D8"/>
                </a:solidFill>
                <a:latin typeface="Aptos"/>
              </a:defRPr>
            </a:pPr>
            <a:r>
              <a:t>03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412480" y="3657600"/>
            <a:ext cx="29260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2100" b="1">
                <a:solidFill>
                  <a:srgbClr val="071D49"/>
                </a:solidFill>
                <a:latin typeface="Aptos"/>
              </a:defRPr>
            </a:pPr>
            <a:r>
              <a:t>Unmeasured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12480" y="4160520"/>
            <a:ext cx="292608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400" b="0">
                <a:solidFill>
                  <a:srgbClr val="53657D"/>
                </a:solidFill>
                <a:latin typeface="Aptos"/>
              </a:defRPr>
            </a:pPr>
            <a:r>
              <a:t>Most agents do not precommit a forecast and later score whether it was right.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94360" y="6473952"/>
            <a:ext cx="9875520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800" b="1">
                <a:solidFill>
                  <a:srgbClr val="53657D"/>
                </a:solidFill>
                <a:latin typeface="Aptos"/>
              </a:defRPr>
            </a:pPr>
            <a:r>
              <a:t>CROSSSIGNAL · OMOBOLAJI E ADEYAN · ALPACA PAPER TRADING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064240" y="6437376"/>
            <a:ext cx="4572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defRPr sz="900" b="1">
                <a:solidFill>
                  <a:srgbClr val="53657D"/>
                </a:solidFill>
                <a:latin typeface="Aptos"/>
              </a:defRPr>
            </a:pPr>
            <a: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9184"/>
            <a:ext cx="4572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000" b="1">
                <a:solidFill>
                  <a:srgbClr val="19B5D8"/>
                </a:solidFill>
                <a:latin typeface="Aptos"/>
              </a:defRPr>
            </a:pPr>
            <a:r>
              <a:t>03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60120" y="310896"/>
            <a:ext cx="5029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000" b="1">
                <a:solidFill>
                  <a:srgbClr val="53657D"/>
                </a:solidFill>
                <a:latin typeface="Aptos"/>
              </a:defRPr>
            </a:pPr>
            <a:r>
              <a:t>THE SOLUTION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685800"/>
            <a:ext cx="11155680" cy="13716"/>
          </a:xfrm>
          <a:prstGeom prst="rect">
            <a:avLst/>
          </a:prstGeom>
          <a:solidFill>
            <a:srgbClr val="D5E0E9"/>
          </a:solidFill>
          <a:ln>
            <a:solidFill>
              <a:srgbClr val="D5E0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94360" y="987552"/>
            <a:ext cx="10972800" cy="960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3400" b="1">
                <a:solidFill>
                  <a:srgbClr val="071D49"/>
                </a:solidFill>
                <a:latin typeface="Aptos Display"/>
              </a:defRPr>
            </a:pPr>
            <a:r>
              <a:t>A scientific proof chain for every trade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1792" y="1847088"/>
            <a:ext cx="106984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500" b="0">
                <a:solidFill>
                  <a:srgbClr val="53657D"/>
                </a:solidFill>
                <a:latin typeface="Aptos"/>
              </a:defRPr>
            </a:pPr>
            <a:r>
              <a:t>The SIGNAL protocol turns a thesis into a governed, falsifiable decision.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2788920"/>
            <a:ext cx="1572768" cy="1371600"/>
          </a:xfrm>
          <a:prstGeom prst="rect">
            <a:avLst/>
          </a:prstGeom>
          <a:solidFill>
            <a:srgbClr val="F2F7FB"/>
          </a:solidFill>
          <a:ln>
            <a:solidFill>
              <a:srgbClr val="D5E0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67512" y="2971800"/>
            <a:ext cx="2743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100" b="1">
                <a:solidFill>
                  <a:srgbClr val="19B5D8"/>
                </a:solidFill>
                <a:latin typeface="Aptos"/>
              </a:defRPr>
            </a:pPr>
            <a: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67512" y="3355848"/>
            <a:ext cx="12344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600" b="1">
                <a:solidFill>
                  <a:srgbClr val="071D49"/>
                </a:solidFill>
                <a:latin typeface="Aptos"/>
              </a:defRPr>
            </a:pPr>
            <a:r>
              <a:t>Source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67512" y="3703320"/>
            <a:ext cx="123444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000" b="0">
                <a:solidFill>
                  <a:srgbClr val="53657D"/>
                </a:solidFill>
                <a:latin typeface="Aptos"/>
              </a:defRPr>
            </a:pPr>
            <a:r>
              <a:t>Provenance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12264" y="3246120"/>
            <a:ext cx="2743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600" b="1">
                <a:solidFill>
                  <a:srgbClr val="19B5D8"/>
                </a:solidFill>
                <a:latin typeface="Aptos"/>
              </a:defRPr>
            </a:pPr>
            <a:r>
              <a:t>→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423160" y="2788920"/>
            <a:ext cx="1572768" cy="1371600"/>
          </a:xfrm>
          <a:prstGeom prst="rect">
            <a:avLst/>
          </a:prstGeom>
          <a:solidFill>
            <a:srgbClr val="F2F7FB"/>
          </a:solidFill>
          <a:ln>
            <a:solidFill>
              <a:srgbClr val="D5E0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587752" y="2971800"/>
            <a:ext cx="2743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100" b="1">
                <a:solidFill>
                  <a:srgbClr val="19B5D8"/>
                </a:solidFill>
                <a:latin typeface="Aptos"/>
              </a:defRPr>
            </a:pPr>
            <a: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587752" y="3355848"/>
            <a:ext cx="12344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600" b="1">
                <a:solidFill>
                  <a:srgbClr val="071D49"/>
                </a:solidFill>
                <a:latin typeface="Aptos"/>
              </a:defRPr>
            </a:pPr>
            <a:r>
              <a:t>Compare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587752" y="3703320"/>
            <a:ext cx="123444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000" b="0">
                <a:solidFill>
                  <a:srgbClr val="53657D"/>
                </a:solidFill>
                <a:latin typeface="Aptos"/>
              </a:defRPr>
            </a:pPr>
            <a:r>
              <a:t>Disagreement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032504" y="3246120"/>
            <a:ext cx="2743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600" b="1">
                <a:solidFill>
                  <a:srgbClr val="19B5D8"/>
                </a:solidFill>
                <a:latin typeface="Aptos"/>
              </a:defRPr>
            </a:pPr>
            <a:r>
              <a:t>→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343400" y="2788920"/>
            <a:ext cx="1572768" cy="1371600"/>
          </a:xfrm>
          <a:prstGeom prst="rect">
            <a:avLst/>
          </a:prstGeom>
          <a:solidFill>
            <a:srgbClr val="071D49"/>
          </a:solidFill>
          <a:ln>
            <a:solidFill>
              <a:srgbClr val="071D4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07992" y="2971800"/>
            <a:ext cx="2743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100" b="1">
                <a:solidFill>
                  <a:srgbClr val="19B5D8"/>
                </a:solidFill>
                <a:latin typeface="Aptos"/>
              </a:defRPr>
            </a:pPr>
            <a: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07992" y="3355848"/>
            <a:ext cx="12344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600" b="1">
                <a:solidFill>
                  <a:srgbClr val="FFFFFF"/>
                </a:solidFill>
                <a:latin typeface="Aptos"/>
              </a:defRPr>
            </a:pPr>
            <a:r>
              <a:t>Challenge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07992" y="3703320"/>
            <a:ext cx="123444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000" b="0">
                <a:solidFill>
                  <a:srgbClr val="72D4E8"/>
                </a:solidFill>
                <a:latin typeface="Aptos"/>
              </a:defRPr>
            </a:pPr>
            <a:r>
              <a:t>Falsification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952744" y="3246120"/>
            <a:ext cx="2743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600" b="1">
                <a:solidFill>
                  <a:srgbClr val="19B5D8"/>
                </a:solidFill>
                <a:latin typeface="Aptos"/>
              </a:defRPr>
            </a:pPr>
            <a:r>
              <a:t>→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63640" y="2788920"/>
            <a:ext cx="1572768" cy="1371600"/>
          </a:xfrm>
          <a:prstGeom prst="rect">
            <a:avLst/>
          </a:prstGeom>
          <a:solidFill>
            <a:srgbClr val="F2F7FB"/>
          </a:solidFill>
          <a:ln>
            <a:solidFill>
              <a:srgbClr val="D5E0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28232" y="2971800"/>
            <a:ext cx="2743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100" b="1">
                <a:solidFill>
                  <a:srgbClr val="19B5D8"/>
                </a:solidFill>
                <a:latin typeface="Aptos"/>
              </a:defRPr>
            </a:pPr>
            <a:r>
              <a:t>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28232" y="3355848"/>
            <a:ext cx="12344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600" b="1">
                <a:solidFill>
                  <a:srgbClr val="071D49"/>
                </a:solidFill>
                <a:latin typeface="Aptos"/>
              </a:defRPr>
            </a:pPr>
            <a:r>
              <a:t>Stress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28232" y="3703320"/>
            <a:ext cx="123444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000" b="0">
                <a:solidFill>
                  <a:srgbClr val="53657D"/>
                </a:solidFill>
                <a:latin typeface="Aptos"/>
              </a:defRPr>
            </a:pPr>
            <a:r>
              <a:t>Greeks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872984" y="3246120"/>
            <a:ext cx="2743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600" b="1">
                <a:solidFill>
                  <a:srgbClr val="19B5D8"/>
                </a:solidFill>
                <a:latin typeface="Aptos"/>
              </a:defRPr>
            </a:pPr>
            <a:r>
              <a:t>→</a:t>
            </a:r>
          </a:p>
        </p:txBody>
      </p:sp>
      <p:sp>
        <p:nvSpPr>
          <p:cNvPr id="27" name="Rectangle 26"/>
          <p:cNvSpPr/>
          <p:nvPr/>
        </p:nvSpPr>
        <p:spPr>
          <a:xfrm>
            <a:off x="8183880" y="2788920"/>
            <a:ext cx="1572768" cy="1371600"/>
          </a:xfrm>
          <a:prstGeom prst="rect">
            <a:avLst/>
          </a:prstGeom>
          <a:solidFill>
            <a:srgbClr val="071D49"/>
          </a:solidFill>
          <a:ln>
            <a:solidFill>
              <a:srgbClr val="071D4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348472" y="2971800"/>
            <a:ext cx="2743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100" b="1">
                <a:solidFill>
                  <a:srgbClr val="19B5D8"/>
                </a:solidFill>
                <a:latin typeface="Aptos"/>
              </a:defRPr>
            </a:pPr>
            <a:r>
              <a:t>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348472" y="3355848"/>
            <a:ext cx="12344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600" b="1">
                <a:solidFill>
                  <a:srgbClr val="FFFFFF"/>
                </a:solidFill>
                <a:latin typeface="Aptos"/>
              </a:defRPr>
            </a:pPr>
            <a:r>
              <a:t>Seal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348472" y="3703320"/>
            <a:ext cx="123444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000" b="0">
                <a:solidFill>
                  <a:srgbClr val="72D4E8"/>
                </a:solidFill>
                <a:latin typeface="Aptos"/>
              </a:defRPr>
            </a:pPr>
            <a:r>
              <a:t>SHA-256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793224" y="3246120"/>
            <a:ext cx="2743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600" b="1">
                <a:solidFill>
                  <a:srgbClr val="19B5D8"/>
                </a:solidFill>
                <a:latin typeface="Aptos"/>
              </a:defRPr>
            </a:pPr>
            <a:r>
              <a:t>→</a:t>
            </a:r>
          </a:p>
        </p:txBody>
      </p:sp>
      <p:sp>
        <p:nvSpPr>
          <p:cNvPr id="32" name="Rectangle 31"/>
          <p:cNvSpPr/>
          <p:nvPr/>
        </p:nvSpPr>
        <p:spPr>
          <a:xfrm>
            <a:off x="10104120" y="2788920"/>
            <a:ext cx="1572768" cy="1371600"/>
          </a:xfrm>
          <a:prstGeom prst="rect">
            <a:avLst/>
          </a:prstGeom>
          <a:solidFill>
            <a:srgbClr val="F2F7FB"/>
          </a:solidFill>
          <a:ln>
            <a:solidFill>
              <a:srgbClr val="D5E0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0268712" y="2971800"/>
            <a:ext cx="2743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100" b="1">
                <a:solidFill>
                  <a:srgbClr val="19B5D8"/>
                </a:solidFill>
                <a:latin typeface="Aptos"/>
              </a:defRPr>
            </a:pPr>
            <a:r>
              <a:t>6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268712" y="3355848"/>
            <a:ext cx="12344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600" b="1">
                <a:solidFill>
                  <a:srgbClr val="071D49"/>
                </a:solidFill>
                <a:latin typeface="Aptos"/>
              </a:defRPr>
            </a:pPr>
            <a:r>
              <a:t>Score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268712" y="3703320"/>
            <a:ext cx="123444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000" b="0">
                <a:solidFill>
                  <a:srgbClr val="53657D"/>
                </a:solidFill>
                <a:latin typeface="Aptos"/>
              </a:defRPr>
            </a:pPr>
            <a:r>
              <a:t>Outcome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94360" y="4800600"/>
            <a:ext cx="10972800" cy="658368"/>
          </a:xfrm>
          <a:prstGeom prst="rect">
            <a:avLst/>
          </a:prstGeom>
          <a:solidFill>
            <a:srgbClr val="003B70"/>
          </a:solidFill>
          <a:ln>
            <a:solidFill>
              <a:srgbClr val="003B7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68680" y="5001768"/>
            <a:ext cx="104241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  <a:latin typeface="Aptos"/>
              </a:defRPr>
            </a:pPr>
            <a:r>
              <a:t>ABSTAIN is a successful outcome when evidence or execution quality is insufficient.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94360" y="6473952"/>
            <a:ext cx="9875520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800" b="1">
                <a:solidFill>
                  <a:srgbClr val="53657D"/>
                </a:solidFill>
                <a:latin typeface="Aptos"/>
              </a:defRPr>
            </a:pPr>
            <a:r>
              <a:t>CROSSSIGNAL · OMOBOLAJI E ADEYAN · ALPACA PAPER TRADING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064240" y="6437376"/>
            <a:ext cx="4572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defRPr sz="900" b="1">
                <a:solidFill>
                  <a:srgbClr val="53657D"/>
                </a:solidFill>
                <a:latin typeface="Aptos"/>
              </a:defRPr>
            </a:pPr>
            <a: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9184"/>
            <a:ext cx="4572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000" b="1">
                <a:solidFill>
                  <a:srgbClr val="19B5D8"/>
                </a:solidFill>
                <a:latin typeface="Aptos"/>
              </a:defRPr>
            </a:pPr>
            <a:r>
              <a:t>04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60120" y="310896"/>
            <a:ext cx="5029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000" b="1">
                <a:solidFill>
                  <a:srgbClr val="53657D"/>
                </a:solidFill>
                <a:latin typeface="Aptos"/>
              </a:defRPr>
            </a:pPr>
            <a:r>
              <a:t>TECHNOLOGY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685800"/>
            <a:ext cx="11155680" cy="13716"/>
          </a:xfrm>
          <a:prstGeom prst="rect">
            <a:avLst/>
          </a:prstGeom>
          <a:solidFill>
            <a:srgbClr val="D5E0E9"/>
          </a:solidFill>
          <a:ln>
            <a:solidFill>
              <a:srgbClr val="D5E0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94360" y="987552"/>
            <a:ext cx="10972800" cy="960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3400" b="1">
                <a:solidFill>
                  <a:srgbClr val="071D49"/>
                </a:solidFill>
                <a:latin typeface="Aptos Display"/>
              </a:defRPr>
            </a:pPr>
            <a:r>
              <a:t>Alpaca is the market and execution backbone</a:t>
            </a:r>
          </a:p>
        </p:txBody>
      </p:sp>
      <p:sp>
        <p:nvSpPr>
          <p:cNvPr id="6" name="Rectangle 5"/>
          <p:cNvSpPr/>
          <p:nvPr/>
        </p:nvSpPr>
        <p:spPr>
          <a:xfrm>
            <a:off x="594360" y="2240280"/>
            <a:ext cx="2971800" cy="3063240"/>
          </a:xfrm>
          <a:prstGeom prst="rect">
            <a:avLst/>
          </a:prstGeom>
          <a:solidFill>
            <a:srgbClr val="F2F7FB"/>
          </a:solidFill>
          <a:ln>
            <a:solidFill>
              <a:srgbClr val="D5E0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2560320"/>
            <a:ext cx="24688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100" b="1">
                <a:solidFill>
                  <a:srgbClr val="19B5D8"/>
                </a:solidFill>
                <a:latin typeface="Aptos"/>
              </a:defRPr>
            </a:pPr>
            <a:r>
              <a:t>LIVE EVIDENCE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3063240"/>
            <a:ext cx="242316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500">
                <a:solidFill>
                  <a:srgbClr val="071D49"/>
                </a:solidFill>
                <a:latin typeface="Aptos"/>
              </a:defRPr>
            </a:pPr>
            <a:r>
              <a:t>•  Stocks and options</a:t>
            </a:r>
          </a:p>
          <a:p>
            <a:pPr>
              <a:spcAft>
                <a:spcPts val="1400"/>
              </a:spcAft>
              <a:defRPr sz="1500">
                <a:solidFill>
                  <a:srgbClr val="071D49"/>
                </a:solidFill>
                <a:latin typeface="Aptos"/>
              </a:defRPr>
            </a:pPr>
            <a:r>
              <a:t>•  Quotes, volume and Greeks</a:t>
            </a:r>
          </a:p>
          <a:p>
            <a:pPr>
              <a:spcAft>
                <a:spcPts val="1400"/>
              </a:spcAft>
              <a:defRPr sz="1500">
                <a:solidFill>
                  <a:srgbClr val="071D49"/>
                </a:solidFill>
                <a:latin typeface="Aptos"/>
              </a:defRPr>
            </a:pPr>
            <a:r>
              <a:t>•  Account and positions</a:t>
            </a:r>
          </a:p>
          <a:p>
            <a:pPr>
              <a:spcAft>
                <a:spcPts val="1400"/>
              </a:spcAft>
              <a:defRPr sz="1500">
                <a:solidFill>
                  <a:srgbClr val="071D49"/>
                </a:solidFill>
                <a:latin typeface="Aptos"/>
              </a:defRPr>
            </a:pPr>
            <a:r>
              <a:t>•  Alpaca News context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0" y="2240280"/>
            <a:ext cx="2971800" cy="3063240"/>
          </a:xfrm>
          <a:prstGeom prst="rect">
            <a:avLst/>
          </a:prstGeom>
          <a:solidFill>
            <a:srgbClr val="071D49"/>
          </a:solidFill>
          <a:ln>
            <a:solidFill>
              <a:srgbClr val="071D4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846320" y="2560320"/>
            <a:ext cx="24231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100" b="1">
                <a:solidFill>
                  <a:srgbClr val="72D4E8"/>
                </a:solidFill>
                <a:latin typeface="Aptos"/>
              </a:defRPr>
            </a:pPr>
            <a:r>
              <a:t>CROSSSIGNAL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846320" y="3063240"/>
            <a:ext cx="242316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500">
                <a:solidFill>
                  <a:srgbClr val="FFFFFF"/>
                </a:solidFill>
                <a:latin typeface="Aptos"/>
              </a:defRPr>
            </a:pPr>
            <a:r>
              <a:t>•  Claude macro synthesis</a:t>
            </a:r>
          </a:p>
          <a:p>
            <a:pPr>
              <a:spcAft>
                <a:spcPts val="1400"/>
              </a:spcAft>
              <a:defRPr sz="1500">
                <a:solidFill>
                  <a:srgbClr val="FFFFFF"/>
                </a:solidFill>
                <a:latin typeface="Aptos"/>
              </a:defRPr>
            </a:pPr>
            <a:r>
              <a:t>•  Deterministic construction</a:t>
            </a:r>
          </a:p>
          <a:p>
            <a:pPr>
              <a:spcAft>
                <a:spcPts val="1400"/>
              </a:spcAft>
              <a:defRPr sz="1500">
                <a:solidFill>
                  <a:srgbClr val="FFFFFF"/>
                </a:solidFill>
                <a:latin typeface="Aptos"/>
              </a:defRPr>
            </a:pPr>
            <a:r>
              <a:t>•  Risk and stability gates</a:t>
            </a:r>
          </a:p>
          <a:p>
            <a:pPr>
              <a:spcAft>
                <a:spcPts val="1400"/>
              </a:spcAft>
              <a:defRPr sz="1500">
                <a:solidFill>
                  <a:srgbClr val="FFFFFF"/>
                </a:solidFill>
                <a:latin typeface="Aptos"/>
              </a:defRPr>
            </a:pPr>
            <a:r>
              <a:t>•  Sealed Decision Contract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549640" y="2240280"/>
            <a:ext cx="2971800" cy="3063240"/>
          </a:xfrm>
          <a:prstGeom prst="rect">
            <a:avLst/>
          </a:prstGeom>
          <a:solidFill>
            <a:srgbClr val="F2F7FB"/>
          </a:solidFill>
          <a:ln>
            <a:solidFill>
              <a:srgbClr val="D5E0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823960" y="2560320"/>
            <a:ext cx="24231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100" b="1">
                <a:solidFill>
                  <a:srgbClr val="19B5D8"/>
                </a:solidFill>
                <a:latin typeface="Aptos"/>
              </a:defRPr>
            </a:pPr>
            <a:r>
              <a:t>PAPER LIFECYCLE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823960" y="3063240"/>
            <a:ext cx="242316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500">
                <a:solidFill>
                  <a:srgbClr val="071D49"/>
                </a:solidFill>
                <a:latin typeface="Aptos"/>
              </a:defRPr>
            </a:pPr>
            <a:r>
              <a:t>•  All-leg preflight</a:t>
            </a:r>
          </a:p>
          <a:p>
            <a:pPr>
              <a:spcAft>
                <a:spcPts val="1400"/>
              </a:spcAft>
              <a:defRPr sz="1500">
                <a:solidFill>
                  <a:srgbClr val="071D49"/>
                </a:solidFill>
                <a:latin typeface="Aptos"/>
              </a:defRPr>
            </a:pPr>
            <a:r>
              <a:t>•  Multi-leg paper orders</a:t>
            </a:r>
          </a:p>
          <a:p>
            <a:pPr>
              <a:spcAft>
                <a:spcPts val="1400"/>
              </a:spcAft>
              <a:defRPr sz="1500">
                <a:solidFill>
                  <a:srgbClr val="071D49"/>
                </a:solidFill>
                <a:latin typeface="Aptos"/>
              </a:defRPr>
            </a:pPr>
            <a:r>
              <a:t>•  Fill reconciliation</a:t>
            </a:r>
          </a:p>
          <a:p>
            <a:pPr>
              <a:spcAft>
                <a:spcPts val="1400"/>
              </a:spcAft>
              <a:defRPr sz="1500">
                <a:solidFill>
                  <a:srgbClr val="071D49"/>
                </a:solidFill>
                <a:latin typeface="Aptos"/>
              </a:defRPr>
            </a:pPr>
            <a:r>
              <a:t>•  Explicit recovery state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822191" y="3474720"/>
            <a:ext cx="4572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2500" b="1">
                <a:solidFill>
                  <a:srgbClr val="19B5D8"/>
                </a:solidFill>
                <a:latin typeface="Aptos"/>
              </a:defRPr>
            </a:pPr>
            <a:r>
              <a:t>→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99831" y="3474720"/>
            <a:ext cx="4572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2500" b="1">
                <a:solidFill>
                  <a:srgbClr val="19B5D8"/>
                </a:solidFill>
                <a:latin typeface="Aptos"/>
              </a:defRPr>
            </a:pPr>
            <a:r>
              <a:t>→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94360" y="6473952"/>
            <a:ext cx="9875520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800" b="1">
                <a:solidFill>
                  <a:srgbClr val="53657D"/>
                </a:solidFill>
                <a:latin typeface="Aptos"/>
              </a:defRPr>
            </a:pPr>
            <a:r>
              <a:t>CROSSSIGNAL · OMOBOLAJI E ADEYAN · ALPACA PAPER TRADING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064240" y="6437376"/>
            <a:ext cx="4572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defRPr sz="900" b="1">
                <a:solidFill>
                  <a:srgbClr val="53657D"/>
                </a:solidFill>
                <a:latin typeface="Aptos"/>
              </a:defRPr>
            </a:pPr>
            <a: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9184"/>
            <a:ext cx="4572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000" b="1">
                <a:solidFill>
                  <a:srgbClr val="19B5D8"/>
                </a:solidFill>
                <a:latin typeface="Aptos"/>
              </a:defRPr>
            </a:pPr>
            <a:r>
              <a:t>05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60120" y="310896"/>
            <a:ext cx="5029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000" b="1">
                <a:solidFill>
                  <a:srgbClr val="53657D"/>
                </a:solidFill>
                <a:latin typeface="Aptos"/>
              </a:defRPr>
            </a:pPr>
            <a:r>
              <a:t>DEFENSIBILITY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685800"/>
            <a:ext cx="11155680" cy="13716"/>
          </a:xfrm>
          <a:prstGeom prst="rect">
            <a:avLst/>
          </a:prstGeom>
          <a:solidFill>
            <a:srgbClr val="D5E0E9"/>
          </a:solidFill>
          <a:ln>
            <a:solidFill>
              <a:srgbClr val="D5E0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94360" y="987552"/>
            <a:ext cx="10972800" cy="960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3400" b="1">
                <a:solidFill>
                  <a:srgbClr val="071D49"/>
                </a:solidFill>
                <a:latin typeface="Aptos Display"/>
              </a:defRPr>
            </a:pPr>
            <a:r>
              <a:t>Every AI trade is placed under oath</a:t>
            </a:r>
          </a:p>
        </p:txBody>
      </p:sp>
      <p:sp>
        <p:nvSpPr>
          <p:cNvPr id="6" name="Rectangle 5"/>
          <p:cNvSpPr/>
          <p:nvPr/>
        </p:nvSpPr>
        <p:spPr>
          <a:xfrm>
            <a:off x="594360" y="2240280"/>
            <a:ext cx="5394960" cy="3200400"/>
          </a:xfrm>
          <a:prstGeom prst="rect">
            <a:avLst/>
          </a:prstGeom>
          <a:solidFill>
            <a:srgbClr val="071D49"/>
          </a:solidFill>
          <a:ln>
            <a:solidFill>
              <a:srgbClr val="071D4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606040"/>
            <a:ext cx="47548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100" b="1">
                <a:solidFill>
                  <a:srgbClr val="72D4E8"/>
                </a:solidFill>
                <a:latin typeface="Aptos"/>
              </a:defRPr>
            </a:pPr>
            <a:r>
              <a:t>BEFORE THE OUTCOME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3154680"/>
            <a:ext cx="4709160" cy="1691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600">
                <a:solidFill>
                  <a:srgbClr val="FFFFFF"/>
                </a:solidFill>
                <a:latin typeface="Aptos"/>
              </a:defRPr>
            </a:pPr>
            <a:r>
              <a:t>•  Decision Replay reconstructs only evidence known at decision time</a:t>
            </a:r>
          </a:p>
          <a:p>
            <a:pPr>
              <a:spcAft>
                <a:spcPts val="1400"/>
              </a:spcAft>
              <a:defRPr sz="1600">
                <a:solidFill>
                  <a:srgbClr val="FFFFFF"/>
                </a:solidFill>
                <a:latin typeface="Aptos"/>
              </a:defRPr>
            </a:pPr>
            <a:r>
              <a:t>•  Adversarial review challenges the thesis before authorization</a:t>
            </a:r>
          </a:p>
          <a:p>
            <a:pPr>
              <a:spcAft>
                <a:spcPts val="1400"/>
              </a:spcAft>
              <a:defRPr sz="1600">
                <a:solidFill>
                  <a:srgbClr val="FFFFFF"/>
                </a:solidFill>
                <a:latin typeface="Aptos"/>
              </a:defRPr>
            </a:pPr>
            <a:r>
              <a:t>•  SHA-256 contract exposes any post-outcome rewriting</a:t>
            </a:r>
          </a:p>
        </p:txBody>
      </p:sp>
      <p:sp>
        <p:nvSpPr>
          <p:cNvPr id="9" name="Rectangle 8"/>
          <p:cNvSpPr/>
          <p:nvPr/>
        </p:nvSpPr>
        <p:spPr>
          <a:xfrm>
            <a:off x="6199632" y="2240280"/>
            <a:ext cx="5394960" cy="3200400"/>
          </a:xfrm>
          <a:prstGeom prst="rect">
            <a:avLst/>
          </a:prstGeom>
          <a:solidFill>
            <a:srgbClr val="F2F7FB"/>
          </a:solidFill>
          <a:ln>
            <a:solidFill>
              <a:srgbClr val="D5E0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19672" y="2606040"/>
            <a:ext cx="47548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100" b="1">
                <a:solidFill>
                  <a:srgbClr val="19B5D8"/>
                </a:solidFill>
                <a:latin typeface="Aptos"/>
              </a:defRPr>
            </a:pPr>
            <a:r>
              <a:t>AFTER THE OUTCOME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19672" y="3154680"/>
            <a:ext cx="4709160" cy="1691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600">
                <a:solidFill>
                  <a:srgbClr val="071D49"/>
                </a:solidFill>
                <a:latin typeface="Aptos"/>
              </a:defRPr>
            </a:pPr>
            <a:r>
              <a:t>•  Alpaca Greeks drive transparent scenario stress</a:t>
            </a:r>
          </a:p>
          <a:p>
            <a:pPr>
              <a:spcAft>
                <a:spcPts val="1400"/>
              </a:spcAft>
              <a:defRPr sz="1600">
                <a:solidFill>
                  <a:srgbClr val="071D49"/>
                </a:solidFill>
                <a:latin typeface="Aptos"/>
              </a:defRPr>
            </a:pPr>
            <a:r>
              <a:t>•  Agent, inverse and cash comparisons reduce storytelling</a:t>
            </a:r>
          </a:p>
          <a:p>
            <a:pPr>
              <a:spcAft>
                <a:spcPts val="1400"/>
              </a:spcAft>
              <a:defRPr sz="1600">
                <a:solidFill>
                  <a:srgbClr val="071D49"/>
                </a:solidFill>
                <a:latin typeface="Aptos"/>
              </a:defRPr>
            </a:pPr>
            <a:r>
              <a:t>•  Portable evidence receipt lets judges verify the proof chain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" y="6473952"/>
            <a:ext cx="9875520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800" b="1">
                <a:solidFill>
                  <a:srgbClr val="53657D"/>
                </a:solidFill>
                <a:latin typeface="Aptos"/>
              </a:defRPr>
            </a:pPr>
            <a:r>
              <a:t>CROSSSIGNAL · OMOBOLAJI E ADEYAN · ALPACA PAPER TRADING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064240" y="6437376"/>
            <a:ext cx="4572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defRPr sz="900" b="1">
                <a:solidFill>
                  <a:srgbClr val="53657D"/>
                </a:solidFill>
                <a:latin typeface="Aptos"/>
              </a:defRPr>
            </a:pPr>
            <a: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9184"/>
            <a:ext cx="4572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000" b="1">
                <a:solidFill>
                  <a:srgbClr val="19B5D8"/>
                </a:solidFill>
                <a:latin typeface="Aptos"/>
              </a:defRPr>
            </a:pPr>
            <a:r>
              <a:t>06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60120" y="310896"/>
            <a:ext cx="5029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000" b="1">
                <a:solidFill>
                  <a:srgbClr val="53657D"/>
                </a:solidFill>
                <a:latin typeface="Aptos"/>
              </a:defRPr>
            </a:pPr>
            <a:r>
              <a:t>TRUST AND SAFETY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685800"/>
            <a:ext cx="11155680" cy="13716"/>
          </a:xfrm>
          <a:prstGeom prst="rect">
            <a:avLst/>
          </a:prstGeom>
          <a:solidFill>
            <a:srgbClr val="D5E0E9"/>
          </a:solidFill>
          <a:ln>
            <a:solidFill>
              <a:srgbClr val="D5E0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94360" y="987552"/>
            <a:ext cx="10972800" cy="960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3400" b="1">
                <a:solidFill>
                  <a:srgbClr val="071D49"/>
                </a:solidFill>
                <a:latin typeface="Aptos Display"/>
              </a:defRPr>
            </a:pPr>
            <a:r>
              <a:t>Safe by architecture—not by prompt</a:t>
            </a:r>
          </a:p>
        </p:txBody>
      </p:sp>
      <p:sp>
        <p:nvSpPr>
          <p:cNvPr id="6" name="Rectangle 5"/>
          <p:cNvSpPr/>
          <p:nvPr/>
        </p:nvSpPr>
        <p:spPr>
          <a:xfrm>
            <a:off x="594360" y="2377440"/>
            <a:ext cx="3429000" cy="1024128"/>
          </a:xfrm>
          <a:prstGeom prst="rect">
            <a:avLst/>
          </a:prstGeom>
          <a:solidFill>
            <a:srgbClr val="F2F7FB"/>
          </a:solidFill>
          <a:ln>
            <a:solidFill>
              <a:srgbClr val="D5E0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94360" y="2377440"/>
            <a:ext cx="73152" cy="1024128"/>
          </a:xfrm>
          <a:prstGeom prst="rect">
            <a:avLst/>
          </a:prstGeom>
          <a:solidFill>
            <a:srgbClr val="1E8E53"/>
          </a:solidFill>
          <a:ln>
            <a:solidFill>
              <a:srgbClr val="1E8E5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2560320"/>
            <a:ext cx="100584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300" b="1">
                <a:solidFill>
                  <a:srgbClr val="071D49"/>
                </a:solidFill>
                <a:latin typeface="Aptos"/>
              </a:defRPr>
            </a:pPr>
            <a:r>
              <a:t>Public UI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920240" y="2560320"/>
            <a:ext cx="17830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300" b="0">
                <a:solidFill>
                  <a:srgbClr val="53657D"/>
                </a:solidFill>
                <a:latin typeface="Aptos"/>
              </a:defRPr>
            </a:pPr>
            <a:r>
              <a:t>Read-only replay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61688" y="2377440"/>
            <a:ext cx="3429000" cy="1024128"/>
          </a:xfrm>
          <a:prstGeom prst="rect">
            <a:avLst/>
          </a:prstGeom>
          <a:solidFill>
            <a:srgbClr val="F2F7FB"/>
          </a:solidFill>
          <a:ln>
            <a:solidFill>
              <a:srgbClr val="D5E0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361688" y="2377440"/>
            <a:ext cx="73152" cy="1024128"/>
          </a:xfrm>
          <a:prstGeom prst="rect">
            <a:avLst/>
          </a:prstGeom>
          <a:solidFill>
            <a:srgbClr val="1E8E53"/>
          </a:solidFill>
          <a:ln>
            <a:solidFill>
              <a:srgbClr val="1E8E5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636008" y="2560320"/>
            <a:ext cx="100584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300" b="1">
                <a:solidFill>
                  <a:srgbClr val="071D49"/>
                </a:solidFill>
                <a:latin typeface="Aptos"/>
              </a:defRPr>
            </a:pPr>
            <a:r>
              <a:t>Broker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87568" y="2560320"/>
            <a:ext cx="17830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300" b="0">
                <a:solidFill>
                  <a:srgbClr val="53657D"/>
                </a:solidFill>
                <a:latin typeface="Aptos"/>
              </a:defRPr>
            </a:pPr>
            <a:r>
              <a:t>Exact paper endpoint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129016" y="2377440"/>
            <a:ext cx="3429000" cy="1024128"/>
          </a:xfrm>
          <a:prstGeom prst="rect">
            <a:avLst/>
          </a:prstGeom>
          <a:solidFill>
            <a:srgbClr val="F2F7FB"/>
          </a:solidFill>
          <a:ln>
            <a:solidFill>
              <a:srgbClr val="D5E0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129016" y="2377440"/>
            <a:ext cx="73152" cy="1024128"/>
          </a:xfrm>
          <a:prstGeom prst="rect">
            <a:avLst/>
          </a:prstGeom>
          <a:solidFill>
            <a:srgbClr val="1E8E53"/>
          </a:solidFill>
          <a:ln>
            <a:solidFill>
              <a:srgbClr val="1E8E5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403336" y="2560320"/>
            <a:ext cx="100584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300" b="1">
                <a:solidFill>
                  <a:srgbClr val="071D49"/>
                </a:solidFill>
                <a:latin typeface="Aptos"/>
              </a:defRPr>
            </a:pPr>
            <a:r>
              <a:t>LLM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454896" y="2560320"/>
            <a:ext cx="17830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300" b="0">
                <a:solidFill>
                  <a:srgbClr val="53657D"/>
                </a:solidFill>
                <a:latin typeface="Aptos"/>
              </a:defRPr>
            </a:pPr>
            <a:r>
              <a:t>No direct tool access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94360" y="3703320"/>
            <a:ext cx="3429000" cy="1024128"/>
          </a:xfrm>
          <a:prstGeom prst="rect">
            <a:avLst/>
          </a:prstGeom>
          <a:solidFill>
            <a:srgbClr val="F2F7FB"/>
          </a:solidFill>
          <a:ln>
            <a:solidFill>
              <a:srgbClr val="D5E0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94360" y="3703320"/>
            <a:ext cx="73152" cy="1024128"/>
          </a:xfrm>
          <a:prstGeom prst="rect">
            <a:avLst/>
          </a:prstGeom>
          <a:solidFill>
            <a:srgbClr val="1E8E53"/>
          </a:solidFill>
          <a:ln>
            <a:solidFill>
              <a:srgbClr val="1E8E5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68680" y="3886200"/>
            <a:ext cx="100584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300" b="1">
                <a:solidFill>
                  <a:srgbClr val="071D49"/>
                </a:solidFill>
                <a:latin typeface="Aptos"/>
              </a:defRPr>
            </a:pPr>
            <a:r>
              <a:t>Evidence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920240" y="3886200"/>
            <a:ext cx="17830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300" b="0">
                <a:solidFill>
                  <a:srgbClr val="53657D"/>
                </a:solidFill>
                <a:latin typeface="Aptos"/>
              </a:defRPr>
            </a:pPr>
            <a:r>
              <a:t>Secret-free receipts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361688" y="3703320"/>
            <a:ext cx="3429000" cy="1024128"/>
          </a:xfrm>
          <a:prstGeom prst="rect">
            <a:avLst/>
          </a:prstGeom>
          <a:solidFill>
            <a:srgbClr val="F2F7FB"/>
          </a:solidFill>
          <a:ln>
            <a:solidFill>
              <a:srgbClr val="D5E0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361688" y="3703320"/>
            <a:ext cx="73152" cy="1024128"/>
          </a:xfrm>
          <a:prstGeom prst="rect">
            <a:avLst/>
          </a:prstGeom>
          <a:solidFill>
            <a:srgbClr val="C67E00"/>
          </a:solidFill>
          <a:ln>
            <a:solidFill>
              <a:srgbClr val="C67E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636008" y="3886200"/>
            <a:ext cx="100584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300" b="1">
                <a:solidFill>
                  <a:srgbClr val="071D49"/>
                </a:solidFill>
                <a:latin typeface="Aptos"/>
              </a:defRPr>
            </a:pPr>
            <a:r>
              <a:t>Recovery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687568" y="3886200"/>
            <a:ext cx="17830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300" b="0">
                <a:solidFill>
                  <a:srgbClr val="53657D"/>
                </a:solidFill>
                <a:latin typeface="Aptos"/>
              </a:defRPr>
            </a:pPr>
            <a:r>
              <a:t>Explicit approval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129016" y="3703320"/>
            <a:ext cx="3429000" cy="1024128"/>
          </a:xfrm>
          <a:prstGeom prst="rect">
            <a:avLst/>
          </a:prstGeom>
          <a:solidFill>
            <a:srgbClr val="F2F7FB"/>
          </a:solidFill>
          <a:ln>
            <a:solidFill>
              <a:srgbClr val="D5E0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8129016" y="3703320"/>
            <a:ext cx="73152" cy="1024128"/>
          </a:xfrm>
          <a:prstGeom prst="rect">
            <a:avLst/>
          </a:prstGeom>
          <a:solidFill>
            <a:srgbClr val="C67E00"/>
          </a:solidFill>
          <a:ln>
            <a:solidFill>
              <a:srgbClr val="C67E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403336" y="3886200"/>
            <a:ext cx="100584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300" b="1">
                <a:solidFill>
                  <a:srgbClr val="071D49"/>
                </a:solidFill>
                <a:latin typeface="Aptos"/>
              </a:defRPr>
            </a:pPr>
            <a:r>
              <a:t>News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454896" y="3886200"/>
            <a:ext cx="17830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300" b="0">
                <a:solidFill>
                  <a:srgbClr val="53657D"/>
                </a:solidFill>
                <a:latin typeface="Aptos"/>
              </a:defRPr>
            </a:pPr>
            <a:r>
              <a:t>Untrusted context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94360" y="5184648"/>
            <a:ext cx="10972800" cy="530352"/>
          </a:xfrm>
          <a:prstGeom prst="rect">
            <a:avLst/>
          </a:prstGeom>
          <a:solidFill>
            <a:srgbClr val="003B70"/>
          </a:solidFill>
          <a:ln>
            <a:solidFill>
              <a:srgbClr val="003B7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22960" y="5349240"/>
            <a:ext cx="105156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NIST AI RMF and SSDF aligned · voluntary and tailorable · not NIST-certified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94360" y="6473952"/>
            <a:ext cx="9875520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800" b="1">
                <a:solidFill>
                  <a:srgbClr val="53657D"/>
                </a:solidFill>
                <a:latin typeface="Aptos"/>
              </a:defRPr>
            </a:pPr>
            <a:r>
              <a:t>CROSSSIGNAL · OMOBOLAJI E ADEYAN · ALPACA PAPER TRADING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1064240" y="6437376"/>
            <a:ext cx="4572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defRPr sz="900" b="1">
                <a:solidFill>
                  <a:srgbClr val="53657D"/>
                </a:solidFill>
                <a:latin typeface="Aptos"/>
              </a:defRPr>
            </a:pPr>
            <a: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9184"/>
            <a:ext cx="4572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000" b="1">
                <a:solidFill>
                  <a:srgbClr val="19B5D8"/>
                </a:solidFill>
                <a:latin typeface="Aptos"/>
              </a:defRPr>
            </a:pPr>
            <a:r>
              <a:t>07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60120" y="310896"/>
            <a:ext cx="5029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000" b="1">
                <a:solidFill>
                  <a:srgbClr val="53657D"/>
                </a:solidFill>
                <a:latin typeface="Aptos"/>
              </a:defRPr>
            </a:pPr>
            <a:r>
              <a:t>BUSINESS VALUE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685800"/>
            <a:ext cx="11155680" cy="13716"/>
          </a:xfrm>
          <a:prstGeom prst="rect">
            <a:avLst/>
          </a:prstGeom>
          <a:solidFill>
            <a:srgbClr val="D5E0E9"/>
          </a:solidFill>
          <a:ln>
            <a:solidFill>
              <a:srgbClr val="D5E0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94360" y="987552"/>
            <a:ext cx="10972800" cy="960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3400" b="1">
                <a:solidFill>
                  <a:srgbClr val="071D49"/>
                </a:solidFill>
                <a:latin typeface="Aptos Display"/>
              </a:defRPr>
            </a:pPr>
            <a:r>
              <a:t>The accountability layer for AI-assisted trading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286000"/>
            <a:ext cx="3200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100" b="1">
                <a:solidFill>
                  <a:srgbClr val="19B5D8"/>
                </a:solidFill>
                <a:latin typeface="Aptos"/>
              </a:defRPr>
            </a:pPr>
            <a:r>
              <a:t>WHO NEEDS IT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743200"/>
            <a:ext cx="420624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800">
                <a:solidFill>
                  <a:srgbClr val="071D49"/>
                </a:solidFill>
                <a:latin typeface="Aptos"/>
              </a:defRPr>
            </a:pPr>
            <a:r>
              <a:t>•  Active options traders</a:t>
            </a:r>
          </a:p>
          <a:p>
            <a:pPr>
              <a:spcAft>
                <a:spcPts val="1400"/>
              </a:spcAft>
              <a:defRPr sz="1800">
                <a:solidFill>
                  <a:srgbClr val="071D49"/>
                </a:solidFill>
                <a:latin typeface="Aptos"/>
              </a:defRPr>
            </a:pPr>
            <a:r>
              <a:t>•  Small investment teams</a:t>
            </a:r>
          </a:p>
          <a:p>
            <a:pPr>
              <a:spcAft>
                <a:spcPts val="1400"/>
              </a:spcAft>
              <a:defRPr sz="1800">
                <a:solidFill>
                  <a:srgbClr val="071D49"/>
                </a:solidFill>
                <a:latin typeface="Aptos"/>
              </a:defRPr>
            </a:pPr>
            <a:r>
              <a:t>•  Broker and platform providers</a:t>
            </a:r>
          </a:p>
          <a:p>
            <a:pPr>
              <a:spcAft>
                <a:spcPts val="1400"/>
              </a:spcAft>
              <a:defRPr sz="1800">
                <a:solidFill>
                  <a:srgbClr val="071D49"/>
                </a:solidFill>
                <a:latin typeface="Aptos"/>
              </a:defRPr>
            </a:pPr>
            <a:r>
              <a:t>•  Risk and compliance teams</a:t>
            </a:r>
          </a:p>
        </p:txBody>
      </p:sp>
      <p:sp>
        <p:nvSpPr>
          <p:cNvPr id="8" name="Rectangle 7"/>
          <p:cNvSpPr/>
          <p:nvPr/>
        </p:nvSpPr>
        <p:spPr>
          <a:xfrm>
            <a:off x="4892040" y="2240280"/>
            <a:ext cx="18288" cy="3108960"/>
          </a:xfrm>
          <a:prstGeom prst="rect">
            <a:avLst/>
          </a:prstGeom>
          <a:solidFill>
            <a:srgbClr val="D5E0E9"/>
          </a:solidFill>
          <a:ln>
            <a:solidFill>
              <a:srgbClr val="D5E0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303520" y="2286000"/>
            <a:ext cx="3200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100" b="1">
                <a:solidFill>
                  <a:srgbClr val="19B5D8"/>
                </a:solidFill>
                <a:latin typeface="Aptos"/>
              </a:defRPr>
            </a:pPr>
            <a:r>
              <a:t>HOW IT GROWS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303520" y="2743200"/>
            <a:ext cx="5943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100" b="1">
                <a:solidFill>
                  <a:srgbClr val="19B5D8"/>
                </a:solidFill>
                <a:latin typeface="Aptos"/>
              </a:defRPr>
            </a:pPr>
            <a: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89320" y="2715768"/>
            <a:ext cx="3977639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700" b="1">
                <a:solidFill>
                  <a:srgbClr val="071D49"/>
                </a:solidFill>
                <a:latin typeface="Aptos"/>
              </a:defRPr>
            </a:pPr>
            <a:r>
              <a:t>Professional SaaS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303520" y="3355848"/>
            <a:ext cx="5943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100" b="1">
                <a:solidFill>
                  <a:srgbClr val="19B5D8"/>
                </a:solidFill>
                <a:latin typeface="Aptos"/>
              </a:defRPr>
            </a:pPr>
            <a: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89320" y="3328416"/>
            <a:ext cx="3977639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700" b="1">
                <a:solidFill>
                  <a:srgbClr val="071D49"/>
                </a:solidFill>
                <a:latin typeface="Aptos"/>
              </a:defRPr>
            </a:pPr>
            <a:r>
              <a:t>Team governance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303520" y="3968496"/>
            <a:ext cx="5943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100" b="1">
                <a:solidFill>
                  <a:srgbClr val="19B5D8"/>
                </a:solidFill>
                <a:latin typeface="Aptos"/>
              </a:defRPr>
            </a:pPr>
            <a:r>
              <a:t>03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989320" y="3941063"/>
            <a:ext cx="3977639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700" b="1">
                <a:solidFill>
                  <a:srgbClr val="071D49"/>
                </a:solidFill>
                <a:latin typeface="Aptos"/>
              </a:defRPr>
            </a:pPr>
            <a:r>
              <a:t>Broker partnerships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303520" y="4581144"/>
            <a:ext cx="5943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100" b="1">
                <a:solidFill>
                  <a:srgbClr val="19B5D8"/>
                </a:solidFill>
                <a:latin typeface="Aptos"/>
              </a:defRPr>
            </a:pPr>
            <a:r>
              <a:t>04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989320" y="4553712"/>
            <a:ext cx="3977639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700" b="1">
                <a:solidFill>
                  <a:srgbClr val="071D49"/>
                </a:solidFill>
                <a:latin typeface="Aptos"/>
              </a:defRPr>
            </a:pPr>
            <a:r>
              <a:t>Enterprise policy APIs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646920" y="2240280"/>
            <a:ext cx="1874519" cy="3108960"/>
          </a:xfrm>
          <a:prstGeom prst="rect">
            <a:avLst/>
          </a:prstGeom>
          <a:solidFill>
            <a:srgbClr val="071D49"/>
          </a:solidFill>
          <a:ln>
            <a:solidFill>
              <a:srgbClr val="071D4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966960" y="2560320"/>
            <a:ext cx="12344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000" b="1">
                <a:solidFill>
                  <a:srgbClr val="72D4E8"/>
                </a:solidFill>
                <a:latin typeface="Aptos"/>
              </a:defRPr>
            </a:pPr>
            <a:r>
              <a:t>VALUE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802368" y="3154680"/>
            <a:ext cx="1554480" cy="1600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800" b="1">
                <a:solidFill>
                  <a:srgbClr val="FFFFFF"/>
                </a:solidFill>
                <a:latin typeface="Aptos"/>
              </a:defRPr>
            </a:pPr>
            <a:r>
              <a:t>Faster</a:t>
            </a:r>
            <a:br/>
            <a:r>
              <a:t>review.</a:t>
            </a:r>
            <a:br/>
            <a:r>
              <a:t>Stronger</a:t>
            </a:r>
            <a:br/>
            <a:r>
              <a:t>trust.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94360" y="6473952"/>
            <a:ext cx="9875520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800" b="1">
                <a:solidFill>
                  <a:srgbClr val="53657D"/>
                </a:solidFill>
                <a:latin typeface="Aptos"/>
              </a:defRPr>
            </a:pPr>
            <a:r>
              <a:t>CROSSSIGNAL · OMOBOLAJI E ADEYAN · ALPACA PAPER TRADING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064240" y="6437376"/>
            <a:ext cx="4572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defRPr sz="900" b="1">
                <a:solidFill>
                  <a:srgbClr val="53657D"/>
                </a:solidFill>
                <a:latin typeface="Aptos"/>
              </a:defRPr>
            </a:pPr>
            <a: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1D49"/>
          </a:solidFill>
          <a:ln>
            <a:solidFill>
              <a:srgbClr val="071D4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640080"/>
            <a:ext cx="3657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100" b="1">
                <a:solidFill>
                  <a:srgbClr val="72D4E8"/>
                </a:solidFill>
                <a:latin typeface="Aptos"/>
              </a:defRPr>
            </a:pPr>
            <a:r>
              <a:t>THE PROOF IS PUBLIC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234440"/>
            <a:ext cx="8046720" cy="1417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3600" b="1">
                <a:solidFill>
                  <a:srgbClr val="FFFFFF"/>
                </a:solidFill>
                <a:latin typeface="Aptos Display"/>
              </a:defRPr>
            </a:pPr>
            <a:r>
              <a:t>Inspect the intelligence.</a:t>
            </a:r>
            <a:br/>
            <a:r>
              <a:t>Challenge the decision.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3063240"/>
            <a:ext cx="20116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2700" b="1">
                <a:solidFill>
                  <a:srgbClr val="72D4E8"/>
                </a:solidFill>
                <a:latin typeface="Aptos"/>
              </a:defRPr>
            </a:pPr>
            <a:r>
              <a:t>31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3611880"/>
            <a:ext cx="20116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200" b="0">
                <a:solidFill>
                  <a:srgbClr val="FFFFFF"/>
                </a:solidFill>
                <a:latin typeface="Aptos"/>
              </a:defRPr>
            </a:pPr>
            <a:r>
              <a:t>automated tests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017520" y="3063240"/>
            <a:ext cx="20116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2700" b="1">
                <a:solidFill>
                  <a:srgbClr val="72D4E8"/>
                </a:solidFill>
                <a:latin typeface="Aptos"/>
              </a:defRPr>
            </a:pPr>
            <a:r>
              <a:t>6/6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017520" y="3611880"/>
            <a:ext cx="20116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200" b="0">
                <a:solidFill>
                  <a:srgbClr val="FFFFFF"/>
                </a:solidFill>
                <a:latin typeface="Aptos"/>
              </a:defRPr>
            </a:pPr>
            <a:r>
              <a:t>Greeks coverage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349240" y="3063240"/>
            <a:ext cx="20116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2700" b="1">
                <a:solidFill>
                  <a:srgbClr val="72D4E8"/>
                </a:solidFill>
                <a:latin typeface="Aptos"/>
              </a:defRPr>
            </a:pPr>
            <a:r>
              <a:t>5 days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349240" y="3611880"/>
            <a:ext cx="20116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200" b="0">
                <a:solidFill>
                  <a:srgbClr val="FFFFFF"/>
                </a:solidFill>
                <a:latin typeface="Aptos"/>
              </a:defRPr>
            </a:pPr>
            <a:r>
              <a:t>scoring horizon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092440" y="1097280"/>
            <a:ext cx="3429000" cy="420624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412480" y="1481328"/>
            <a:ext cx="27889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100" b="1">
                <a:solidFill>
                  <a:srgbClr val="003B70"/>
                </a:solidFill>
                <a:latin typeface="Aptos"/>
              </a:defRPr>
            </a:pPr>
            <a:r>
              <a:t>LIVE JUDGE DEMO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412480" y="2057400"/>
            <a:ext cx="278892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800" b="1">
                <a:solidFill>
                  <a:srgbClr val="071D49"/>
                </a:solidFill>
                <a:latin typeface="Aptos"/>
              </a:defRPr>
            </a:pPr>
            <a:r>
              <a:t>crosssignal-ai-agent</a:t>
            </a:r>
            <a:br/>
            <a:r>
              <a:t>.streamlit.app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412480" y="2971800"/>
            <a:ext cx="2788920" cy="27432"/>
          </a:xfrm>
          <a:prstGeom prst="rect">
            <a:avLst/>
          </a:prstGeom>
          <a:solidFill>
            <a:srgbClr val="19B5D8"/>
          </a:solidFill>
          <a:ln>
            <a:solidFill>
              <a:srgbClr val="19B5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412480" y="3401568"/>
            <a:ext cx="27889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100" b="1">
                <a:solidFill>
                  <a:srgbClr val="003B70"/>
                </a:solidFill>
                <a:latin typeface="Aptos"/>
              </a:defRPr>
            </a:pPr>
            <a:r>
              <a:t>SOURCE CODE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75320" y="3913632"/>
            <a:ext cx="306324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300" b="1">
                <a:solidFill>
                  <a:srgbClr val="071D49"/>
                </a:solidFill>
                <a:latin typeface="Aptos"/>
              </a:defRPr>
            </a:pPr>
            <a:r>
              <a:t>github.com/omobolajiadeyan/</a:t>
            </a:r>
            <a:br/>
            <a:r>
              <a:t>alpaca-cross-market-agent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5800" y="4892040"/>
            <a:ext cx="681228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700" b="1">
                <a:solidFill>
                  <a:srgbClr val="FFFFFF"/>
                </a:solidFill>
                <a:latin typeface="Aptos"/>
              </a:defRPr>
            </a:pPr>
            <a:r>
              <a:t>CrossSignal does not merely recommend a trade.</a:t>
            </a:r>
            <a:br/>
            <a:r>
              <a:t>It proves whether the trade deserves authorization.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5800" y="6172200"/>
            <a:ext cx="7315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100" b="0">
                <a:solidFill>
                  <a:srgbClr val="72D4E8"/>
                </a:solidFill>
                <a:latin typeface="Aptos"/>
              </a:defRPr>
            </a:pPr>
            <a:r>
              <a:t>Omobolaji E Adeyan · Paper trading only · Not investment advice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