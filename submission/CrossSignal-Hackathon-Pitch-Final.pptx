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often disagree before they reprice. CrossSignal identifies that disagreement, challenges the conclusion, applies deterministic controls, and records whether the prediction was ultimately correct.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transmit information at different speeds. CrossSignal addresses fragmentation, weak AI accountability, and the absence of honest forward scoring.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decision passes a proof chain. Crucially, abstention is treated as a correct policy outcome when evidence fails a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Alpaca MCP server powers sponsor-native market evidence and the paper execution lifecycle. Claude reasons, but deterministic code controls broker access.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proof slide, drawn from a live cycle against the dedicated hackathon paper account on September 1st. Signal quality scored 82 and decision stability 100 across ten real perturbations, but execution quality was 67 because two of six deterministic checks failed -- live-data integrity and post-falsification confidence -- so the correct autonomous decision was abstention. Outcome evidence remains pending until the sealed horizon matures.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CrossSignal follows NIST-aligned risk-management reasoning without claiming certification. Public infrastructure and scheduled GitHub automation have no broker mutation capability. The cloud watcher always runs execute false and exports only a secret-free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wedge is decision accountability for serious individual and small-team options users, with a path toward broker and enterprise governance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verified evidence: forty-three tests pass in GitHub, a live cycle against the dedicated hackathon paper account sealed a real contract on September 1st, and the system abstained because two of six deterministic checks failed. CrossSignal makes AI trading decisions inspectable, challengeable, reproducible, and measurable. Invite judges to open the live application, repository, and dedicated account PA3PDTUDIXDU.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640080"/>
            <a:ext cx="54864" cy="384048"/>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67512"/>
            <a:ext cx="6583680" cy="320040"/>
          </a:xfrm>
          <a:prstGeom prst="rect">
            <a:avLst/>
          </a:prstGeom>
          <a:noFill/>
        </p:spPr>
        <p:txBody>
          <a:bodyPr wrap="square" anchor="t">
            <a:spAutoFit/>
          </a:bodyPr>
          <a:lstStyle/>
          <a:p>
            <a:pPr algn="l">
              <a:defRPr sz="1100" b="1">
                <a:solidFill>
                  <a:srgbClr val="72D4E8"/>
                </a:solidFill>
                <a:latin typeface="Aptos"/>
              </a:defRPr>
            </a:pPr>
            <a:r>
              <a:t>DECISION INTELLIGENCE FOR CROSS-MARKET TRADING</a:t>
            </a:r>
          </a:p>
        </p:txBody>
      </p:sp>
      <p:sp>
        <p:nvSpPr>
          <p:cNvPr id="5" name="TextBox 4"/>
          <p:cNvSpPr txBox="1"/>
          <p:nvPr/>
        </p:nvSpPr>
        <p:spPr>
          <a:xfrm>
            <a:off x="658368" y="1417320"/>
            <a:ext cx="8046720" cy="2057400"/>
          </a:xfrm>
          <a:prstGeom prst="rect">
            <a:avLst/>
          </a:prstGeom>
          <a:noFill/>
        </p:spPr>
        <p:txBody>
          <a:bodyPr wrap="square" anchor="t">
            <a:spAutoFit/>
          </a:bodyPr>
          <a:lstStyle/>
          <a:p>
            <a:pPr algn="l">
              <a:defRPr sz="4200" b="1">
                <a:solidFill>
                  <a:srgbClr val="FFFFFF"/>
                </a:solidFill>
                <a:latin typeface="Aptos Display"/>
              </a:defRPr>
            </a:pPr>
            <a:r>
              <a:t>Markets disagree.</a:t>
            </a:r>
            <a:br/>
            <a:r>
              <a:t>We trade the gap.</a:t>
            </a:r>
          </a:p>
        </p:txBody>
      </p:sp>
      <p:sp>
        <p:nvSpPr>
          <p:cNvPr id="6" name="TextBox 5"/>
          <p:cNvSpPr txBox="1"/>
          <p:nvPr/>
        </p:nvSpPr>
        <p:spPr>
          <a:xfrm>
            <a:off x="685800" y="3822191"/>
            <a:ext cx="7498079" cy="685800"/>
          </a:xfrm>
          <a:prstGeom prst="rect">
            <a:avLst/>
          </a:prstGeom>
          <a:noFill/>
        </p:spPr>
        <p:txBody>
          <a:bodyPr wrap="square" anchor="t">
            <a:spAutoFit/>
          </a:bodyPr>
          <a:lstStyle/>
          <a:p>
            <a:pPr algn="l">
              <a:defRPr sz="2000" b="0">
                <a:solidFill>
                  <a:srgbClr val="72D4E8"/>
                </a:solidFill>
                <a:latin typeface="Aptos"/>
              </a:defRPr>
            </a:pPr>
            <a:r>
              <a:t>An auditable AI trading agent that challenges, governs and scores every decision.</a:t>
            </a:r>
          </a:p>
        </p:txBody>
      </p:sp>
      <p:sp>
        <p:nvSpPr>
          <p:cNvPr id="7" name="Rounded Rectangle 6"/>
          <p:cNvSpPr/>
          <p:nvPr/>
        </p:nvSpPr>
        <p:spPr>
          <a:xfrm>
            <a:off x="8869680" y="-548640"/>
            <a:ext cx="4114800" cy="4114800"/>
          </a:xfrm>
          <a:prstGeom prst="round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528048" y="109728"/>
            <a:ext cx="2834640" cy="2834640"/>
          </a:xfrm>
          <a:prstGeom prst="round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715000"/>
            <a:ext cx="3657600" cy="365760"/>
          </a:xfrm>
          <a:prstGeom prst="rect">
            <a:avLst/>
          </a:prstGeom>
          <a:noFill/>
        </p:spPr>
        <p:txBody>
          <a:bodyPr wrap="square" anchor="t">
            <a:spAutoFit/>
          </a:bodyPr>
          <a:lstStyle/>
          <a:p>
            <a:pPr algn="l">
              <a:defRPr sz="1800" b="1">
                <a:solidFill>
                  <a:srgbClr val="FFFFFF"/>
                </a:solidFill>
                <a:latin typeface="Aptos"/>
              </a:defRPr>
            </a:pPr>
            <a:r>
              <a:t>CROSSSIGNAL</a:t>
            </a:r>
          </a:p>
        </p:txBody>
      </p:sp>
      <p:sp>
        <p:nvSpPr>
          <p:cNvPr id="10" name="TextBox 9"/>
          <p:cNvSpPr txBox="1"/>
          <p:nvPr/>
        </p:nvSpPr>
        <p:spPr>
          <a:xfrm>
            <a:off x="685800" y="6126480"/>
            <a:ext cx="4572000" cy="274320"/>
          </a:xfrm>
          <a:prstGeom prst="rect">
            <a:avLst/>
          </a:prstGeom>
          <a:noFill/>
        </p:spPr>
        <p:txBody>
          <a:bodyPr wrap="square" anchor="t">
            <a:spAutoFit/>
          </a:bodyPr>
          <a:lstStyle/>
          <a:p>
            <a:pPr algn="l">
              <a:defRPr sz="1200" b="0">
                <a:solidFill>
                  <a:srgbClr val="72D4E8"/>
                </a:solidFill>
                <a:latin typeface="Aptos"/>
              </a:defRPr>
            </a:pPr>
            <a:r>
              <a:t>Created by Omobolaji E Adeyan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02</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PROBLEM</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Trading agents generate signals.</a:t>
            </a:r>
            <a:br/>
            <a:r>
              <a:t>Few can defend a decision.</a:t>
            </a:r>
          </a:p>
        </p:txBody>
      </p:sp>
      <p:sp>
        <p:nvSpPr>
          <p:cNvPr id="6" name="Rectangle 5"/>
          <p:cNvSpPr/>
          <p:nvPr/>
        </p:nvSpPr>
        <p:spPr>
          <a:xfrm>
            <a:off x="59436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46120"/>
            <a:ext cx="457200" cy="320040"/>
          </a:xfrm>
          <a:prstGeom prst="rect">
            <a:avLst/>
          </a:prstGeom>
          <a:noFill/>
        </p:spPr>
        <p:txBody>
          <a:bodyPr wrap="square" anchor="t">
            <a:spAutoFit/>
          </a:bodyPr>
          <a:lstStyle/>
          <a:p>
            <a:pPr algn="l">
              <a:defRPr sz="1200" b="1">
                <a:solidFill>
                  <a:srgbClr val="19B5D8"/>
                </a:solidFill>
                <a:latin typeface="Aptos"/>
              </a:defRPr>
            </a:pPr>
            <a:r>
              <a:t>01</a:t>
            </a:r>
          </a:p>
        </p:txBody>
      </p:sp>
      <p:sp>
        <p:nvSpPr>
          <p:cNvPr id="8" name="TextBox 7"/>
          <p:cNvSpPr txBox="1"/>
          <p:nvPr/>
        </p:nvSpPr>
        <p:spPr>
          <a:xfrm>
            <a:off x="822960" y="3657600"/>
            <a:ext cx="2926080" cy="365760"/>
          </a:xfrm>
          <a:prstGeom prst="rect">
            <a:avLst/>
          </a:prstGeom>
          <a:noFill/>
        </p:spPr>
        <p:txBody>
          <a:bodyPr wrap="square" anchor="t">
            <a:spAutoFit/>
          </a:bodyPr>
          <a:lstStyle/>
          <a:p>
            <a:pPr algn="l">
              <a:defRPr sz="2100" b="1">
                <a:solidFill>
                  <a:srgbClr val="071D49"/>
                </a:solidFill>
                <a:latin typeface="Aptos"/>
              </a:defRPr>
            </a:pPr>
            <a:r>
              <a:t>Fragmented</a:t>
            </a:r>
          </a:p>
        </p:txBody>
      </p:sp>
      <p:sp>
        <p:nvSpPr>
          <p:cNvPr id="9" name="TextBox 8"/>
          <p:cNvSpPr txBox="1"/>
          <p:nvPr/>
        </p:nvSpPr>
        <p:spPr>
          <a:xfrm>
            <a:off x="822960" y="4160520"/>
            <a:ext cx="2926080" cy="777240"/>
          </a:xfrm>
          <a:prstGeom prst="rect">
            <a:avLst/>
          </a:prstGeom>
          <a:noFill/>
        </p:spPr>
        <p:txBody>
          <a:bodyPr wrap="square" anchor="t">
            <a:spAutoFit/>
          </a:bodyPr>
          <a:lstStyle/>
          <a:p>
            <a:pPr algn="l">
              <a:defRPr sz="1400" b="0">
                <a:solidFill>
                  <a:srgbClr val="53657D"/>
                </a:solidFill>
                <a:latin typeface="Aptos"/>
              </a:defRPr>
            </a:pPr>
            <a:r>
              <a:t>Single-market analysis misses information moving between rates, credit and equities.</a:t>
            </a:r>
          </a:p>
        </p:txBody>
      </p:sp>
      <p:sp>
        <p:nvSpPr>
          <p:cNvPr id="10" name="Rectangle 9"/>
          <p:cNvSpPr/>
          <p:nvPr/>
        </p:nvSpPr>
        <p:spPr>
          <a:xfrm>
            <a:off x="438912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3246120"/>
            <a:ext cx="457200" cy="320040"/>
          </a:xfrm>
          <a:prstGeom prst="rect">
            <a:avLst/>
          </a:prstGeom>
          <a:noFill/>
        </p:spPr>
        <p:txBody>
          <a:bodyPr wrap="square" anchor="t">
            <a:spAutoFit/>
          </a:bodyPr>
          <a:lstStyle/>
          <a:p>
            <a:pPr algn="l">
              <a:defRPr sz="1200" b="1">
                <a:solidFill>
                  <a:srgbClr val="19B5D8"/>
                </a:solidFill>
                <a:latin typeface="Aptos"/>
              </a:defRPr>
            </a:pPr>
            <a:r>
              <a:t>02</a:t>
            </a:r>
          </a:p>
        </p:txBody>
      </p:sp>
      <p:sp>
        <p:nvSpPr>
          <p:cNvPr id="12" name="TextBox 11"/>
          <p:cNvSpPr txBox="1"/>
          <p:nvPr/>
        </p:nvSpPr>
        <p:spPr>
          <a:xfrm>
            <a:off x="4617720" y="3657600"/>
            <a:ext cx="2926080" cy="365760"/>
          </a:xfrm>
          <a:prstGeom prst="rect">
            <a:avLst/>
          </a:prstGeom>
          <a:noFill/>
        </p:spPr>
        <p:txBody>
          <a:bodyPr wrap="square" anchor="t">
            <a:spAutoFit/>
          </a:bodyPr>
          <a:lstStyle/>
          <a:p>
            <a:pPr algn="l">
              <a:defRPr sz="2100" b="1">
                <a:solidFill>
                  <a:srgbClr val="071D49"/>
                </a:solidFill>
                <a:latin typeface="Aptos"/>
              </a:defRPr>
            </a:pPr>
            <a:r>
              <a:t>Unaccountable</a:t>
            </a:r>
          </a:p>
        </p:txBody>
      </p:sp>
      <p:sp>
        <p:nvSpPr>
          <p:cNvPr id="13" name="TextBox 12"/>
          <p:cNvSpPr txBox="1"/>
          <p:nvPr/>
        </p:nvSpPr>
        <p:spPr>
          <a:xfrm>
            <a:off x="4617720" y="4160520"/>
            <a:ext cx="2926080" cy="777240"/>
          </a:xfrm>
          <a:prstGeom prst="rect">
            <a:avLst/>
          </a:prstGeom>
          <a:noFill/>
        </p:spPr>
        <p:txBody>
          <a:bodyPr wrap="square" anchor="t">
            <a:spAutoFit/>
          </a:bodyPr>
          <a:lstStyle/>
          <a:p>
            <a:pPr algn="l">
              <a:defRPr sz="1400" b="0">
                <a:solidFill>
                  <a:srgbClr val="53657D"/>
                </a:solidFill>
                <a:latin typeface="Aptos"/>
              </a:defRPr>
            </a:pPr>
            <a:r>
              <a:t>LLM conclusions are difficult to reproduce, challenge or audit after the outcome.</a:t>
            </a:r>
          </a:p>
        </p:txBody>
      </p:sp>
      <p:sp>
        <p:nvSpPr>
          <p:cNvPr id="14" name="Rectangle 13"/>
          <p:cNvSpPr/>
          <p:nvPr/>
        </p:nvSpPr>
        <p:spPr>
          <a:xfrm>
            <a:off x="818388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246120"/>
            <a:ext cx="457200" cy="320040"/>
          </a:xfrm>
          <a:prstGeom prst="rect">
            <a:avLst/>
          </a:prstGeom>
          <a:noFill/>
        </p:spPr>
        <p:txBody>
          <a:bodyPr wrap="square" anchor="t">
            <a:spAutoFit/>
          </a:bodyPr>
          <a:lstStyle/>
          <a:p>
            <a:pPr algn="l">
              <a:defRPr sz="1200" b="1">
                <a:solidFill>
                  <a:srgbClr val="19B5D8"/>
                </a:solidFill>
                <a:latin typeface="Aptos"/>
              </a:defRPr>
            </a:pPr>
            <a:r>
              <a:t>03</a:t>
            </a:r>
          </a:p>
        </p:txBody>
      </p:sp>
      <p:sp>
        <p:nvSpPr>
          <p:cNvPr id="16" name="TextBox 15"/>
          <p:cNvSpPr txBox="1"/>
          <p:nvPr/>
        </p:nvSpPr>
        <p:spPr>
          <a:xfrm>
            <a:off x="8412480" y="3657600"/>
            <a:ext cx="2926080" cy="365760"/>
          </a:xfrm>
          <a:prstGeom prst="rect">
            <a:avLst/>
          </a:prstGeom>
          <a:noFill/>
        </p:spPr>
        <p:txBody>
          <a:bodyPr wrap="square" anchor="t">
            <a:spAutoFit/>
          </a:bodyPr>
          <a:lstStyle/>
          <a:p>
            <a:pPr algn="l">
              <a:defRPr sz="2100" b="1">
                <a:solidFill>
                  <a:srgbClr val="071D49"/>
                </a:solidFill>
                <a:latin typeface="Aptos"/>
              </a:defRPr>
            </a:pPr>
            <a:r>
              <a:t>Unmeasured</a:t>
            </a:r>
          </a:p>
        </p:txBody>
      </p:sp>
      <p:sp>
        <p:nvSpPr>
          <p:cNvPr id="17" name="TextBox 16"/>
          <p:cNvSpPr txBox="1"/>
          <p:nvPr/>
        </p:nvSpPr>
        <p:spPr>
          <a:xfrm>
            <a:off x="8412480" y="4160520"/>
            <a:ext cx="2926080" cy="777240"/>
          </a:xfrm>
          <a:prstGeom prst="rect">
            <a:avLst/>
          </a:prstGeom>
          <a:noFill/>
        </p:spPr>
        <p:txBody>
          <a:bodyPr wrap="square" anchor="t">
            <a:spAutoFit/>
          </a:bodyPr>
          <a:lstStyle/>
          <a:p>
            <a:pPr algn="l">
              <a:defRPr sz="1400" b="0">
                <a:solidFill>
                  <a:srgbClr val="53657D"/>
                </a:solidFill>
                <a:latin typeface="Aptos"/>
              </a:defRPr>
            </a:pPr>
            <a:r>
              <a:t>Most agents do not precommit a forecast and later score whether it was right.</a:t>
            </a:r>
          </a:p>
        </p:txBody>
      </p:sp>
      <p:sp>
        <p:nvSpPr>
          <p:cNvPr id="18" name="TextBox 1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9" name="TextBox 1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03</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SOLUTION</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 scientific proof chain for every trade</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The SIGNAL protocol turns a thesis into a governed, falsifiable decision.</a:t>
            </a:r>
          </a:p>
        </p:txBody>
      </p:sp>
      <p:sp>
        <p:nvSpPr>
          <p:cNvPr id="7" name="Rectangle 6"/>
          <p:cNvSpPr/>
          <p:nvPr/>
        </p:nvSpPr>
        <p:spPr>
          <a:xfrm>
            <a:off x="5029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971800"/>
            <a:ext cx="274320" cy="274320"/>
          </a:xfrm>
          <a:prstGeom prst="rect">
            <a:avLst/>
          </a:prstGeom>
          <a:noFill/>
        </p:spPr>
        <p:txBody>
          <a:bodyPr wrap="square" anchor="t">
            <a:spAutoFit/>
          </a:bodyPr>
          <a:lstStyle/>
          <a:p>
            <a:pPr algn="l">
              <a:defRPr sz="1100" b="1">
                <a:solidFill>
                  <a:srgbClr val="19B5D8"/>
                </a:solidFill>
                <a:latin typeface="Aptos"/>
              </a:defRPr>
            </a:pPr>
            <a:r>
              <a:t>1</a:t>
            </a:r>
          </a:p>
        </p:txBody>
      </p:sp>
      <p:sp>
        <p:nvSpPr>
          <p:cNvPr id="9" name="TextBox 8"/>
          <p:cNvSpPr txBox="1"/>
          <p:nvPr/>
        </p:nvSpPr>
        <p:spPr>
          <a:xfrm>
            <a:off x="667512" y="3355848"/>
            <a:ext cx="1234440" cy="274320"/>
          </a:xfrm>
          <a:prstGeom prst="rect">
            <a:avLst/>
          </a:prstGeom>
          <a:noFill/>
        </p:spPr>
        <p:txBody>
          <a:bodyPr wrap="square" anchor="t">
            <a:spAutoFit/>
          </a:bodyPr>
          <a:lstStyle/>
          <a:p>
            <a:pPr algn="l">
              <a:defRPr sz="1600" b="1">
                <a:solidFill>
                  <a:srgbClr val="071D49"/>
                </a:solidFill>
                <a:latin typeface="Aptos"/>
              </a:defRPr>
            </a:pPr>
            <a:r>
              <a:t>Source</a:t>
            </a:r>
          </a:p>
        </p:txBody>
      </p:sp>
      <p:sp>
        <p:nvSpPr>
          <p:cNvPr id="10" name="TextBox 9"/>
          <p:cNvSpPr txBox="1"/>
          <p:nvPr/>
        </p:nvSpPr>
        <p:spPr>
          <a:xfrm>
            <a:off x="667512" y="3703320"/>
            <a:ext cx="1234440" cy="228600"/>
          </a:xfrm>
          <a:prstGeom prst="rect">
            <a:avLst/>
          </a:prstGeom>
          <a:noFill/>
        </p:spPr>
        <p:txBody>
          <a:bodyPr wrap="square" anchor="t">
            <a:spAutoFit/>
          </a:bodyPr>
          <a:lstStyle/>
          <a:p>
            <a:pPr algn="l">
              <a:defRPr sz="900" b="0">
                <a:solidFill>
                  <a:srgbClr val="53657D"/>
                </a:solidFill>
                <a:latin typeface="Aptos"/>
              </a:defRPr>
            </a:pPr>
            <a:r>
              <a:t>Provenance</a:t>
            </a:r>
          </a:p>
        </p:txBody>
      </p:sp>
      <p:sp>
        <p:nvSpPr>
          <p:cNvPr id="11" name="TextBox 10"/>
          <p:cNvSpPr txBox="1"/>
          <p:nvPr/>
        </p:nvSpPr>
        <p:spPr>
          <a:xfrm>
            <a:off x="211226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2" name="Rectangle 11"/>
          <p:cNvSpPr/>
          <p:nvPr/>
        </p:nvSpPr>
        <p:spPr>
          <a:xfrm>
            <a:off x="242316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87752" y="2971800"/>
            <a:ext cx="274320" cy="274320"/>
          </a:xfrm>
          <a:prstGeom prst="rect">
            <a:avLst/>
          </a:prstGeom>
          <a:noFill/>
        </p:spPr>
        <p:txBody>
          <a:bodyPr wrap="square" anchor="t">
            <a:spAutoFit/>
          </a:bodyPr>
          <a:lstStyle/>
          <a:p>
            <a:pPr algn="l">
              <a:defRPr sz="1100" b="1">
                <a:solidFill>
                  <a:srgbClr val="19B5D8"/>
                </a:solidFill>
                <a:latin typeface="Aptos"/>
              </a:defRPr>
            </a:pPr>
            <a:r>
              <a:t>2</a:t>
            </a:r>
          </a:p>
        </p:txBody>
      </p:sp>
      <p:sp>
        <p:nvSpPr>
          <p:cNvPr id="14" name="TextBox 13"/>
          <p:cNvSpPr txBox="1"/>
          <p:nvPr/>
        </p:nvSpPr>
        <p:spPr>
          <a:xfrm>
            <a:off x="2587752" y="3355848"/>
            <a:ext cx="1234440" cy="274320"/>
          </a:xfrm>
          <a:prstGeom prst="rect">
            <a:avLst/>
          </a:prstGeom>
          <a:noFill/>
        </p:spPr>
        <p:txBody>
          <a:bodyPr wrap="square" anchor="t">
            <a:spAutoFit/>
          </a:bodyPr>
          <a:lstStyle/>
          <a:p>
            <a:pPr algn="l">
              <a:defRPr sz="1600" b="1">
                <a:solidFill>
                  <a:srgbClr val="071D49"/>
                </a:solidFill>
                <a:latin typeface="Aptos"/>
              </a:defRPr>
            </a:pPr>
            <a:r>
              <a:t>Compare</a:t>
            </a:r>
          </a:p>
        </p:txBody>
      </p:sp>
      <p:sp>
        <p:nvSpPr>
          <p:cNvPr id="15" name="TextBox 14"/>
          <p:cNvSpPr txBox="1"/>
          <p:nvPr/>
        </p:nvSpPr>
        <p:spPr>
          <a:xfrm>
            <a:off x="2587752" y="3703320"/>
            <a:ext cx="1234440" cy="228600"/>
          </a:xfrm>
          <a:prstGeom prst="rect">
            <a:avLst/>
          </a:prstGeom>
          <a:noFill/>
        </p:spPr>
        <p:txBody>
          <a:bodyPr wrap="square" anchor="t">
            <a:spAutoFit/>
          </a:bodyPr>
          <a:lstStyle/>
          <a:p>
            <a:pPr algn="l">
              <a:defRPr sz="900" b="0">
                <a:solidFill>
                  <a:srgbClr val="53657D"/>
                </a:solidFill>
                <a:latin typeface="Aptos"/>
              </a:defRPr>
            </a:pPr>
            <a:r>
              <a:t>Disagreement</a:t>
            </a:r>
          </a:p>
        </p:txBody>
      </p:sp>
      <p:sp>
        <p:nvSpPr>
          <p:cNvPr id="16" name="TextBox 15"/>
          <p:cNvSpPr txBox="1"/>
          <p:nvPr/>
        </p:nvSpPr>
        <p:spPr>
          <a:xfrm>
            <a:off x="403250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7" name="Rectangle 16"/>
          <p:cNvSpPr/>
          <p:nvPr/>
        </p:nvSpPr>
        <p:spPr>
          <a:xfrm>
            <a:off x="434340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971800"/>
            <a:ext cx="274320" cy="274320"/>
          </a:xfrm>
          <a:prstGeom prst="rect">
            <a:avLst/>
          </a:prstGeom>
          <a:noFill/>
        </p:spPr>
        <p:txBody>
          <a:bodyPr wrap="square" anchor="t">
            <a:spAutoFit/>
          </a:bodyPr>
          <a:lstStyle/>
          <a:p>
            <a:pPr algn="l">
              <a:defRPr sz="1100" b="1">
                <a:solidFill>
                  <a:srgbClr val="19B5D8"/>
                </a:solidFill>
                <a:latin typeface="Aptos"/>
              </a:defRPr>
            </a:pPr>
            <a:r>
              <a:t>3</a:t>
            </a:r>
          </a:p>
        </p:txBody>
      </p:sp>
      <p:sp>
        <p:nvSpPr>
          <p:cNvPr id="19" name="TextBox 18"/>
          <p:cNvSpPr txBox="1"/>
          <p:nvPr/>
        </p:nvSpPr>
        <p:spPr>
          <a:xfrm>
            <a:off x="4507992" y="3355848"/>
            <a:ext cx="1234440" cy="274320"/>
          </a:xfrm>
          <a:prstGeom prst="rect">
            <a:avLst/>
          </a:prstGeom>
          <a:noFill/>
        </p:spPr>
        <p:txBody>
          <a:bodyPr wrap="square" anchor="t">
            <a:spAutoFit/>
          </a:bodyPr>
          <a:lstStyle/>
          <a:p>
            <a:pPr algn="l">
              <a:defRPr sz="1600" b="1">
                <a:solidFill>
                  <a:srgbClr val="FFFFFF"/>
                </a:solidFill>
                <a:latin typeface="Aptos"/>
              </a:defRPr>
            </a:pPr>
            <a:r>
              <a:t>Challenge</a:t>
            </a:r>
          </a:p>
        </p:txBody>
      </p:sp>
      <p:sp>
        <p:nvSpPr>
          <p:cNvPr id="20" name="TextBox 19"/>
          <p:cNvSpPr txBox="1"/>
          <p:nvPr/>
        </p:nvSpPr>
        <p:spPr>
          <a:xfrm>
            <a:off x="4507992" y="3703320"/>
            <a:ext cx="1234440" cy="228600"/>
          </a:xfrm>
          <a:prstGeom prst="rect">
            <a:avLst/>
          </a:prstGeom>
          <a:noFill/>
        </p:spPr>
        <p:txBody>
          <a:bodyPr wrap="square" anchor="t">
            <a:spAutoFit/>
          </a:bodyPr>
          <a:lstStyle/>
          <a:p>
            <a:pPr algn="l">
              <a:defRPr sz="900" b="0">
                <a:solidFill>
                  <a:srgbClr val="72D4E8"/>
                </a:solidFill>
                <a:latin typeface="Aptos"/>
              </a:defRPr>
            </a:pPr>
            <a:r>
              <a:t>Falsification</a:t>
            </a:r>
          </a:p>
        </p:txBody>
      </p:sp>
      <p:sp>
        <p:nvSpPr>
          <p:cNvPr id="21" name="TextBox 20"/>
          <p:cNvSpPr txBox="1"/>
          <p:nvPr/>
        </p:nvSpPr>
        <p:spPr>
          <a:xfrm>
            <a:off x="595274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2" name="Rectangle 21"/>
          <p:cNvSpPr/>
          <p:nvPr/>
        </p:nvSpPr>
        <p:spPr>
          <a:xfrm>
            <a:off x="626364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2971800"/>
            <a:ext cx="274320" cy="274320"/>
          </a:xfrm>
          <a:prstGeom prst="rect">
            <a:avLst/>
          </a:prstGeom>
          <a:noFill/>
        </p:spPr>
        <p:txBody>
          <a:bodyPr wrap="square" anchor="t">
            <a:spAutoFit/>
          </a:bodyPr>
          <a:lstStyle/>
          <a:p>
            <a:pPr algn="l">
              <a:defRPr sz="1100" b="1">
                <a:solidFill>
                  <a:srgbClr val="19B5D8"/>
                </a:solidFill>
                <a:latin typeface="Aptos"/>
              </a:defRPr>
            </a:pPr>
            <a:r>
              <a:t>4</a:t>
            </a:r>
          </a:p>
        </p:txBody>
      </p:sp>
      <p:sp>
        <p:nvSpPr>
          <p:cNvPr id="24" name="TextBox 23"/>
          <p:cNvSpPr txBox="1"/>
          <p:nvPr/>
        </p:nvSpPr>
        <p:spPr>
          <a:xfrm>
            <a:off x="6428232" y="3355848"/>
            <a:ext cx="1234440" cy="274320"/>
          </a:xfrm>
          <a:prstGeom prst="rect">
            <a:avLst/>
          </a:prstGeom>
          <a:noFill/>
        </p:spPr>
        <p:txBody>
          <a:bodyPr wrap="square" anchor="t">
            <a:spAutoFit/>
          </a:bodyPr>
          <a:lstStyle/>
          <a:p>
            <a:pPr algn="l">
              <a:defRPr sz="1600" b="1">
                <a:solidFill>
                  <a:srgbClr val="071D49"/>
                </a:solidFill>
                <a:latin typeface="Aptos"/>
              </a:defRPr>
            </a:pPr>
            <a:r>
              <a:t>Stress</a:t>
            </a:r>
          </a:p>
        </p:txBody>
      </p:sp>
      <p:sp>
        <p:nvSpPr>
          <p:cNvPr id="25" name="TextBox 24"/>
          <p:cNvSpPr txBox="1"/>
          <p:nvPr/>
        </p:nvSpPr>
        <p:spPr>
          <a:xfrm>
            <a:off x="6428232" y="3703320"/>
            <a:ext cx="1234440" cy="228600"/>
          </a:xfrm>
          <a:prstGeom prst="rect">
            <a:avLst/>
          </a:prstGeom>
          <a:noFill/>
        </p:spPr>
        <p:txBody>
          <a:bodyPr wrap="square" anchor="t">
            <a:spAutoFit/>
          </a:bodyPr>
          <a:lstStyle/>
          <a:p>
            <a:pPr algn="l">
              <a:defRPr sz="900" b="0">
                <a:solidFill>
                  <a:srgbClr val="53657D"/>
                </a:solidFill>
                <a:latin typeface="Aptos"/>
              </a:defRPr>
            </a:pPr>
            <a:r>
              <a:t>Greeks</a:t>
            </a:r>
          </a:p>
        </p:txBody>
      </p:sp>
      <p:sp>
        <p:nvSpPr>
          <p:cNvPr id="26" name="TextBox 25"/>
          <p:cNvSpPr txBox="1"/>
          <p:nvPr/>
        </p:nvSpPr>
        <p:spPr>
          <a:xfrm>
            <a:off x="787298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7" name="Rectangle 26"/>
          <p:cNvSpPr/>
          <p:nvPr/>
        </p:nvSpPr>
        <p:spPr>
          <a:xfrm>
            <a:off x="818388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2" y="2971800"/>
            <a:ext cx="274320" cy="274320"/>
          </a:xfrm>
          <a:prstGeom prst="rect">
            <a:avLst/>
          </a:prstGeom>
          <a:noFill/>
        </p:spPr>
        <p:txBody>
          <a:bodyPr wrap="square" anchor="t">
            <a:spAutoFit/>
          </a:bodyPr>
          <a:lstStyle/>
          <a:p>
            <a:pPr algn="l">
              <a:defRPr sz="1100" b="1">
                <a:solidFill>
                  <a:srgbClr val="19B5D8"/>
                </a:solidFill>
                <a:latin typeface="Aptos"/>
              </a:defRPr>
            </a:pPr>
            <a:r>
              <a:t>5</a:t>
            </a:r>
          </a:p>
        </p:txBody>
      </p:sp>
      <p:sp>
        <p:nvSpPr>
          <p:cNvPr id="29" name="TextBox 28"/>
          <p:cNvSpPr txBox="1"/>
          <p:nvPr/>
        </p:nvSpPr>
        <p:spPr>
          <a:xfrm>
            <a:off x="8348472" y="3355848"/>
            <a:ext cx="1234440" cy="274320"/>
          </a:xfrm>
          <a:prstGeom prst="rect">
            <a:avLst/>
          </a:prstGeom>
          <a:noFill/>
        </p:spPr>
        <p:txBody>
          <a:bodyPr wrap="square" anchor="t">
            <a:spAutoFit/>
          </a:bodyPr>
          <a:lstStyle/>
          <a:p>
            <a:pPr algn="l">
              <a:defRPr sz="1600" b="1">
                <a:solidFill>
                  <a:srgbClr val="FFFFFF"/>
                </a:solidFill>
                <a:latin typeface="Aptos"/>
              </a:defRPr>
            </a:pPr>
            <a:r>
              <a:t>Seal</a:t>
            </a:r>
          </a:p>
        </p:txBody>
      </p:sp>
      <p:sp>
        <p:nvSpPr>
          <p:cNvPr id="30" name="TextBox 29"/>
          <p:cNvSpPr txBox="1"/>
          <p:nvPr/>
        </p:nvSpPr>
        <p:spPr>
          <a:xfrm>
            <a:off x="8348472" y="3703320"/>
            <a:ext cx="1234440" cy="228600"/>
          </a:xfrm>
          <a:prstGeom prst="rect">
            <a:avLst/>
          </a:prstGeom>
          <a:noFill/>
        </p:spPr>
        <p:txBody>
          <a:bodyPr wrap="square" anchor="t">
            <a:spAutoFit/>
          </a:bodyPr>
          <a:lstStyle/>
          <a:p>
            <a:pPr algn="l">
              <a:defRPr sz="900" b="0">
                <a:solidFill>
                  <a:srgbClr val="72D4E8"/>
                </a:solidFill>
                <a:latin typeface="Aptos"/>
              </a:defRPr>
            </a:pPr>
            <a:r>
              <a:t>SHA-256</a:t>
            </a:r>
          </a:p>
        </p:txBody>
      </p:sp>
      <p:sp>
        <p:nvSpPr>
          <p:cNvPr id="31" name="TextBox 30"/>
          <p:cNvSpPr txBox="1"/>
          <p:nvPr/>
        </p:nvSpPr>
        <p:spPr>
          <a:xfrm>
            <a:off x="979322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32" name="Rectangle 31"/>
          <p:cNvSpPr/>
          <p:nvPr/>
        </p:nvSpPr>
        <p:spPr>
          <a:xfrm>
            <a:off x="101041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2971800"/>
            <a:ext cx="274320" cy="274320"/>
          </a:xfrm>
          <a:prstGeom prst="rect">
            <a:avLst/>
          </a:prstGeom>
          <a:noFill/>
        </p:spPr>
        <p:txBody>
          <a:bodyPr wrap="square" anchor="t">
            <a:spAutoFit/>
          </a:bodyPr>
          <a:lstStyle/>
          <a:p>
            <a:pPr algn="l">
              <a:defRPr sz="1100" b="1">
                <a:solidFill>
                  <a:srgbClr val="19B5D8"/>
                </a:solidFill>
                <a:latin typeface="Aptos"/>
              </a:defRPr>
            </a:pPr>
            <a:r>
              <a:t>6</a:t>
            </a:r>
          </a:p>
        </p:txBody>
      </p:sp>
      <p:sp>
        <p:nvSpPr>
          <p:cNvPr id="34" name="TextBox 33"/>
          <p:cNvSpPr txBox="1"/>
          <p:nvPr/>
        </p:nvSpPr>
        <p:spPr>
          <a:xfrm>
            <a:off x="10268712" y="3355848"/>
            <a:ext cx="1234440" cy="274320"/>
          </a:xfrm>
          <a:prstGeom prst="rect">
            <a:avLst/>
          </a:prstGeom>
          <a:noFill/>
        </p:spPr>
        <p:txBody>
          <a:bodyPr wrap="square" anchor="t">
            <a:spAutoFit/>
          </a:bodyPr>
          <a:lstStyle/>
          <a:p>
            <a:pPr algn="l">
              <a:defRPr sz="1600" b="1">
                <a:solidFill>
                  <a:srgbClr val="071D49"/>
                </a:solidFill>
                <a:latin typeface="Aptos"/>
              </a:defRPr>
            </a:pPr>
            <a:r>
              <a:t>Score</a:t>
            </a:r>
          </a:p>
        </p:txBody>
      </p:sp>
      <p:sp>
        <p:nvSpPr>
          <p:cNvPr id="35" name="TextBox 34"/>
          <p:cNvSpPr txBox="1"/>
          <p:nvPr/>
        </p:nvSpPr>
        <p:spPr>
          <a:xfrm>
            <a:off x="10268712" y="3703320"/>
            <a:ext cx="1234440" cy="228600"/>
          </a:xfrm>
          <a:prstGeom prst="rect">
            <a:avLst/>
          </a:prstGeom>
          <a:noFill/>
        </p:spPr>
        <p:txBody>
          <a:bodyPr wrap="square" anchor="t">
            <a:spAutoFit/>
          </a:bodyPr>
          <a:lstStyle/>
          <a:p>
            <a:pPr algn="l">
              <a:defRPr sz="900" b="0">
                <a:solidFill>
                  <a:srgbClr val="53657D"/>
                </a:solidFill>
                <a:latin typeface="Aptos"/>
              </a:defRPr>
            </a:pPr>
            <a:r>
              <a:t>Outcome</a:t>
            </a:r>
          </a:p>
        </p:txBody>
      </p:sp>
      <p:sp>
        <p:nvSpPr>
          <p:cNvPr id="36" name="Rectangle 35"/>
          <p:cNvSpPr/>
          <p:nvPr/>
        </p:nvSpPr>
        <p:spPr>
          <a:xfrm>
            <a:off x="594360" y="4800600"/>
            <a:ext cx="10972800" cy="658368"/>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001768"/>
            <a:ext cx="10424160" cy="274320"/>
          </a:xfrm>
          <a:prstGeom prst="rect">
            <a:avLst/>
          </a:prstGeom>
          <a:noFill/>
        </p:spPr>
        <p:txBody>
          <a:bodyPr wrap="square" anchor="t">
            <a:spAutoFit/>
          </a:bodyPr>
          <a:lstStyle/>
          <a:p>
            <a:pPr algn="ctr">
              <a:defRPr sz="1600" b="1">
                <a:solidFill>
                  <a:srgbClr val="FFFFFF"/>
                </a:solidFill>
                <a:latin typeface="Aptos"/>
              </a:defRPr>
            </a:pPr>
            <a:r>
              <a:t>ABSTAIN is a successful outcome when evidence or execution quality is insufficient.</a:t>
            </a:r>
          </a:p>
        </p:txBody>
      </p:sp>
      <p:sp>
        <p:nvSpPr>
          <p:cNvPr id="38" name="TextBox 3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9" name="TextBox 3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04</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TECHNOLOGY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Alpaca is the market and execution backbone</a:t>
            </a:r>
          </a:p>
        </p:txBody>
      </p:sp>
      <p:sp>
        <p:nvSpPr>
          <p:cNvPr id="6" name="Rectangle 5"/>
          <p:cNvSpPr/>
          <p:nvPr/>
        </p:nvSpPr>
        <p:spPr>
          <a:xfrm>
            <a:off x="59436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560320"/>
            <a:ext cx="2468880" cy="274320"/>
          </a:xfrm>
          <a:prstGeom prst="rect">
            <a:avLst/>
          </a:prstGeom>
          <a:noFill/>
        </p:spPr>
        <p:txBody>
          <a:bodyPr wrap="square" anchor="t">
            <a:spAutoFit/>
          </a:bodyPr>
          <a:lstStyle/>
          <a:p>
            <a:pPr algn="l">
              <a:defRPr sz="1100" b="1">
                <a:solidFill>
                  <a:srgbClr val="19B5D8"/>
                </a:solidFill>
                <a:latin typeface="Aptos"/>
              </a:defRPr>
            </a:pPr>
            <a:r>
              <a:t>LIVE EVIDENCE</a:t>
            </a:r>
          </a:p>
        </p:txBody>
      </p:sp>
      <p:sp>
        <p:nvSpPr>
          <p:cNvPr id="8" name="TextBox 7"/>
          <p:cNvSpPr txBox="1"/>
          <p:nvPr/>
        </p:nvSpPr>
        <p:spPr>
          <a:xfrm>
            <a:off x="86868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Stocks and options</a:t>
            </a:r>
          </a:p>
          <a:p>
            <a:pPr>
              <a:spcAft>
                <a:spcPts val="1400"/>
              </a:spcAft>
              <a:defRPr sz="1500">
                <a:solidFill>
                  <a:srgbClr val="071D49"/>
                </a:solidFill>
                <a:latin typeface="Aptos"/>
              </a:defRPr>
            </a:pPr>
            <a:r>
              <a:t>•  Quotes, volume and Greeks</a:t>
            </a:r>
          </a:p>
          <a:p>
            <a:pPr>
              <a:spcAft>
                <a:spcPts val="1400"/>
              </a:spcAft>
              <a:defRPr sz="1500">
                <a:solidFill>
                  <a:srgbClr val="071D49"/>
                </a:solidFill>
                <a:latin typeface="Aptos"/>
              </a:defRPr>
            </a:pPr>
            <a:r>
              <a:t>•  Account and positions</a:t>
            </a:r>
          </a:p>
          <a:p>
            <a:pPr>
              <a:spcAft>
                <a:spcPts val="1400"/>
              </a:spcAft>
              <a:defRPr sz="1500">
                <a:solidFill>
                  <a:srgbClr val="071D49"/>
                </a:solidFill>
                <a:latin typeface="Aptos"/>
              </a:defRPr>
            </a:pPr>
            <a:r>
              <a:t>•  Alpaca News context</a:t>
            </a:r>
          </a:p>
        </p:txBody>
      </p:sp>
      <p:sp>
        <p:nvSpPr>
          <p:cNvPr id="9" name="Rectangle 8"/>
          <p:cNvSpPr/>
          <p:nvPr/>
        </p:nvSpPr>
        <p:spPr>
          <a:xfrm>
            <a:off x="4572000" y="2240280"/>
            <a:ext cx="2971800" cy="306324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2560320"/>
            <a:ext cx="2423160" cy="274320"/>
          </a:xfrm>
          <a:prstGeom prst="rect">
            <a:avLst/>
          </a:prstGeom>
          <a:noFill/>
        </p:spPr>
        <p:txBody>
          <a:bodyPr wrap="square" anchor="t">
            <a:spAutoFit/>
          </a:bodyPr>
          <a:lstStyle/>
          <a:p>
            <a:pPr algn="l">
              <a:defRPr sz="1100" b="1">
                <a:solidFill>
                  <a:srgbClr val="72D4E8"/>
                </a:solidFill>
                <a:latin typeface="Aptos"/>
              </a:defRPr>
            </a:pPr>
            <a:r>
              <a:t>CROSSSIGNAL</a:t>
            </a:r>
          </a:p>
        </p:txBody>
      </p:sp>
      <p:sp>
        <p:nvSpPr>
          <p:cNvPr id="11" name="TextBox 10"/>
          <p:cNvSpPr txBox="1"/>
          <p:nvPr/>
        </p:nvSpPr>
        <p:spPr>
          <a:xfrm>
            <a:off x="4846320" y="3063240"/>
            <a:ext cx="2423160" cy="1645920"/>
          </a:xfrm>
          <a:prstGeom prst="rect">
            <a:avLst/>
          </a:prstGeom>
          <a:noFill/>
        </p:spPr>
        <p:txBody>
          <a:bodyPr wrap="square">
            <a:spAutoFit/>
          </a:bodyPr>
          <a:lstStyle/>
          <a:p>
            <a:pPr>
              <a:spcAft>
                <a:spcPts val="1400"/>
              </a:spcAft>
              <a:defRPr sz="1500">
                <a:solidFill>
                  <a:srgbClr val="FFFFFF"/>
                </a:solidFill>
                <a:latin typeface="Aptos"/>
              </a:defRPr>
            </a:pPr>
            <a:r>
              <a:t>•  Claude macro synthesis</a:t>
            </a:r>
          </a:p>
          <a:p>
            <a:pPr>
              <a:spcAft>
                <a:spcPts val="1400"/>
              </a:spcAft>
              <a:defRPr sz="1500">
                <a:solidFill>
                  <a:srgbClr val="FFFFFF"/>
                </a:solidFill>
                <a:latin typeface="Aptos"/>
              </a:defRPr>
            </a:pPr>
            <a:r>
              <a:t>•  Deterministic construction</a:t>
            </a:r>
          </a:p>
          <a:p>
            <a:pPr>
              <a:spcAft>
                <a:spcPts val="1400"/>
              </a:spcAft>
              <a:defRPr sz="1500">
                <a:solidFill>
                  <a:srgbClr val="FFFFFF"/>
                </a:solidFill>
                <a:latin typeface="Aptos"/>
              </a:defRPr>
            </a:pPr>
            <a:r>
              <a:t>•  Risk and stability gates</a:t>
            </a:r>
          </a:p>
          <a:p>
            <a:pPr>
              <a:spcAft>
                <a:spcPts val="1400"/>
              </a:spcAft>
              <a:defRPr sz="1500">
                <a:solidFill>
                  <a:srgbClr val="FFFFFF"/>
                </a:solidFill>
                <a:latin typeface="Aptos"/>
              </a:defRPr>
            </a:pPr>
            <a:r>
              <a:t>•  Sealed Decision Contract</a:t>
            </a:r>
          </a:p>
        </p:txBody>
      </p:sp>
      <p:sp>
        <p:nvSpPr>
          <p:cNvPr id="12" name="Rectangle 11"/>
          <p:cNvSpPr/>
          <p:nvPr/>
        </p:nvSpPr>
        <p:spPr>
          <a:xfrm>
            <a:off x="854964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60" y="2560320"/>
            <a:ext cx="2423160" cy="274320"/>
          </a:xfrm>
          <a:prstGeom prst="rect">
            <a:avLst/>
          </a:prstGeom>
          <a:noFill/>
        </p:spPr>
        <p:txBody>
          <a:bodyPr wrap="square" anchor="t">
            <a:spAutoFit/>
          </a:bodyPr>
          <a:lstStyle/>
          <a:p>
            <a:pPr algn="l">
              <a:defRPr sz="1100" b="1">
                <a:solidFill>
                  <a:srgbClr val="19B5D8"/>
                </a:solidFill>
                <a:latin typeface="Aptos"/>
              </a:defRPr>
            </a:pPr>
            <a:r>
              <a:t>PAPER LIFECYCLE</a:t>
            </a:r>
          </a:p>
        </p:txBody>
      </p:sp>
      <p:sp>
        <p:nvSpPr>
          <p:cNvPr id="14" name="TextBox 13"/>
          <p:cNvSpPr txBox="1"/>
          <p:nvPr/>
        </p:nvSpPr>
        <p:spPr>
          <a:xfrm>
            <a:off x="882396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All-leg preflight</a:t>
            </a:r>
          </a:p>
          <a:p>
            <a:pPr>
              <a:spcAft>
                <a:spcPts val="1400"/>
              </a:spcAft>
              <a:defRPr sz="1500">
                <a:solidFill>
                  <a:srgbClr val="071D49"/>
                </a:solidFill>
                <a:latin typeface="Aptos"/>
              </a:defRPr>
            </a:pPr>
            <a:r>
              <a:t>•  Multi-leg paper orders</a:t>
            </a:r>
          </a:p>
          <a:p>
            <a:pPr>
              <a:spcAft>
                <a:spcPts val="1400"/>
              </a:spcAft>
              <a:defRPr sz="1500">
                <a:solidFill>
                  <a:srgbClr val="071D49"/>
                </a:solidFill>
                <a:latin typeface="Aptos"/>
              </a:defRPr>
            </a:pPr>
            <a:r>
              <a:t>•  Fill reconciliation</a:t>
            </a:r>
          </a:p>
          <a:p>
            <a:pPr>
              <a:spcAft>
                <a:spcPts val="1400"/>
              </a:spcAft>
              <a:defRPr sz="1500">
                <a:solidFill>
                  <a:srgbClr val="071D49"/>
                </a:solidFill>
                <a:latin typeface="Aptos"/>
              </a:defRPr>
            </a:pPr>
            <a:r>
              <a:t>•  Explicit recovery state</a:t>
            </a:r>
          </a:p>
        </p:txBody>
      </p:sp>
      <p:sp>
        <p:nvSpPr>
          <p:cNvPr id="15" name="TextBox 14"/>
          <p:cNvSpPr txBox="1"/>
          <p:nvPr/>
        </p:nvSpPr>
        <p:spPr>
          <a:xfrm>
            <a:off x="382219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6" name="TextBox 15"/>
          <p:cNvSpPr txBox="1"/>
          <p:nvPr/>
        </p:nvSpPr>
        <p:spPr>
          <a:xfrm>
            <a:off x="779983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7" name="TextBox 16"/>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8" name="TextBox 17"/>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05</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DEFENSIBILITY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One scorecard. A decision that defends itself.</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Signal strength never gets to hide weak execution evidence.</a:t>
            </a:r>
          </a:p>
        </p:txBody>
      </p:sp>
      <p:sp>
        <p:nvSpPr>
          <p:cNvPr id="7" name="Rectangle 6"/>
          <p:cNvSpPr/>
          <p:nvPr/>
        </p:nvSpPr>
        <p:spPr>
          <a:xfrm>
            <a:off x="594360"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2121408" cy="411480"/>
          </a:xfrm>
          <a:prstGeom prst="rect">
            <a:avLst/>
          </a:prstGeom>
          <a:noFill/>
        </p:spPr>
        <p:txBody>
          <a:bodyPr wrap="square" anchor="t">
            <a:spAutoFit/>
          </a:bodyPr>
          <a:lstStyle/>
          <a:p>
            <a:pPr algn="ctr">
              <a:defRPr sz="2400" b="1">
                <a:solidFill>
                  <a:srgbClr val="071D49"/>
                </a:solidFill>
                <a:latin typeface="Aptos"/>
              </a:defRPr>
            </a:pPr>
            <a:r>
              <a:t>82</a:t>
            </a:r>
          </a:p>
        </p:txBody>
      </p:sp>
      <p:sp>
        <p:nvSpPr>
          <p:cNvPr id="9" name="TextBox 8"/>
          <p:cNvSpPr txBox="1"/>
          <p:nvPr/>
        </p:nvSpPr>
        <p:spPr>
          <a:xfrm>
            <a:off x="777240" y="3127248"/>
            <a:ext cx="2121408" cy="228600"/>
          </a:xfrm>
          <a:prstGeom prst="rect">
            <a:avLst/>
          </a:prstGeom>
          <a:noFill/>
        </p:spPr>
        <p:txBody>
          <a:bodyPr wrap="square" anchor="t">
            <a:spAutoFit/>
          </a:bodyPr>
          <a:lstStyle/>
          <a:p>
            <a:pPr algn="ctr">
              <a:defRPr sz="1100" b="1">
                <a:solidFill>
                  <a:srgbClr val="53657D"/>
                </a:solidFill>
                <a:latin typeface="Aptos"/>
              </a:defRPr>
            </a:pPr>
            <a:r>
              <a:t>Signal quality</a:t>
            </a:r>
          </a:p>
        </p:txBody>
      </p:sp>
      <p:sp>
        <p:nvSpPr>
          <p:cNvPr id="10" name="Rectangle 9"/>
          <p:cNvSpPr/>
          <p:nvPr/>
        </p:nvSpPr>
        <p:spPr>
          <a:xfrm>
            <a:off x="3355848"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2633472"/>
            <a:ext cx="2121408" cy="411480"/>
          </a:xfrm>
          <a:prstGeom prst="rect">
            <a:avLst/>
          </a:prstGeom>
          <a:noFill/>
        </p:spPr>
        <p:txBody>
          <a:bodyPr wrap="square" anchor="t">
            <a:spAutoFit/>
          </a:bodyPr>
          <a:lstStyle/>
          <a:p>
            <a:pPr algn="ctr">
              <a:defRPr sz="2400" b="1">
                <a:solidFill>
                  <a:srgbClr val="071D49"/>
                </a:solidFill>
                <a:latin typeface="Aptos"/>
              </a:defRPr>
            </a:pPr>
            <a:r>
              <a:t>100</a:t>
            </a:r>
          </a:p>
        </p:txBody>
      </p:sp>
      <p:sp>
        <p:nvSpPr>
          <p:cNvPr id="12" name="TextBox 11"/>
          <p:cNvSpPr txBox="1"/>
          <p:nvPr/>
        </p:nvSpPr>
        <p:spPr>
          <a:xfrm>
            <a:off x="3538728" y="3127248"/>
            <a:ext cx="2121408" cy="228600"/>
          </a:xfrm>
          <a:prstGeom prst="rect">
            <a:avLst/>
          </a:prstGeom>
          <a:noFill/>
        </p:spPr>
        <p:txBody>
          <a:bodyPr wrap="square" anchor="t">
            <a:spAutoFit/>
          </a:bodyPr>
          <a:lstStyle/>
          <a:p>
            <a:pPr algn="ctr">
              <a:defRPr sz="1100" b="1">
                <a:solidFill>
                  <a:srgbClr val="53657D"/>
                </a:solidFill>
                <a:latin typeface="Aptos"/>
              </a:defRPr>
            </a:pPr>
            <a:r>
              <a:t>Decision stability</a:t>
            </a:r>
          </a:p>
        </p:txBody>
      </p:sp>
      <p:sp>
        <p:nvSpPr>
          <p:cNvPr id="13" name="Rectangle 12"/>
          <p:cNvSpPr/>
          <p:nvPr/>
        </p:nvSpPr>
        <p:spPr>
          <a:xfrm>
            <a:off x="6117336"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633472"/>
            <a:ext cx="2121408" cy="411480"/>
          </a:xfrm>
          <a:prstGeom prst="rect">
            <a:avLst/>
          </a:prstGeom>
          <a:noFill/>
        </p:spPr>
        <p:txBody>
          <a:bodyPr wrap="square" anchor="t">
            <a:spAutoFit/>
          </a:bodyPr>
          <a:lstStyle/>
          <a:p>
            <a:pPr algn="ctr">
              <a:defRPr sz="2400" b="1">
                <a:solidFill>
                  <a:srgbClr val="071D49"/>
                </a:solidFill>
                <a:latin typeface="Aptos"/>
              </a:defRPr>
            </a:pPr>
            <a:r>
              <a:t>67</a:t>
            </a:r>
          </a:p>
        </p:txBody>
      </p:sp>
      <p:sp>
        <p:nvSpPr>
          <p:cNvPr id="15" name="TextBox 14"/>
          <p:cNvSpPr txBox="1"/>
          <p:nvPr/>
        </p:nvSpPr>
        <p:spPr>
          <a:xfrm>
            <a:off x="6300216" y="3127248"/>
            <a:ext cx="2121408" cy="228600"/>
          </a:xfrm>
          <a:prstGeom prst="rect">
            <a:avLst/>
          </a:prstGeom>
          <a:noFill/>
        </p:spPr>
        <p:txBody>
          <a:bodyPr wrap="square" anchor="t">
            <a:spAutoFit/>
          </a:bodyPr>
          <a:lstStyle/>
          <a:p>
            <a:pPr algn="ctr">
              <a:defRPr sz="1100" b="1">
                <a:solidFill>
                  <a:srgbClr val="53657D"/>
                </a:solidFill>
                <a:latin typeface="Aptos"/>
              </a:defRPr>
            </a:pPr>
            <a:r>
              <a:t>Execution quality</a:t>
            </a:r>
          </a:p>
        </p:txBody>
      </p:sp>
      <p:sp>
        <p:nvSpPr>
          <p:cNvPr id="16" name="Rectangle 15"/>
          <p:cNvSpPr/>
          <p:nvPr/>
        </p:nvSpPr>
        <p:spPr>
          <a:xfrm>
            <a:off x="8878824"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2633472"/>
            <a:ext cx="2121408" cy="411480"/>
          </a:xfrm>
          <a:prstGeom prst="rect">
            <a:avLst/>
          </a:prstGeom>
          <a:noFill/>
        </p:spPr>
        <p:txBody>
          <a:bodyPr wrap="square" anchor="t">
            <a:spAutoFit/>
          </a:bodyPr>
          <a:lstStyle/>
          <a:p>
            <a:pPr algn="ctr">
              <a:defRPr sz="2400" b="1">
                <a:solidFill>
                  <a:srgbClr val="071D49"/>
                </a:solidFill>
                <a:latin typeface="Aptos"/>
              </a:defRPr>
            </a:pPr>
            <a:r>
              <a:t>Pending</a:t>
            </a:r>
          </a:p>
        </p:txBody>
      </p:sp>
      <p:sp>
        <p:nvSpPr>
          <p:cNvPr id="18" name="TextBox 17"/>
          <p:cNvSpPr txBox="1"/>
          <p:nvPr/>
        </p:nvSpPr>
        <p:spPr>
          <a:xfrm>
            <a:off x="9061704" y="3127248"/>
            <a:ext cx="2121408" cy="228600"/>
          </a:xfrm>
          <a:prstGeom prst="rect">
            <a:avLst/>
          </a:prstGeom>
          <a:noFill/>
        </p:spPr>
        <p:txBody>
          <a:bodyPr wrap="square" anchor="t">
            <a:spAutoFit/>
          </a:bodyPr>
          <a:lstStyle/>
          <a:p>
            <a:pPr algn="ctr">
              <a:defRPr sz="1100" b="1">
                <a:solidFill>
                  <a:srgbClr val="53657D"/>
                </a:solidFill>
                <a:latin typeface="Aptos"/>
              </a:defRPr>
            </a:pPr>
            <a:r>
              <a:t>Outcome evidence</a:t>
            </a:r>
          </a:p>
        </p:txBody>
      </p:sp>
      <p:sp>
        <p:nvSpPr>
          <p:cNvPr id="19" name="Rectangle 18"/>
          <p:cNvSpPr/>
          <p:nvPr/>
        </p:nvSpPr>
        <p:spPr>
          <a:xfrm>
            <a:off x="594360" y="3977639"/>
            <a:ext cx="5349240" cy="1261872"/>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2011680" cy="228600"/>
          </a:xfrm>
          <a:prstGeom prst="rect">
            <a:avLst/>
          </a:prstGeom>
          <a:noFill/>
        </p:spPr>
        <p:txBody>
          <a:bodyPr wrap="square" anchor="t">
            <a:spAutoFit/>
          </a:bodyPr>
          <a:lstStyle/>
          <a:p>
            <a:pPr algn="l">
              <a:defRPr sz="1100" b="1">
                <a:solidFill>
                  <a:srgbClr val="72D4E8"/>
                </a:solidFill>
                <a:latin typeface="Aptos"/>
              </a:defRPr>
            </a:pPr>
            <a:r>
              <a:t>PUBLIC JUDGE REPLAY</a:t>
            </a:r>
          </a:p>
        </p:txBody>
      </p:sp>
      <p:sp>
        <p:nvSpPr>
          <p:cNvPr id="21" name="TextBox 20"/>
          <p:cNvSpPr txBox="1"/>
          <p:nvPr/>
        </p:nvSpPr>
        <p:spPr>
          <a:xfrm>
            <a:off x="868680" y="4599432"/>
            <a:ext cx="4480560" cy="274320"/>
          </a:xfrm>
          <a:prstGeom prst="rect">
            <a:avLst/>
          </a:prstGeom>
          <a:noFill/>
        </p:spPr>
        <p:txBody>
          <a:bodyPr wrap="square" anchor="t">
            <a:spAutoFit/>
          </a:bodyPr>
          <a:lstStyle/>
          <a:p>
            <a:pPr algn="l">
              <a:defRPr sz="1700" b="1">
                <a:solidFill>
                  <a:srgbClr val="FFFFFF"/>
                </a:solidFill>
                <a:latin typeface="Aptos"/>
              </a:defRPr>
            </a:pPr>
            <a:r>
              <a:t>Sanitized case, credential-free</a:t>
            </a:r>
          </a:p>
        </p:txBody>
      </p:sp>
      <p:sp>
        <p:nvSpPr>
          <p:cNvPr id="22" name="Rectangle 21"/>
          <p:cNvSpPr/>
          <p:nvPr/>
        </p:nvSpPr>
        <p:spPr>
          <a:xfrm>
            <a:off x="6199632" y="3977639"/>
            <a:ext cx="5349240" cy="1261872"/>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4224528"/>
            <a:ext cx="2103120" cy="228600"/>
          </a:xfrm>
          <a:prstGeom prst="rect">
            <a:avLst/>
          </a:prstGeom>
          <a:noFill/>
        </p:spPr>
        <p:txBody>
          <a:bodyPr wrap="square" anchor="t">
            <a:spAutoFit/>
          </a:bodyPr>
          <a:lstStyle/>
          <a:p>
            <a:pPr algn="l">
              <a:defRPr sz="1100" b="1">
                <a:solidFill>
                  <a:srgbClr val="19B5D8"/>
                </a:solidFill>
                <a:latin typeface="Aptos"/>
              </a:defRPr>
            </a:pPr>
            <a:r>
              <a:t>LIVE DEDICATED ACCOUNT</a:t>
            </a:r>
          </a:p>
        </p:txBody>
      </p:sp>
      <p:sp>
        <p:nvSpPr>
          <p:cNvPr id="24" name="TextBox 23"/>
          <p:cNvSpPr txBox="1"/>
          <p:nvPr/>
        </p:nvSpPr>
        <p:spPr>
          <a:xfrm>
            <a:off x="6473952" y="4599432"/>
            <a:ext cx="4526280" cy="274320"/>
          </a:xfrm>
          <a:prstGeom prst="rect">
            <a:avLst/>
          </a:prstGeom>
          <a:noFill/>
        </p:spPr>
        <p:txBody>
          <a:bodyPr wrap="square" anchor="t">
            <a:spAutoFit/>
          </a:bodyPr>
          <a:lstStyle/>
          <a:p>
            <a:pPr algn="l">
              <a:defRPr sz="1700" b="1">
                <a:solidFill>
                  <a:srgbClr val="071D49"/>
                </a:solidFill>
                <a:latin typeface="Aptos"/>
              </a:defRPr>
            </a:pPr>
            <a:r>
              <a:t>ABSTAIN · 4 of 6 gates passed</a:t>
            </a:r>
          </a:p>
        </p:txBody>
      </p:sp>
      <p:sp>
        <p:nvSpPr>
          <p:cNvPr id="25" name="TextBox 24"/>
          <p:cNvSpPr txBox="1"/>
          <p:nvPr/>
        </p:nvSpPr>
        <p:spPr>
          <a:xfrm>
            <a:off x="685800" y="5650992"/>
            <a:ext cx="10698480" cy="228600"/>
          </a:xfrm>
          <a:prstGeom prst="rect">
            <a:avLst/>
          </a:prstGeom>
          <a:noFill/>
        </p:spPr>
        <p:txBody>
          <a:bodyPr wrap="square" anchor="t">
            <a:spAutoFit/>
          </a:bodyPr>
          <a:lstStyle/>
          <a:p>
            <a:pPr algn="ctr">
              <a:defRPr sz="1100" b="1">
                <a:solidFill>
                  <a:srgbClr val="53657D"/>
                </a:solidFill>
                <a:latin typeface="Aptos"/>
              </a:defRPr>
            </a:pPr>
            <a:r>
              <a:t>CS-20260901-4B6D4392 · account PA3PDTUDIXDU · sealed receipt · zero broker mutations</a:t>
            </a:r>
          </a:p>
        </p:txBody>
      </p:sp>
      <p:sp>
        <p:nvSpPr>
          <p:cNvPr id="26" name="TextBox 25"/>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7" name="TextBox 26"/>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06</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TRUST AND SAFETY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Safe by architecture—not by prompt</a:t>
            </a:r>
          </a:p>
        </p:txBody>
      </p:sp>
      <p:sp>
        <p:nvSpPr>
          <p:cNvPr id="6" name="Rectangle 5"/>
          <p:cNvSpPr/>
          <p:nvPr/>
        </p:nvSpPr>
        <p:spPr>
          <a:xfrm>
            <a:off x="594360"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60320"/>
            <a:ext cx="1143000" cy="256032"/>
          </a:xfrm>
          <a:prstGeom prst="rect">
            <a:avLst/>
          </a:prstGeom>
          <a:noFill/>
        </p:spPr>
        <p:txBody>
          <a:bodyPr wrap="square" anchor="t">
            <a:spAutoFit/>
          </a:bodyPr>
          <a:lstStyle/>
          <a:p>
            <a:pPr algn="l">
              <a:defRPr sz="1100" b="1">
                <a:solidFill>
                  <a:srgbClr val="071D49"/>
                </a:solidFill>
                <a:latin typeface="Aptos"/>
              </a:defRPr>
            </a:pPr>
            <a:r>
              <a:t>Public UI</a:t>
            </a:r>
          </a:p>
        </p:txBody>
      </p:sp>
      <p:sp>
        <p:nvSpPr>
          <p:cNvPr id="9" name="TextBox 8"/>
          <p:cNvSpPr txBox="1"/>
          <p:nvPr/>
        </p:nvSpPr>
        <p:spPr>
          <a:xfrm>
            <a:off x="2103120" y="2560320"/>
            <a:ext cx="1600200" cy="457200"/>
          </a:xfrm>
          <a:prstGeom prst="rect">
            <a:avLst/>
          </a:prstGeom>
          <a:noFill/>
        </p:spPr>
        <p:txBody>
          <a:bodyPr wrap="square" anchor="t">
            <a:spAutoFit/>
          </a:bodyPr>
          <a:lstStyle/>
          <a:p>
            <a:pPr algn="l">
              <a:defRPr sz="1100" b="0">
                <a:solidFill>
                  <a:srgbClr val="53657D"/>
                </a:solidFill>
                <a:latin typeface="Aptos"/>
              </a:defRPr>
            </a:pPr>
            <a:r>
              <a:t>Read-only replay</a:t>
            </a:r>
          </a:p>
        </p:txBody>
      </p:sp>
      <p:sp>
        <p:nvSpPr>
          <p:cNvPr id="10" name="Rectangle 9"/>
          <p:cNvSpPr/>
          <p:nvPr/>
        </p:nvSpPr>
        <p:spPr>
          <a:xfrm>
            <a:off x="4361688"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560320"/>
            <a:ext cx="1143000" cy="256032"/>
          </a:xfrm>
          <a:prstGeom prst="rect">
            <a:avLst/>
          </a:prstGeom>
          <a:noFill/>
        </p:spPr>
        <p:txBody>
          <a:bodyPr wrap="square" anchor="t">
            <a:spAutoFit/>
          </a:bodyPr>
          <a:lstStyle/>
          <a:p>
            <a:pPr algn="l">
              <a:defRPr sz="1100" b="1">
                <a:solidFill>
                  <a:srgbClr val="071D49"/>
                </a:solidFill>
                <a:latin typeface="Aptos"/>
              </a:defRPr>
            </a:pPr>
            <a:r>
              <a:t>Cloud watch</a:t>
            </a:r>
          </a:p>
        </p:txBody>
      </p:sp>
      <p:sp>
        <p:nvSpPr>
          <p:cNvPr id="13" name="TextBox 12"/>
          <p:cNvSpPr txBox="1"/>
          <p:nvPr/>
        </p:nvSpPr>
        <p:spPr>
          <a:xfrm>
            <a:off x="5870448" y="2560320"/>
            <a:ext cx="1600200" cy="457200"/>
          </a:xfrm>
          <a:prstGeom prst="rect">
            <a:avLst/>
          </a:prstGeom>
          <a:noFill/>
        </p:spPr>
        <p:txBody>
          <a:bodyPr wrap="square" anchor="t">
            <a:spAutoFit/>
          </a:bodyPr>
          <a:lstStyle/>
          <a:p>
            <a:pPr algn="l">
              <a:defRPr sz="1100" b="0">
                <a:solidFill>
                  <a:srgbClr val="53657D"/>
                </a:solidFill>
                <a:latin typeface="Aptos"/>
              </a:defRPr>
            </a:pPr>
            <a:r>
              <a:t>Observe only</a:t>
            </a:r>
          </a:p>
        </p:txBody>
      </p:sp>
      <p:sp>
        <p:nvSpPr>
          <p:cNvPr id="14" name="Rectangle 13"/>
          <p:cNvSpPr/>
          <p:nvPr/>
        </p:nvSpPr>
        <p:spPr>
          <a:xfrm>
            <a:off x="8129016"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9016"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3336" y="2560320"/>
            <a:ext cx="1143000" cy="256032"/>
          </a:xfrm>
          <a:prstGeom prst="rect">
            <a:avLst/>
          </a:prstGeom>
          <a:noFill/>
        </p:spPr>
        <p:txBody>
          <a:bodyPr wrap="square" anchor="t">
            <a:spAutoFit/>
          </a:bodyPr>
          <a:lstStyle/>
          <a:p>
            <a:pPr algn="l">
              <a:defRPr sz="1100" b="1">
                <a:solidFill>
                  <a:srgbClr val="071D49"/>
                </a:solidFill>
                <a:latin typeface="Aptos"/>
              </a:defRPr>
            </a:pPr>
            <a:r>
              <a:t>LLM</a:t>
            </a:r>
          </a:p>
        </p:txBody>
      </p:sp>
      <p:sp>
        <p:nvSpPr>
          <p:cNvPr id="17" name="TextBox 16"/>
          <p:cNvSpPr txBox="1"/>
          <p:nvPr/>
        </p:nvSpPr>
        <p:spPr>
          <a:xfrm>
            <a:off x="9637776" y="2560320"/>
            <a:ext cx="1600200" cy="457200"/>
          </a:xfrm>
          <a:prstGeom prst="rect">
            <a:avLst/>
          </a:prstGeom>
          <a:noFill/>
        </p:spPr>
        <p:txBody>
          <a:bodyPr wrap="square" anchor="t">
            <a:spAutoFit/>
          </a:bodyPr>
          <a:lstStyle/>
          <a:p>
            <a:pPr algn="l">
              <a:defRPr sz="1100" b="0">
                <a:solidFill>
                  <a:srgbClr val="53657D"/>
                </a:solidFill>
                <a:latin typeface="Aptos"/>
              </a:defRPr>
            </a:pPr>
            <a:r>
              <a:t>No direct tool access</a:t>
            </a:r>
          </a:p>
        </p:txBody>
      </p:sp>
      <p:sp>
        <p:nvSpPr>
          <p:cNvPr id="18" name="Rectangle 17"/>
          <p:cNvSpPr/>
          <p:nvPr/>
        </p:nvSpPr>
        <p:spPr>
          <a:xfrm>
            <a:off x="594360"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886200"/>
            <a:ext cx="1143000" cy="256032"/>
          </a:xfrm>
          <a:prstGeom prst="rect">
            <a:avLst/>
          </a:prstGeom>
          <a:noFill/>
        </p:spPr>
        <p:txBody>
          <a:bodyPr wrap="square" anchor="t">
            <a:spAutoFit/>
          </a:bodyPr>
          <a:lstStyle/>
          <a:p>
            <a:pPr algn="l">
              <a:defRPr sz="1100" b="1">
                <a:solidFill>
                  <a:srgbClr val="071D49"/>
                </a:solidFill>
                <a:latin typeface="Aptos"/>
              </a:defRPr>
            </a:pPr>
            <a:r>
              <a:t>Evidence</a:t>
            </a:r>
          </a:p>
        </p:txBody>
      </p:sp>
      <p:sp>
        <p:nvSpPr>
          <p:cNvPr id="21" name="TextBox 20"/>
          <p:cNvSpPr txBox="1"/>
          <p:nvPr/>
        </p:nvSpPr>
        <p:spPr>
          <a:xfrm>
            <a:off x="2103120" y="3886200"/>
            <a:ext cx="1600200" cy="457200"/>
          </a:xfrm>
          <a:prstGeom prst="rect">
            <a:avLst/>
          </a:prstGeom>
          <a:noFill/>
        </p:spPr>
        <p:txBody>
          <a:bodyPr wrap="square" anchor="t">
            <a:spAutoFit/>
          </a:bodyPr>
          <a:lstStyle/>
          <a:p>
            <a:pPr algn="l">
              <a:defRPr sz="1100" b="0">
                <a:solidFill>
                  <a:srgbClr val="53657D"/>
                </a:solidFill>
                <a:latin typeface="Aptos"/>
              </a:defRPr>
            </a:pPr>
            <a:r>
              <a:t>Secret-free receipts</a:t>
            </a:r>
          </a:p>
        </p:txBody>
      </p:sp>
      <p:sp>
        <p:nvSpPr>
          <p:cNvPr id="22" name="Rectangle 21"/>
          <p:cNvSpPr/>
          <p:nvPr/>
        </p:nvSpPr>
        <p:spPr>
          <a:xfrm>
            <a:off x="4361688"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61688"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8" y="3886200"/>
            <a:ext cx="1143000" cy="256032"/>
          </a:xfrm>
          <a:prstGeom prst="rect">
            <a:avLst/>
          </a:prstGeom>
          <a:noFill/>
        </p:spPr>
        <p:txBody>
          <a:bodyPr wrap="square" anchor="t">
            <a:spAutoFit/>
          </a:bodyPr>
          <a:lstStyle/>
          <a:p>
            <a:pPr algn="l">
              <a:defRPr sz="1100" b="1">
                <a:solidFill>
                  <a:srgbClr val="071D49"/>
                </a:solidFill>
                <a:latin typeface="Aptos"/>
              </a:defRPr>
            </a:pPr>
            <a:r>
              <a:t>Recovery</a:t>
            </a:r>
          </a:p>
        </p:txBody>
      </p:sp>
      <p:sp>
        <p:nvSpPr>
          <p:cNvPr id="25" name="TextBox 24"/>
          <p:cNvSpPr txBox="1"/>
          <p:nvPr/>
        </p:nvSpPr>
        <p:spPr>
          <a:xfrm>
            <a:off x="5870448" y="3886200"/>
            <a:ext cx="1600200" cy="457200"/>
          </a:xfrm>
          <a:prstGeom prst="rect">
            <a:avLst/>
          </a:prstGeom>
          <a:noFill/>
        </p:spPr>
        <p:txBody>
          <a:bodyPr wrap="square" anchor="t">
            <a:spAutoFit/>
          </a:bodyPr>
          <a:lstStyle/>
          <a:p>
            <a:pPr algn="l">
              <a:defRPr sz="1100" b="0">
                <a:solidFill>
                  <a:srgbClr val="53657D"/>
                </a:solidFill>
                <a:latin typeface="Aptos"/>
              </a:defRPr>
            </a:pPr>
            <a:r>
              <a:t>Explicit approval</a:t>
            </a:r>
          </a:p>
        </p:txBody>
      </p:sp>
      <p:sp>
        <p:nvSpPr>
          <p:cNvPr id="26" name="Rectangle 25"/>
          <p:cNvSpPr/>
          <p:nvPr/>
        </p:nvSpPr>
        <p:spPr>
          <a:xfrm>
            <a:off x="8129016"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9016"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03336" y="3886200"/>
            <a:ext cx="1143000" cy="256032"/>
          </a:xfrm>
          <a:prstGeom prst="rect">
            <a:avLst/>
          </a:prstGeom>
          <a:noFill/>
        </p:spPr>
        <p:txBody>
          <a:bodyPr wrap="square" anchor="t">
            <a:spAutoFit/>
          </a:bodyPr>
          <a:lstStyle/>
          <a:p>
            <a:pPr algn="l">
              <a:defRPr sz="1100" b="1">
                <a:solidFill>
                  <a:srgbClr val="071D49"/>
                </a:solidFill>
                <a:latin typeface="Aptos"/>
              </a:defRPr>
            </a:pPr>
            <a:r>
              <a:t>News</a:t>
            </a:r>
          </a:p>
        </p:txBody>
      </p:sp>
      <p:sp>
        <p:nvSpPr>
          <p:cNvPr id="29" name="TextBox 28"/>
          <p:cNvSpPr txBox="1"/>
          <p:nvPr/>
        </p:nvSpPr>
        <p:spPr>
          <a:xfrm>
            <a:off x="9637776" y="3886200"/>
            <a:ext cx="1600200" cy="457200"/>
          </a:xfrm>
          <a:prstGeom prst="rect">
            <a:avLst/>
          </a:prstGeom>
          <a:noFill/>
        </p:spPr>
        <p:txBody>
          <a:bodyPr wrap="square" anchor="t">
            <a:spAutoFit/>
          </a:bodyPr>
          <a:lstStyle/>
          <a:p>
            <a:pPr algn="l">
              <a:defRPr sz="1100" b="0">
                <a:solidFill>
                  <a:srgbClr val="53657D"/>
                </a:solidFill>
                <a:latin typeface="Aptos"/>
              </a:defRPr>
            </a:pPr>
            <a:r>
              <a:t>Untrusted context</a:t>
            </a:r>
          </a:p>
        </p:txBody>
      </p:sp>
      <p:sp>
        <p:nvSpPr>
          <p:cNvPr id="30" name="Rectangle 29"/>
          <p:cNvSpPr/>
          <p:nvPr/>
        </p:nvSpPr>
        <p:spPr>
          <a:xfrm>
            <a:off x="594360" y="5184648"/>
            <a:ext cx="10972800" cy="530352"/>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349240"/>
            <a:ext cx="10515600" cy="228600"/>
          </a:xfrm>
          <a:prstGeom prst="rect">
            <a:avLst/>
          </a:prstGeom>
          <a:noFill/>
        </p:spPr>
        <p:txBody>
          <a:bodyPr wrap="square" anchor="t">
            <a:spAutoFit/>
          </a:bodyPr>
          <a:lstStyle/>
          <a:p>
            <a:pPr algn="ctr">
              <a:defRPr sz="1300" b="1">
                <a:solidFill>
                  <a:srgbClr val="FFFFFF"/>
                </a:solidFill>
                <a:latin typeface="Aptos"/>
              </a:defRPr>
            </a:pPr>
            <a:r>
              <a:t>NIST AI RMF and SSDF aligned · voluntary and tailorable · not NIST-certified</a:t>
            </a:r>
          </a:p>
        </p:txBody>
      </p:sp>
      <p:sp>
        <p:nvSpPr>
          <p:cNvPr id="32" name="TextBox 31"/>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3" name="TextBox 32"/>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07</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BUSINESS VALUE</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The accountability layer for AI-assisted trading</a:t>
            </a:r>
          </a:p>
        </p:txBody>
      </p:sp>
      <p:sp>
        <p:nvSpPr>
          <p:cNvPr id="6" name="TextBox 5"/>
          <p:cNvSpPr txBox="1"/>
          <p:nvPr/>
        </p:nvSpPr>
        <p:spPr>
          <a:xfrm>
            <a:off x="640080" y="2286000"/>
            <a:ext cx="3200400" cy="274320"/>
          </a:xfrm>
          <a:prstGeom prst="rect">
            <a:avLst/>
          </a:prstGeom>
          <a:noFill/>
        </p:spPr>
        <p:txBody>
          <a:bodyPr wrap="square" anchor="t">
            <a:spAutoFit/>
          </a:bodyPr>
          <a:lstStyle/>
          <a:p>
            <a:pPr algn="l">
              <a:defRPr sz="1100" b="1">
                <a:solidFill>
                  <a:srgbClr val="19B5D8"/>
                </a:solidFill>
                <a:latin typeface="Aptos"/>
              </a:defRPr>
            </a:pPr>
            <a:r>
              <a:t>WHO NEEDS IT</a:t>
            </a:r>
          </a:p>
        </p:txBody>
      </p:sp>
      <p:sp>
        <p:nvSpPr>
          <p:cNvPr id="7" name="TextBox 6"/>
          <p:cNvSpPr txBox="1"/>
          <p:nvPr/>
        </p:nvSpPr>
        <p:spPr>
          <a:xfrm>
            <a:off x="640080" y="2743200"/>
            <a:ext cx="4206240" cy="2011680"/>
          </a:xfrm>
          <a:prstGeom prst="rect">
            <a:avLst/>
          </a:prstGeom>
          <a:noFill/>
        </p:spPr>
        <p:txBody>
          <a:bodyPr wrap="square">
            <a:spAutoFit/>
          </a:bodyPr>
          <a:lstStyle/>
          <a:p>
            <a:pPr>
              <a:spcAft>
                <a:spcPts val="1400"/>
              </a:spcAft>
              <a:defRPr sz="1800">
                <a:solidFill>
                  <a:srgbClr val="071D49"/>
                </a:solidFill>
                <a:latin typeface="Aptos"/>
              </a:defRPr>
            </a:pPr>
            <a:r>
              <a:t>•  Active options traders</a:t>
            </a:r>
          </a:p>
          <a:p>
            <a:pPr>
              <a:spcAft>
                <a:spcPts val="1400"/>
              </a:spcAft>
              <a:defRPr sz="1800">
                <a:solidFill>
                  <a:srgbClr val="071D49"/>
                </a:solidFill>
                <a:latin typeface="Aptos"/>
              </a:defRPr>
            </a:pPr>
            <a:r>
              <a:t>•  Small investment teams</a:t>
            </a:r>
          </a:p>
          <a:p>
            <a:pPr>
              <a:spcAft>
                <a:spcPts val="1400"/>
              </a:spcAft>
              <a:defRPr sz="1800">
                <a:solidFill>
                  <a:srgbClr val="071D49"/>
                </a:solidFill>
                <a:latin typeface="Aptos"/>
              </a:defRPr>
            </a:pPr>
            <a:r>
              <a:t>•  Broker and platform providers</a:t>
            </a:r>
          </a:p>
          <a:p>
            <a:pPr>
              <a:spcAft>
                <a:spcPts val="1400"/>
              </a:spcAft>
              <a:defRPr sz="1800">
                <a:solidFill>
                  <a:srgbClr val="071D49"/>
                </a:solidFill>
                <a:latin typeface="Aptos"/>
              </a:defRPr>
            </a:pPr>
            <a:r>
              <a:t>•  Risk and compliance teams</a:t>
            </a:r>
          </a:p>
        </p:txBody>
      </p:sp>
      <p:sp>
        <p:nvSpPr>
          <p:cNvPr id="8" name="Rectangle 7"/>
          <p:cNvSpPr/>
          <p:nvPr/>
        </p:nvSpPr>
        <p:spPr>
          <a:xfrm>
            <a:off x="4892040" y="2240280"/>
            <a:ext cx="18288" cy="3108960"/>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2286000"/>
            <a:ext cx="3200400" cy="274320"/>
          </a:xfrm>
          <a:prstGeom prst="rect">
            <a:avLst/>
          </a:prstGeom>
          <a:noFill/>
        </p:spPr>
        <p:txBody>
          <a:bodyPr wrap="square" anchor="t">
            <a:spAutoFit/>
          </a:bodyPr>
          <a:lstStyle/>
          <a:p>
            <a:pPr algn="l">
              <a:defRPr sz="1100" b="1">
                <a:solidFill>
                  <a:srgbClr val="19B5D8"/>
                </a:solidFill>
                <a:latin typeface="Aptos"/>
              </a:defRPr>
            </a:pPr>
            <a:r>
              <a:t>HOW IT GROWS</a:t>
            </a:r>
          </a:p>
        </p:txBody>
      </p:sp>
      <p:sp>
        <p:nvSpPr>
          <p:cNvPr id="10" name="TextBox 9"/>
          <p:cNvSpPr txBox="1"/>
          <p:nvPr/>
        </p:nvSpPr>
        <p:spPr>
          <a:xfrm>
            <a:off x="5303520" y="2743200"/>
            <a:ext cx="594360" cy="274320"/>
          </a:xfrm>
          <a:prstGeom prst="rect">
            <a:avLst/>
          </a:prstGeom>
          <a:noFill/>
        </p:spPr>
        <p:txBody>
          <a:bodyPr wrap="square" anchor="t">
            <a:spAutoFit/>
          </a:bodyPr>
          <a:lstStyle/>
          <a:p>
            <a:pPr algn="l">
              <a:defRPr sz="1100" b="1">
                <a:solidFill>
                  <a:srgbClr val="19B5D8"/>
                </a:solidFill>
                <a:latin typeface="Aptos"/>
              </a:defRPr>
            </a:pPr>
            <a:r>
              <a:t>01</a:t>
            </a:r>
          </a:p>
        </p:txBody>
      </p:sp>
      <p:sp>
        <p:nvSpPr>
          <p:cNvPr id="11" name="TextBox 10"/>
          <p:cNvSpPr txBox="1"/>
          <p:nvPr/>
        </p:nvSpPr>
        <p:spPr>
          <a:xfrm>
            <a:off x="5989320" y="2715768"/>
            <a:ext cx="3977639" cy="320040"/>
          </a:xfrm>
          <a:prstGeom prst="rect">
            <a:avLst/>
          </a:prstGeom>
          <a:noFill/>
        </p:spPr>
        <p:txBody>
          <a:bodyPr wrap="square" anchor="t">
            <a:spAutoFit/>
          </a:bodyPr>
          <a:lstStyle/>
          <a:p>
            <a:pPr algn="l">
              <a:defRPr sz="1700" b="1">
                <a:solidFill>
                  <a:srgbClr val="071D49"/>
                </a:solidFill>
                <a:latin typeface="Aptos"/>
              </a:defRPr>
            </a:pPr>
            <a:r>
              <a:t>Professional SaaS</a:t>
            </a:r>
          </a:p>
        </p:txBody>
      </p:sp>
      <p:sp>
        <p:nvSpPr>
          <p:cNvPr id="12" name="TextBox 11"/>
          <p:cNvSpPr txBox="1"/>
          <p:nvPr/>
        </p:nvSpPr>
        <p:spPr>
          <a:xfrm>
            <a:off x="5303520" y="3355848"/>
            <a:ext cx="594360" cy="274320"/>
          </a:xfrm>
          <a:prstGeom prst="rect">
            <a:avLst/>
          </a:prstGeom>
          <a:noFill/>
        </p:spPr>
        <p:txBody>
          <a:bodyPr wrap="square" anchor="t">
            <a:spAutoFit/>
          </a:bodyPr>
          <a:lstStyle/>
          <a:p>
            <a:pPr algn="l">
              <a:defRPr sz="1100" b="1">
                <a:solidFill>
                  <a:srgbClr val="19B5D8"/>
                </a:solidFill>
                <a:latin typeface="Aptos"/>
              </a:defRPr>
            </a:pPr>
            <a:r>
              <a:t>02</a:t>
            </a:r>
          </a:p>
        </p:txBody>
      </p:sp>
      <p:sp>
        <p:nvSpPr>
          <p:cNvPr id="13" name="TextBox 12"/>
          <p:cNvSpPr txBox="1"/>
          <p:nvPr/>
        </p:nvSpPr>
        <p:spPr>
          <a:xfrm>
            <a:off x="5989320" y="3328416"/>
            <a:ext cx="3977639" cy="320040"/>
          </a:xfrm>
          <a:prstGeom prst="rect">
            <a:avLst/>
          </a:prstGeom>
          <a:noFill/>
        </p:spPr>
        <p:txBody>
          <a:bodyPr wrap="square" anchor="t">
            <a:spAutoFit/>
          </a:bodyPr>
          <a:lstStyle/>
          <a:p>
            <a:pPr algn="l">
              <a:defRPr sz="1700" b="1">
                <a:solidFill>
                  <a:srgbClr val="071D49"/>
                </a:solidFill>
                <a:latin typeface="Aptos"/>
              </a:defRPr>
            </a:pPr>
            <a:r>
              <a:t>Team governance</a:t>
            </a:r>
          </a:p>
        </p:txBody>
      </p:sp>
      <p:sp>
        <p:nvSpPr>
          <p:cNvPr id="14" name="TextBox 13"/>
          <p:cNvSpPr txBox="1"/>
          <p:nvPr/>
        </p:nvSpPr>
        <p:spPr>
          <a:xfrm>
            <a:off x="5303520" y="3968496"/>
            <a:ext cx="594360" cy="274320"/>
          </a:xfrm>
          <a:prstGeom prst="rect">
            <a:avLst/>
          </a:prstGeom>
          <a:noFill/>
        </p:spPr>
        <p:txBody>
          <a:bodyPr wrap="square" anchor="t">
            <a:spAutoFit/>
          </a:bodyPr>
          <a:lstStyle/>
          <a:p>
            <a:pPr algn="l">
              <a:defRPr sz="1100" b="1">
                <a:solidFill>
                  <a:srgbClr val="19B5D8"/>
                </a:solidFill>
                <a:latin typeface="Aptos"/>
              </a:defRPr>
            </a:pPr>
            <a:r>
              <a:t>03</a:t>
            </a:r>
          </a:p>
        </p:txBody>
      </p:sp>
      <p:sp>
        <p:nvSpPr>
          <p:cNvPr id="15" name="TextBox 14"/>
          <p:cNvSpPr txBox="1"/>
          <p:nvPr/>
        </p:nvSpPr>
        <p:spPr>
          <a:xfrm>
            <a:off x="5989320" y="3941063"/>
            <a:ext cx="3977639" cy="320040"/>
          </a:xfrm>
          <a:prstGeom prst="rect">
            <a:avLst/>
          </a:prstGeom>
          <a:noFill/>
        </p:spPr>
        <p:txBody>
          <a:bodyPr wrap="square" anchor="t">
            <a:spAutoFit/>
          </a:bodyPr>
          <a:lstStyle/>
          <a:p>
            <a:pPr algn="l">
              <a:defRPr sz="1700" b="1">
                <a:solidFill>
                  <a:srgbClr val="071D49"/>
                </a:solidFill>
                <a:latin typeface="Aptos"/>
              </a:defRPr>
            </a:pPr>
            <a:r>
              <a:t>Broker partnerships</a:t>
            </a:r>
          </a:p>
        </p:txBody>
      </p:sp>
      <p:sp>
        <p:nvSpPr>
          <p:cNvPr id="16" name="TextBox 15"/>
          <p:cNvSpPr txBox="1"/>
          <p:nvPr/>
        </p:nvSpPr>
        <p:spPr>
          <a:xfrm>
            <a:off x="5303520" y="4581144"/>
            <a:ext cx="594360" cy="274320"/>
          </a:xfrm>
          <a:prstGeom prst="rect">
            <a:avLst/>
          </a:prstGeom>
          <a:noFill/>
        </p:spPr>
        <p:txBody>
          <a:bodyPr wrap="square" anchor="t">
            <a:spAutoFit/>
          </a:bodyPr>
          <a:lstStyle/>
          <a:p>
            <a:pPr algn="l">
              <a:defRPr sz="1100" b="1">
                <a:solidFill>
                  <a:srgbClr val="19B5D8"/>
                </a:solidFill>
                <a:latin typeface="Aptos"/>
              </a:defRPr>
            </a:pPr>
            <a:r>
              <a:t>04</a:t>
            </a:r>
          </a:p>
        </p:txBody>
      </p:sp>
      <p:sp>
        <p:nvSpPr>
          <p:cNvPr id="17" name="TextBox 16"/>
          <p:cNvSpPr txBox="1"/>
          <p:nvPr/>
        </p:nvSpPr>
        <p:spPr>
          <a:xfrm>
            <a:off x="5989320" y="4553712"/>
            <a:ext cx="3977639" cy="320040"/>
          </a:xfrm>
          <a:prstGeom prst="rect">
            <a:avLst/>
          </a:prstGeom>
          <a:noFill/>
        </p:spPr>
        <p:txBody>
          <a:bodyPr wrap="square" anchor="t">
            <a:spAutoFit/>
          </a:bodyPr>
          <a:lstStyle/>
          <a:p>
            <a:pPr algn="l">
              <a:defRPr sz="1700" b="1">
                <a:solidFill>
                  <a:srgbClr val="071D49"/>
                </a:solidFill>
                <a:latin typeface="Aptos"/>
              </a:defRPr>
            </a:pPr>
            <a:r>
              <a:t>Enterprise policy APIs</a:t>
            </a:r>
          </a:p>
        </p:txBody>
      </p:sp>
      <p:sp>
        <p:nvSpPr>
          <p:cNvPr id="18" name="Rectangle 17"/>
          <p:cNvSpPr/>
          <p:nvPr/>
        </p:nvSpPr>
        <p:spPr>
          <a:xfrm>
            <a:off x="9646920" y="2240280"/>
            <a:ext cx="1874519" cy="310896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66960" y="2560320"/>
            <a:ext cx="1234440" cy="274320"/>
          </a:xfrm>
          <a:prstGeom prst="rect">
            <a:avLst/>
          </a:prstGeom>
          <a:noFill/>
        </p:spPr>
        <p:txBody>
          <a:bodyPr wrap="square" anchor="t">
            <a:spAutoFit/>
          </a:bodyPr>
          <a:lstStyle/>
          <a:p>
            <a:pPr algn="ctr">
              <a:defRPr sz="1000" b="1">
                <a:solidFill>
                  <a:srgbClr val="72D4E8"/>
                </a:solidFill>
                <a:latin typeface="Aptos"/>
              </a:defRPr>
            </a:pPr>
            <a:r>
              <a:t>VALUE</a:t>
            </a:r>
          </a:p>
        </p:txBody>
      </p:sp>
      <p:sp>
        <p:nvSpPr>
          <p:cNvPr id="20" name="TextBox 19"/>
          <p:cNvSpPr txBox="1"/>
          <p:nvPr/>
        </p:nvSpPr>
        <p:spPr>
          <a:xfrm>
            <a:off x="9802368" y="3154680"/>
            <a:ext cx="1554480" cy="1600200"/>
          </a:xfrm>
          <a:prstGeom prst="rect">
            <a:avLst/>
          </a:prstGeom>
          <a:noFill/>
        </p:spPr>
        <p:txBody>
          <a:bodyPr wrap="square" anchor="t">
            <a:spAutoFit/>
          </a:bodyPr>
          <a:lstStyle/>
          <a:p>
            <a:pPr algn="ctr">
              <a:defRPr sz="1800" b="1">
                <a:solidFill>
                  <a:srgbClr val="FFFFFF"/>
                </a:solidFill>
                <a:latin typeface="Aptos"/>
              </a:defRPr>
            </a:pPr>
            <a:r>
              <a:t>Faster</a:t>
            </a:r>
            <a:br/>
            <a:r>
              <a:t>review.</a:t>
            </a:r>
            <a:br/>
            <a:r>
              <a:t>Stronger</a:t>
            </a:r>
            <a:br/>
            <a:r>
              <a:t>trust.</a:t>
            </a:r>
          </a:p>
        </p:txBody>
      </p:sp>
      <p:sp>
        <p:nvSpPr>
          <p:cNvPr id="21" name="TextBox 20"/>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2" name="TextBox 21"/>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40080"/>
            <a:ext cx="3657600" cy="274320"/>
          </a:xfrm>
          <a:prstGeom prst="rect">
            <a:avLst/>
          </a:prstGeom>
          <a:noFill/>
        </p:spPr>
        <p:txBody>
          <a:bodyPr wrap="square" anchor="t">
            <a:spAutoFit/>
          </a:bodyPr>
          <a:lstStyle/>
          <a:p>
            <a:pPr algn="l">
              <a:defRPr sz="1100" b="1">
                <a:solidFill>
                  <a:srgbClr val="72D4E8"/>
                </a:solidFill>
                <a:latin typeface="Aptos"/>
              </a:defRPr>
            </a:pPr>
            <a:r>
              <a:t>THE PROOF IS PUBLIC</a:t>
            </a:r>
          </a:p>
        </p:txBody>
      </p:sp>
      <p:sp>
        <p:nvSpPr>
          <p:cNvPr id="4" name="TextBox 3"/>
          <p:cNvSpPr txBox="1"/>
          <p:nvPr/>
        </p:nvSpPr>
        <p:spPr>
          <a:xfrm>
            <a:off x="658368" y="1234440"/>
            <a:ext cx="8046720" cy="1417320"/>
          </a:xfrm>
          <a:prstGeom prst="rect">
            <a:avLst/>
          </a:prstGeom>
          <a:noFill/>
        </p:spPr>
        <p:txBody>
          <a:bodyPr wrap="square" anchor="t">
            <a:spAutoFit/>
          </a:bodyPr>
          <a:lstStyle/>
          <a:p>
            <a:pPr algn="l">
              <a:defRPr sz="3600" b="1">
                <a:solidFill>
                  <a:srgbClr val="FFFFFF"/>
                </a:solidFill>
                <a:latin typeface="Aptos Display"/>
              </a:defRPr>
            </a:pPr>
            <a:r>
              <a:t>Inspect the intelligence.</a:t>
            </a:r>
            <a:br/>
            <a:r>
              <a:t>Challenge the decision.</a:t>
            </a:r>
          </a:p>
        </p:txBody>
      </p:sp>
      <p:sp>
        <p:nvSpPr>
          <p:cNvPr id="5" name="TextBox 4"/>
          <p:cNvSpPr txBox="1"/>
          <p:nvPr/>
        </p:nvSpPr>
        <p:spPr>
          <a:xfrm>
            <a:off x="685800" y="3063240"/>
            <a:ext cx="2011680" cy="502920"/>
          </a:xfrm>
          <a:prstGeom prst="rect">
            <a:avLst/>
          </a:prstGeom>
          <a:noFill/>
        </p:spPr>
        <p:txBody>
          <a:bodyPr wrap="square" anchor="t">
            <a:spAutoFit/>
          </a:bodyPr>
          <a:lstStyle/>
          <a:p>
            <a:pPr algn="l">
              <a:defRPr sz="2700" b="1">
                <a:solidFill>
                  <a:srgbClr val="72D4E8"/>
                </a:solidFill>
                <a:latin typeface="Aptos"/>
              </a:defRPr>
            </a:pPr>
            <a:r>
              <a:t>43</a:t>
            </a:r>
          </a:p>
        </p:txBody>
      </p:sp>
      <p:sp>
        <p:nvSpPr>
          <p:cNvPr id="6" name="TextBox 5"/>
          <p:cNvSpPr txBox="1"/>
          <p:nvPr/>
        </p:nvSpPr>
        <p:spPr>
          <a:xfrm>
            <a:off x="685800" y="3611880"/>
            <a:ext cx="2011680" cy="274320"/>
          </a:xfrm>
          <a:prstGeom prst="rect">
            <a:avLst/>
          </a:prstGeom>
          <a:noFill/>
        </p:spPr>
        <p:txBody>
          <a:bodyPr wrap="square" anchor="t">
            <a:spAutoFit/>
          </a:bodyPr>
          <a:lstStyle/>
          <a:p>
            <a:pPr algn="l">
              <a:defRPr sz="1200" b="0">
                <a:solidFill>
                  <a:srgbClr val="FFFFFF"/>
                </a:solidFill>
                <a:latin typeface="Aptos"/>
              </a:defRPr>
            </a:pPr>
            <a:r>
              <a:t>automated tests</a:t>
            </a:r>
          </a:p>
        </p:txBody>
      </p:sp>
      <p:sp>
        <p:nvSpPr>
          <p:cNvPr id="7" name="TextBox 6"/>
          <p:cNvSpPr txBox="1"/>
          <p:nvPr/>
        </p:nvSpPr>
        <p:spPr>
          <a:xfrm>
            <a:off x="3017520" y="3063240"/>
            <a:ext cx="2011680" cy="502920"/>
          </a:xfrm>
          <a:prstGeom prst="rect">
            <a:avLst/>
          </a:prstGeom>
          <a:noFill/>
        </p:spPr>
        <p:txBody>
          <a:bodyPr wrap="square" anchor="t">
            <a:spAutoFit/>
          </a:bodyPr>
          <a:lstStyle/>
          <a:p>
            <a:pPr algn="l">
              <a:defRPr sz="2700" b="1">
                <a:solidFill>
                  <a:srgbClr val="72D4E8"/>
                </a:solidFill>
                <a:latin typeface="Aptos"/>
              </a:defRPr>
            </a:pPr>
            <a:r>
              <a:t>82/100</a:t>
            </a:r>
          </a:p>
        </p:txBody>
      </p:sp>
      <p:sp>
        <p:nvSpPr>
          <p:cNvPr id="8" name="TextBox 7"/>
          <p:cNvSpPr txBox="1"/>
          <p:nvPr/>
        </p:nvSpPr>
        <p:spPr>
          <a:xfrm>
            <a:off x="3017520" y="3611880"/>
            <a:ext cx="2011680" cy="274320"/>
          </a:xfrm>
          <a:prstGeom prst="rect">
            <a:avLst/>
          </a:prstGeom>
          <a:noFill/>
        </p:spPr>
        <p:txBody>
          <a:bodyPr wrap="square" anchor="t">
            <a:spAutoFit/>
          </a:bodyPr>
          <a:lstStyle/>
          <a:p>
            <a:pPr algn="l">
              <a:defRPr sz="1200" b="0">
                <a:solidFill>
                  <a:srgbClr val="FFFFFF"/>
                </a:solidFill>
                <a:latin typeface="Aptos"/>
              </a:defRPr>
            </a:pPr>
            <a:r>
              <a:t>live signal quality</a:t>
            </a:r>
          </a:p>
        </p:txBody>
      </p:sp>
      <p:sp>
        <p:nvSpPr>
          <p:cNvPr id="9" name="TextBox 8"/>
          <p:cNvSpPr txBox="1"/>
          <p:nvPr/>
        </p:nvSpPr>
        <p:spPr>
          <a:xfrm>
            <a:off x="5349240" y="3063240"/>
            <a:ext cx="2011680" cy="502920"/>
          </a:xfrm>
          <a:prstGeom prst="rect">
            <a:avLst/>
          </a:prstGeom>
          <a:noFill/>
        </p:spPr>
        <p:txBody>
          <a:bodyPr wrap="square" anchor="t">
            <a:spAutoFit/>
          </a:bodyPr>
          <a:lstStyle/>
          <a:p>
            <a:pPr algn="l">
              <a:defRPr sz="2700" b="1">
                <a:solidFill>
                  <a:srgbClr val="72D4E8"/>
                </a:solidFill>
                <a:latin typeface="Aptos"/>
              </a:defRPr>
            </a:pPr>
            <a:r>
              <a:t>4/6</a:t>
            </a:r>
          </a:p>
        </p:txBody>
      </p:sp>
      <p:sp>
        <p:nvSpPr>
          <p:cNvPr id="10" name="TextBox 9"/>
          <p:cNvSpPr txBox="1"/>
          <p:nvPr/>
        </p:nvSpPr>
        <p:spPr>
          <a:xfrm>
            <a:off x="5349240" y="3611880"/>
            <a:ext cx="2011680" cy="274320"/>
          </a:xfrm>
          <a:prstGeom prst="rect">
            <a:avLst/>
          </a:prstGeom>
          <a:noFill/>
        </p:spPr>
        <p:txBody>
          <a:bodyPr wrap="square" anchor="t">
            <a:spAutoFit/>
          </a:bodyPr>
          <a:lstStyle/>
          <a:p>
            <a:pPr algn="l">
              <a:defRPr sz="1200" b="0">
                <a:solidFill>
                  <a:srgbClr val="FFFFFF"/>
                </a:solidFill>
                <a:latin typeface="Aptos"/>
              </a:defRPr>
            </a:pPr>
            <a:r>
              <a:t>risk gates passed</a:t>
            </a:r>
          </a:p>
        </p:txBody>
      </p:sp>
      <p:sp>
        <p:nvSpPr>
          <p:cNvPr id="11" name="Rectangle 10"/>
          <p:cNvSpPr/>
          <p:nvPr/>
        </p:nvSpPr>
        <p:spPr>
          <a:xfrm>
            <a:off x="8092440" y="1097280"/>
            <a:ext cx="3429000" cy="4206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481328"/>
            <a:ext cx="2788920" cy="274320"/>
          </a:xfrm>
          <a:prstGeom prst="rect">
            <a:avLst/>
          </a:prstGeom>
          <a:noFill/>
        </p:spPr>
        <p:txBody>
          <a:bodyPr wrap="square" anchor="t">
            <a:spAutoFit/>
          </a:bodyPr>
          <a:lstStyle/>
          <a:p>
            <a:pPr algn="ctr">
              <a:defRPr sz="1100" b="1">
                <a:solidFill>
                  <a:srgbClr val="003B70"/>
                </a:solidFill>
                <a:latin typeface="Aptos"/>
              </a:defRPr>
            </a:pPr>
            <a:r>
              <a:t>LIVE JUDGE DEMO</a:t>
            </a:r>
          </a:p>
        </p:txBody>
      </p:sp>
      <p:sp>
        <p:nvSpPr>
          <p:cNvPr id="13" name="TextBox 12"/>
          <p:cNvSpPr txBox="1"/>
          <p:nvPr/>
        </p:nvSpPr>
        <p:spPr>
          <a:xfrm>
            <a:off x="8412480" y="2057400"/>
            <a:ext cx="2788920" cy="777240"/>
          </a:xfrm>
          <a:prstGeom prst="rect">
            <a:avLst/>
          </a:prstGeom>
          <a:noFill/>
        </p:spPr>
        <p:txBody>
          <a:bodyPr wrap="square" anchor="t">
            <a:spAutoFit/>
          </a:bodyPr>
          <a:lstStyle/>
          <a:p>
            <a:pPr algn="ctr">
              <a:defRPr sz="1800" b="1">
                <a:solidFill>
                  <a:srgbClr val="071D49"/>
                </a:solidFill>
                <a:latin typeface="Aptos"/>
              </a:defRPr>
            </a:pPr>
            <a:r>
              <a:t>crosssignal-ai-agent</a:t>
            </a:r>
            <a:br/>
            <a:r>
              <a:t>.streamlit.app</a:t>
            </a:r>
          </a:p>
        </p:txBody>
      </p:sp>
      <p:sp>
        <p:nvSpPr>
          <p:cNvPr id="14" name="Rectangle 13"/>
          <p:cNvSpPr/>
          <p:nvPr/>
        </p:nvSpPr>
        <p:spPr>
          <a:xfrm>
            <a:off x="8412480" y="2971800"/>
            <a:ext cx="2788920" cy="27432"/>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401568"/>
            <a:ext cx="2788920" cy="274320"/>
          </a:xfrm>
          <a:prstGeom prst="rect">
            <a:avLst/>
          </a:prstGeom>
          <a:noFill/>
        </p:spPr>
        <p:txBody>
          <a:bodyPr wrap="square" anchor="t">
            <a:spAutoFit/>
          </a:bodyPr>
          <a:lstStyle/>
          <a:p>
            <a:pPr algn="ctr">
              <a:defRPr sz="1100" b="1">
                <a:solidFill>
                  <a:srgbClr val="003B70"/>
                </a:solidFill>
                <a:latin typeface="Aptos"/>
              </a:defRPr>
            </a:pPr>
            <a:r>
              <a:t>SOURCE CODE</a:t>
            </a:r>
          </a:p>
        </p:txBody>
      </p:sp>
      <p:sp>
        <p:nvSpPr>
          <p:cNvPr id="16" name="TextBox 15"/>
          <p:cNvSpPr txBox="1"/>
          <p:nvPr/>
        </p:nvSpPr>
        <p:spPr>
          <a:xfrm>
            <a:off x="8275320" y="3913632"/>
            <a:ext cx="3063240" cy="777240"/>
          </a:xfrm>
          <a:prstGeom prst="rect">
            <a:avLst/>
          </a:prstGeom>
          <a:noFill/>
        </p:spPr>
        <p:txBody>
          <a:bodyPr wrap="square" anchor="t">
            <a:spAutoFit/>
          </a:bodyPr>
          <a:lstStyle/>
          <a:p>
            <a:pPr algn="ctr">
              <a:defRPr sz="1300" b="1">
                <a:solidFill>
                  <a:srgbClr val="071D49"/>
                </a:solidFill>
                <a:latin typeface="Aptos"/>
              </a:defRPr>
            </a:pPr>
            <a:r>
              <a:t>github.com/omobolajiadeyan/</a:t>
            </a:r>
            <a:br/>
            <a:r>
              <a:t>alpaca-cross-market-agent</a:t>
            </a:r>
          </a:p>
        </p:txBody>
      </p:sp>
      <p:sp>
        <p:nvSpPr>
          <p:cNvPr id="17" name="TextBox 16"/>
          <p:cNvSpPr txBox="1"/>
          <p:nvPr/>
        </p:nvSpPr>
        <p:spPr>
          <a:xfrm>
            <a:off x="685800" y="4892040"/>
            <a:ext cx="6812280" cy="777240"/>
          </a:xfrm>
          <a:prstGeom prst="rect">
            <a:avLst/>
          </a:prstGeom>
          <a:noFill/>
        </p:spPr>
        <p:txBody>
          <a:bodyPr wrap="square" anchor="t">
            <a:spAutoFit/>
          </a:bodyPr>
          <a:lstStyle/>
          <a:p>
            <a:pPr algn="l">
              <a:defRPr sz="1700" b="1">
                <a:solidFill>
                  <a:srgbClr val="FFFFFF"/>
                </a:solidFill>
                <a:latin typeface="Aptos"/>
              </a:defRPr>
            </a:pPr>
            <a:r>
              <a:t>CrossSignal does not merely recommend a trade.</a:t>
            </a:r>
            <a:br/>
            <a:r>
              <a:t>It proves whether the trade deserves authorization.</a:t>
            </a:r>
          </a:p>
        </p:txBody>
      </p:sp>
      <p:sp>
        <p:nvSpPr>
          <p:cNvPr id="18" name="TextBox 17"/>
          <p:cNvSpPr txBox="1"/>
          <p:nvPr/>
        </p:nvSpPr>
        <p:spPr>
          <a:xfrm>
            <a:off x="685800" y="6172200"/>
            <a:ext cx="7315200" cy="274320"/>
          </a:xfrm>
          <a:prstGeom prst="rect">
            <a:avLst/>
          </a:prstGeom>
          <a:noFill/>
        </p:spPr>
        <p:txBody>
          <a:bodyPr wrap="square" anchor="t">
            <a:spAutoFit/>
          </a:bodyPr>
          <a:lstStyle/>
          <a:p>
            <a:pPr algn="l">
              <a:defRPr sz="1100" b="0">
                <a:solidFill>
                  <a:srgbClr val="72D4E8"/>
                </a:solidFill>
                <a:latin typeface="Aptos"/>
              </a:defRPr>
            </a:pPr>
            <a:r>
              <a:t>Omobolaji E Adeyan · Paper trading only · Not investment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