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Markets often disagree before they reprice. CrossSignal identifies that disagreement, challenges the conclusion, applies deterministic controls, and records whether the prediction was ultimately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Markets transmit information at different speeds. CrossSignal addresses fragmentation, weak AI accountability, and the absence of honest forward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decision passes a proof chain. Crucially, abstention is treated as a correct policy outcome when evidence fails a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official Alpaca MCP server powers sponsor-native market evidence and the paper execution lifecycle. Claude reasons, but deterministic code controls broker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defensibility comes from precommitment. A judge can inspect what the agent knew, how it was challenged, what was authorized, and what happened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CrossSignal follows NIST-aligned risk-management reasoning without claiming certification. Public infrastructure has no broker mutation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wedge is decision accountability for serious individual and small-team options users, with a path toward broker and enterprise governance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differentiator: CrossSignal makes AI trading decisions inspectable, challengeable, reproducible, and measurable. Invite judges to open the live application and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9"/>
          </a:solidFill>
          <a:ln>
            <a:solidFill>
              <a:srgbClr val="071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4864" cy="384048"/>
          </a:xfrm>
          <a:prstGeom prst="rect">
            <a:avLst/>
          </a:prstGeom>
          <a:solidFill>
            <a:srgbClr val="19B5D8"/>
          </a:solidFill>
          <a:ln>
            <a:solidFill>
              <a:srgbClr val="19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67512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2D4E8"/>
                </a:solidFill>
                <a:latin typeface="Aptos"/>
              </a:defRPr>
            </a:pPr>
            <a:r>
              <a:t>DECISION INTELLIGENCE FOR CROSS-MARKET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804672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Markets disagree.</a:t>
            </a:r>
            <a:br/>
            <a:r>
              <a:t>We trade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22191"/>
            <a:ext cx="7498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72D4E8"/>
                </a:solidFill>
                <a:latin typeface="Aptos"/>
              </a:defRPr>
            </a:pPr>
            <a:r>
              <a:t>An auditable AI trading agent that challenges, governs and scores every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-548640"/>
            <a:ext cx="4114800" cy="4114800"/>
          </a:xfrm>
          <a:prstGeom prst="roundRect">
            <a:avLst/>
          </a:prstGeom>
          <a:solidFill>
            <a:srgbClr val="19B5D8"/>
          </a:solidFill>
          <a:ln>
            <a:solidFill>
              <a:srgbClr val="19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8048" y="109728"/>
            <a:ext cx="2834640" cy="2834640"/>
          </a:xfrm>
          <a:prstGeom prst="roundRect">
            <a:avLst/>
          </a:prstGeom>
          <a:solidFill>
            <a:srgbClr val="071D49"/>
          </a:solidFill>
          <a:ln>
            <a:solidFill>
              <a:srgbClr val="071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7150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CROSSSIGNAL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264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2D4E8"/>
                </a:solidFill>
                <a:latin typeface="Aptos"/>
              </a:defRPr>
            </a:pPr>
            <a:r>
              <a:t>Created by Omobolaji E Adeyan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9B5D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1089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3657D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D5E0E9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71D49"/>
                </a:solidFill>
                <a:latin typeface="Aptos Display"/>
              </a:defRPr>
            </a:pPr>
            <a:r>
              <a:t>Trading agents generate signals.</a:t>
            </a:r>
            <a:br/>
            <a:r>
              <a:t>Few can defend a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971800"/>
            <a:ext cx="3474720" cy="233172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9B5D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1D49"/>
                </a:solidFill>
                <a:latin typeface="Aptos"/>
              </a:defRPr>
            </a:pPr>
            <a:r>
              <a:t>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3657D"/>
                </a:solidFill>
                <a:latin typeface="Aptos"/>
              </a:defRPr>
            </a:pPr>
            <a:r>
              <a:t>Single-market analysis misses information moving between rates, credit and equities.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971800"/>
            <a:ext cx="3474720" cy="233172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9B5D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657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1D49"/>
                </a:solidFill>
                <a:latin typeface="Aptos"/>
              </a:defRPr>
            </a:pPr>
            <a:r>
              <a:t>Unaccountable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16052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3657D"/>
                </a:solidFill>
                <a:latin typeface="Aptos"/>
              </a:defRPr>
            </a:pPr>
            <a:r>
              <a:t>LLM conclusions are difficult to reproduce, challenge or audit after the outcome.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2971800"/>
            <a:ext cx="3474720" cy="233172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9B5D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57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1D49"/>
                </a:solidFill>
                <a:latin typeface="Aptos"/>
              </a:defRPr>
            </a:pPr>
            <a:r>
              <a:t>Unmeasured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6052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3657D"/>
                </a:solidFill>
                <a:latin typeface="Aptos"/>
              </a:defRPr>
            </a:pPr>
            <a:r>
              <a:t>Most agents do not precommit a forecast and later score whether it was right.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3657D"/>
                </a:solidFill>
                <a:latin typeface="Aptos"/>
              </a:defRPr>
            </a:pPr>
            <a:r>
              <a:t>CROSSSIGNAL · OMOBOLAJI E ADEYAN · ALPACA PAPER TRADING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3737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365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9B5D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1089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3657D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D5E0E9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71D49"/>
                </a:solidFill>
                <a:latin typeface="Aptos Display"/>
              </a:defRPr>
            </a:pPr>
            <a:r>
              <a:t>A scientific proof chain for every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470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3657D"/>
                </a:solidFill>
                <a:latin typeface="Aptos"/>
              </a:defRPr>
            </a:pPr>
            <a:r>
              <a:t>The SIGNAL protocol turns a thesis into a governed, falsifiable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88920"/>
            <a:ext cx="1572768" cy="137160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9718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355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71D49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7033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3657D"/>
                </a:solidFill>
                <a:latin typeface="Aptos"/>
              </a:defRPr>
            </a:pPr>
            <a:r>
              <a:t>Provenance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2264" y="3246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B5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788920"/>
            <a:ext cx="1572768" cy="137160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29718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3355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71D49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37033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3657D"/>
                </a:solidFill>
                <a:latin typeface="Aptos"/>
              </a:defRPr>
            </a:pPr>
            <a:r>
              <a:t>Disagreement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2504" y="3246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B5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788920"/>
            <a:ext cx="1572768" cy="1371600"/>
          </a:xfrm>
          <a:prstGeom prst="rect">
            <a:avLst/>
          </a:prstGeom>
          <a:solidFill>
            <a:srgbClr val="071D49"/>
          </a:solidFill>
          <a:ln>
            <a:solidFill>
              <a:srgbClr val="071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9718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355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7033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2D4E8"/>
                </a:solidFill>
                <a:latin typeface="Aptos"/>
              </a:defRPr>
            </a:pPr>
            <a:r>
              <a:t>Falsification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4" y="3246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B5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788920"/>
            <a:ext cx="1572768" cy="137160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9718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355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71D49"/>
                </a:solidFill>
                <a:latin typeface="Aptos"/>
              </a:defRPr>
            </a:pPr>
            <a:r>
              <a:t>Stress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7033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3657D"/>
                </a:solidFill>
                <a:latin typeface="Aptos"/>
              </a:defRPr>
            </a:pPr>
            <a:r>
              <a:t>Greeks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2984" y="3246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B5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2788920"/>
            <a:ext cx="1572768" cy="1371600"/>
          </a:xfrm>
          <a:prstGeom prst="rect">
            <a:avLst/>
          </a:prstGeom>
          <a:solidFill>
            <a:srgbClr val="071D49"/>
          </a:solidFill>
          <a:ln>
            <a:solidFill>
              <a:srgbClr val="071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29718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3355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Seal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37033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2D4E8"/>
                </a:solidFill>
                <a:latin typeface="Aptos"/>
              </a:defRPr>
            </a:pPr>
            <a:r>
              <a:t>SHA-256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3224" y="3246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B5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2788920"/>
            <a:ext cx="1572768" cy="137160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8712" y="29718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68712" y="3355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71D49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8712" y="37033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3657D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800600"/>
            <a:ext cx="10972800" cy="658368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00176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ABSTAIN is a successful outcome when evidence or execution quality is insufficient.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3657D"/>
                </a:solidFill>
                <a:latin typeface="Aptos"/>
              </a:defRPr>
            </a:pPr>
            <a:r>
              <a:t>CROSSSIGNAL · OMOBOLAJI E ADEYAN · ALPACA PAPER TRADING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3737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365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9B5D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1089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3657D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D5E0E9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71D49"/>
                </a:solidFill>
                <a:latin typeface="Aptos Display"/>
              </a:defRPr>
            </a:pPr>
            <a:r>
              <a:t>Alpaca is the market and execution backbone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40280"/>
            <a:ext cx="2971800" cy="306324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LIVE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71D49"/>
                </a:solidFill>
                <a:latin typeface="Aptos"/>
              </a:defRPr>
            </a:pPr>
            <a:r>
              <a:t>•  Stocks and options</a:t>
            </a:r>
          </a:p>
          <a:p>
            <a:pPr>
              <a:spcAft>
                <a:spcPts val="1400"/>
              </a:spcAft>
              <a:defRPr sz="1500">
                <a:solidFill>
                  <a:srgbClr val="071D49"/>
                </a:solidFill>
                <a:latin typeface="Aptos"/>
              </a:defRPr>
            </a:pPr>
            <a:r>
              <a:t>•  Quotes, volume and Greeks</a:t>
            </a:r>
          </a:p>
          <a:p>
            <a:pPr>
              <a:spcAft>
                <a:spcPts val="1400"/>
              </a:spcAft>
              <a:defRPr sz="1500">
                <a:solidFill>
                  <a:srgbClr val="071D49"/>
                </a:solidFill>
                <a:latin typeface="Aptos"/>
              </a:defRPr>
            </a:pPr>
            <a:r>
              <a:t>•  Account and positions</a:t>
            </a:r>
          </a:p>
          <a:p>
            <a:pPr>
              <a:spcAft>
                <a:spcPts val="1400"/>
              </a:spcAft>
              <a:defRPr sz="1500">
                <a:solidFill>
                  <a:srgbClr val="071D49"/>
                </a:solidFill>
                <a:latin typeface="Aptos"/>
              </a:defRPr>
            </a:pPr>
            <a:r>
              <a:t>•  Alpaca News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240280"/>
            <a:ext cx="2971800" cy="3063240"/>
          </a:xfrm>
          <a:prstGeom prst="rect">
            <a:avLst/>
          </a:prstGeom>
          <a:solidFill>
            <a:srgbClr val="071D49"/>
          </a:solidFill>
          <a:ln>
            <a:solidFill>
              <a:srgbClr val="071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56032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2D4E8"/>
                </a:solidFill>
                <a:latin typeface="Aptos"/>
              </a:defRPr>
            </a:pPr>
            <a:r>
              <a:t>CROSSSIGNAL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632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Claude macro synthesis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Deterministic construction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Risk and stability gates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Sealed Decision Contract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2240280"/>
            <a:ext cx="2971800" cy="306324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56032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PAPER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0632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71D49"/>
                </a:solidFill>
                <a:latin typeface="Aptos"/>
              </a:defRPr>
            </a:pPr>
            <a:r>
              <a:t>•  All-leg preflight</a:t>
            </a:r>
          </a:p>
          <a:p>
            <a:pPr>
              <a:spcAft>
                <a:spcPts val="1400"/>
              </a:spcAft>
              <a:defRPr sz="1500">
                <a:solidFill>
                  <a:srgbClr val="071D49"/>
                </a:solidFill>
                <a:latin typeface="Aptos"/>
              </a:defRPr>
            </a:pPr>
            <a:r>
              <a:t>•  Multi-leg paper orders</a:t>
            </a:r>
          </a:p>
          <a:p>
            <a:pPr>
              <a:spcAft>
                <a:spcPts val="1400"/>
              </a:spcAft>
              <a:defRPr sz="1500">
                <a:solidFill>
                  <a:srgbClr val="071D49"/>
                </a:solidFill>
                <a:latin typeface="Aptos"/>
              </a:defRPr>
            </a:pPr>
            <a:r>
              <a:t>•  Fill reconciliation</a:t>
            </a:r>
          </a:p>
          <a:p>
            <a:pPr>
              <a:spcAft>
                <a:spcPts val="1400"/>
              </a:spcAft>
              <a:defRPr sz="1500">
                <a:solidFill>
                  <a:srgbClr val="071D49"/>
                </a:solidFill>
                <a:latin typeface="Aptos"/>
              </a:defRPr>
            </a:pPr>
            <a:r>
              <a:t>•  Explicit recovery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474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9B5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3474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9B5D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3657D"/>
                </a:solidFill>
                <a:latin typeface="Aptos"/>
              </a:defRPr>
            </a:pPr>
            <a:r>
              <a:t>CROSSSIGNAL · OMOBOLAJI E ADEYAN · ALPACA PAPER TRADING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3737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365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9B5D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1089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3657D"/>
                </a:solidFill>
                <a:latin typeface="Aptos"/>
              </a:defRPr>
            </a:pPr>
            <a:r>
              <a:t>DEFENSIBILITY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D5E0E9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71D49"/>
                </a:solidFill>
                <a:latin typeface="Aptos Display"/>
              </a:defRPr>
            </a:pPr>
            <a:r>
              <a:t>Every AI trade is placed under oath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40280"/>
            <a:ext cx="5394960" cy="3200400"/>
          </a:xfrm>
          <a:prstGeom prst="rect">
            <a:avLst/>
          </a:prstGeom>
          <a:solidFill>
            <a:srgbClr val="071D49"/>
          </a:solidFill>
          <a:ln>
            <a:solidFill>
              <a:srgbClr val="071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2D4E8"/>
                </a:solidFill>
                <a:latin typeface="Aptos"/>
              </a:defRPr>
            </a:pPr>
            <a:r>
              <a:t>BEFORE THE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Decision Replay reconstructs only evidence known at decision time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Adversarial review challenges the thesis before authorization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SHA-256 contract exposes any post-outcome rewriting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2240280"/>
            <a:ext cx="5394960" cy="3200400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60604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AFTER THE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315468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71D49"/>
                </a:solidFill>
                <a:latin typeface="Aptos"/>
              </a:defRPr>
            </a:pPr>
            <a:r>
              <a:t>•  Alpaca Greeks drive transparent scenario stress</a:t>
            </a:r>
          </a:p>
          <a:p>
            <a:pPr>
              <a:spcAft>
                <a:spcPts val="1400"/>
              </a:spcAft>
              <a:defRPr sz="1600">
                <a:solidFill>
                  <a:srgbClr val="071D49"/>
                </a:solidFill>
                <a:latin typeface="Aptos"/>
              </a:defRPr>
            </a:pPr>
            <a:r>
              <a:t>•  Agent, inverse and cash comparisons reduce storytelling</a:t>
            </a:r>
          </a:p>
          <a:p>
            <a:pPr>
              <a:spcAft>
                <a:spcPts val="1400"/>
              </a:spcAft>
              <a:defRPr sz="1600">
                <a:solidFill>
                  <a:srgbClr val="071D49"/>
                </a:solidFill>
                <a:latin typeface="Aptos"/>
              </a:defRPr>
            </a:pPr>
            <a:r>
              <a:t>•  Portable evidence receipt lets judges verify the proof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3657D"/>
                </a:solidFill>
                <a:latin typeface="Aptos"/>
              </a:defRPr>
            </a:pPr>
            <a:r>
              <a:t>CROSSSIGNAL · OMOBOLAJI E ADEYAN · ALPACA PAPER TRADING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3737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365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9B5D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1089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3657D"/>
                </a:solidFill>
                <a:latin typeface="Aptos"/>
              </a:defRPr>
            </a:pPr>
            <a:r>
              <a:t>TRUST AND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D5E0E9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71D49"/>
                </a:solidFill>
                <a:latin typeface="Aptos Display"/>
              </a:defRPr>
            </a:pPr>
            <a:r>
              <a:t>Safe by architecture—not by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77440"/>
            <a:ext cx="3429000" cy="1024128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377440"/>
            <a:ext cx="73152" cy="1024128"/>
          </a:xfrm>
          <a:prstGeom prst="rect">
            <a:avLst/>
          </a:prstGeom>
          <a:solidFill>
            <a:srgbClr val="1E8E53"/>
          </a:solidFill>
          <a:ln>
            <a:solidFill>
              <a:srgbClr val="1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71D49"/>
                </a:solidFill>
                <a:latin typeface="Aptos"/>
              </a:defRPr>
            </a:pPr>
            <a:r>
              <a:t>Public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6032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3657D"/>
                </a:solidFill>
                <a:latin typeface="Aptos"/>
              </a:defRPr>
            </a:pPr>
            <a:r>
              <a:t>Read-only replay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2377440"/>
            <a:ext cx="3429000" cy="1024128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2377440"/>
            <a:ext cx="73152" cy="1024128"/>
          </a:xfrm>
          <a:prstGeom prst="rect">
            <a:avLst/>
          </a:prstGeom>
          <a:solidFill>
            <a:srgbClr val="1E8E53"/>
          </a:solidFill>
          <a:ln>
            <a:solidFill>
              <a:srgbClr val="1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56032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71D49"/>
                </a:solidFill>
                <a:latin typeface="Aptos"/>
              </a:defRPr>
            </a:pPr>
            <a:r>
              <a:t>Broker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256032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3657D"/>
                </a:solidFill>
                <a:latin typeface="Aptos"/>
              </a:defRPr>
            </a:pPr>
            <a:r>
              <a:t>Exact paper endpoint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2377440"/>
            <a:ext cx="3429000" cy="1024128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2377440"/>
            <a:ext cx="73152" cy="1024128"/>
          </a:xfrm>
          <a:prstGeom prst="rect">
            <a:avLst/>
          </a:prstGeom>
          <a:solidFill>
            <a:srgbClr val="1E8E53"/>
          </a:solidFill>
          <a:ln>
            <a:solidFill>
              <a:srgbClr val="1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56032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71D49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256032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3657D"/>
                </a:solidFill>
                <a:latin typeface="Aptos"/>
              </a:defRPr>
            </a:pPr>
            <a:r>
              <a:t>No direct tool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3429000" cy="1024128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703320"/>
            <a:ext cx="73152" cy="1024128"/>
          </a:xfrm>
          <a:prstGeom prst="rect">
            <a:avLst/>
          </a:prstGeom>
          <a:solidFill>
            <a:srgbClr val="1E8E53"/>
          </a:solidFill>
          <a:ln>
            <a:solidFill>
              <a:srgbClr val="1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71D49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8862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3657D"/>
                </a:solidFill>
                <a:latin typeface="Aptos"/>
              </a:defRPr>
            </a:pPr>
            <a:r>
              <a:t>Secret-free receipts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1688" y="3703320"/>
            <a:ext cx="3429000" cy="1024128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3703320"/>
            <a:ext cx="73152" cy="1024128"/>
          </a:xfrm>
          <a:prstGeom prst="rect">
            <a:avLst/>
          </a:prstGeom>
          <a:solidFill>
            <a:srgbClr val="C67E00"/>
          </a:solidFill>
          <a:ln>
            <a:solidFill>
              <a:srgbClr val="C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8862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71D49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38862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3657D"/>
                </a:solidFill>
                <a:latin typeface="Aptos"/>
              </a:defRPr>
            </a:pPr>
            <a:r>
              <a:t>Explicit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9016" y="3703320"/>
            <a:ext cx="3429000" cy="1024128"/>
          </a:xfrm>
          <a:prstGeom prst="rect">
            <a:avLst/>
          </a:prstGeom>
          <a:solidFill>
            <a:srgbClr val="F2F7FB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9016" y="3703320"/>
            <a:ext cx="73152" cy="1024128"/>
          </a:xfrm>
          <a:prstGeom prst="rect">
            <a:avLst/>
          </a:prstGeom>
          <a:solidFill>
            <a:srgbClr val="C67E00"/>
          </a:solidFill>
          <a:ln>
            <a:solidFill>
              <a:srgbClr val="C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38862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71D49"/>
                </a:solidFill>
                <a:latin typeface="Aptos"/>
              </a:defRPr>
            </a:pPr>
            <a:r>
              <a:t>News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38862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3657D"/>
                </a:solidFill>
                <a:latin typeface="Aptos"/>
              </a:defRPr>
            </a:pPr>
            <a:r>
              <a:t>Untrusted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184648"/>
            <a:ext cx="10972800" cy="530352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4924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NIST AI RMF and SSDF aligned · voluntary and tailorable · not NIST-certified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3657D"/>
                </a:solidFill>
                <a:latin typeface="Aptos"/>
              </a:defRPr>
            </a:pPr>
            <a:r>
              <a:t>CROSSSIGNAL · OMOBOLAJI E ADEYAN · ALPACA PAPER TRADING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3737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365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9B5D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1089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3657D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D5E0E9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71D49"/>
                </a:solidFill>
                <a:latin typeface="Aptos Display"/>
              </a:defRPr>
            </a:pPr>
            <a:r>
              <a:t>The accountability layer for AI-assisted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WHO NEEDS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71D49"/>
                </a:solidFill>
                <a:latin typeface="Aptos"/>
              </a:defRPr>
            </a:pPr>
            <a:r>
              <a:t>•  Active options traders</a:t>
            </a:r>
          </a:p>
          <a:p>
            <a:pPr>
              <a:spcAft>
                <a:spcPts val="1400"/>
              </a:spcAft>
              <a:defRPr sz="1800">
                <a:solidFill>
                  <a:srgbClr val="071D49"/>
                </a:solidFill>
                <a:latin typeface="Aptos"/>
              </a:defRPr>
            </a:pPr>
            <a:r>
              <a:t>•  Small investment teams</a:t>
            </a:r>
          </a:p>
          <a:p>
            <a:pPr>
              <a:spcAft>
                <a:spcPts val="1400"/>
              </a:spcAft>
              <a:defRPr sz="1800">
                <a:solidFill>
                  <a:srgbClr val="071D49"/>
                </a:solidFill>
                <a:latin typeface="Aptos"/>
              </a:defRPr>
            </a:pPr>
            <a:r>
              <a:t>•  Broker and platform providers</a:t>
            </a:r>
          </a:p>
          <a:p>
            <a:pPr>
              <a:spcAft>
                <a:spcPts val="1400"/>
              </a:spcAft>
              <a:defRPr sz="1800">
                <a:solidFill>
                  <a:srgbClr val="071D49"/>
                </a:solidFill>
                <a:latin typeface="Aptos"/>
              </a:defRPr>
            </a:pPr>
            <a:r>
              <a:t>•  Risk and compliance teams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2240280"/>
            <a:ext cx="18288" cy="3108960"/>
          </a:xfrm>
          <a:prstGeom prst="rect">
            <a:avLst/>
          </a:prstGeom>
          <a:solidFill>
            <a:srgbClr val="D5E0E9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286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HOW IT GROWS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74320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71576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71D49"/>
                </a:solidFill>
                <a:latin typeface="Aptos"/>
              </a:defRPr>
            </a:pPr>
            <a:r>
              <a:t>Professional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35584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328416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71D49"/>
                </a:solidFill>
                <a:latin typeface="Aptos"/>
              </a:defRPr>
            </a:pPr>
            <a:r>
              <a:t>Team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968496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941063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71D49"/>
                </a:solidFill>
                <a:latin typeface="Aptos"/>
              </a:defRPr>
            </a:pPr>
            <a:r>
              <a:t>Broker 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581144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9B5D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55371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71D49"/>
                </a:solidFill>
                <a:latin typeface="Aptos"/>
              </a:defRPr>
            </a:pPr>
            <a:r>
              <a:t>Enterprise policy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2240280"/>
            <a:ext cx="1554480" cy="3108960"/>
          </a:xfrm>
          <a:prstGeom prst="rect">
            <a:avLst/>
          </a:prstGeom>
          <a:solidFill>
            <a:srgbClr val="071D49"/>
          </a:solidFill>
          <a:ln>
            <a:solidFill>
              <a:srgbClr val="071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22992" y="25603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72D4E8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1552" y="3154680"/>
            <a:ext cx="12344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Faster</a:t>
            </a:r>
            <a:br/>
            <a:r>
              <a:t>review.</a:t>
            </a:r>
            <a:br/>
            <a:r>
              <a:t>Stronger</a:t>
            </a:r>
            <a:br/>
            <a:r>
              <a:t>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3657D"/>
                </a:solidFill>
                <a:latin typeface="Aptos"/>
              </a:defRPr>
            </a:pPr>
            <a:r>
              <a:t>CROSSSIGNAL · OMOBOLAJI E ADEYAN · ALPACA PAPER TRADING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3737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365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9"/>
          </a:solidFill>
          <a:ln>
            <a:solidFill>
              <a:srgbClr val="071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2D4E8"/>
                </a:solidFill>
                <a:latin typeface="Aptos"/>
              </a:defRPr>
            </a:pPr>
            <a:r>
              <a:t>THE PROOF IS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8046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Inspect the intelligence.</a:t>
            </a:r>
            <a:br/>
            <a:r>
              <a:t>Challenge the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72D4E8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118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automated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06324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72D4E8"/>
                </a:solidFill>
                <a:latin typeface="Aptos"/>
              </a:defRPr>
            </a:pPr>
            <a:r>
              <a:t>6/6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6118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Greeks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06324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72D4E8"/>
                </a:solidFill>
                <a:latin typeface="Aptos"/>
              </a:defRPr>
            </a:pPr>
            <a:r>
              <a:t>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36118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scoring horizon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097280"/>
            <a:ext cx="342900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813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03B70"/>
                </a:solidFill>
                <a:latin typeface="Aptos"/>
              </a:defRPr>
            </a:pPr>
            <a:r>
              <a:t>LIVE JUDGE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57400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71D49"/>
                </a:solidFill>
                <a:latin typeface="Aptos"/>
              </a:defRPr>
            </a:pPr>
            <a:r>
              <a:t>crosssignal-ai-agent</a:t>
            </a:r>
            <a:br/>
            <a:r>
              <a:t>.streamlit.app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971800"/>
            <a:ext cx="2788920" cy="27432"/>
          </a:xfrm>
          <a:prstGeom prst="rect">
            <a:avLst/>
          </a:prstGeom>
          <a:solidFill>
            <a:srgbClr val="19B5D8"/>
          </a:solidFill>
          <a:ln>
            <a:solidFill>
              <a:srgbClr val="19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40156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03B70"/>
                </a:solidFill>
                <a:latin typeface="Aptos"/>
              </a:defRPr>
            </a:pPr>
            <a:r>
              <a:t>SOURCE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913632"/>
            <a:ext cx="3063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71D49"/>
                </a:solidFill>
                <a:latin typeface="Aptos"/>
              </a:defRPr>
            </a:pPr>
            <a:r>
              <a:t>github.com/omobolajiadeyan/</a:t>
            </a:r>
            <a:br/>
            <a:r>
              <a:t>alpaca-cross-market-agent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6812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CrossSignal does not merely recommend a trade.</a:t>
            </a:r>
            <a:br/>
            <a:r>
              <a:t>It proves whether the trade deserves authorization.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2D4E8"/>
                </a:solidFill>
                <a:latin typeface="Aptos"/>
              </a:defRPr>
            </a:pPr>
            <a:r>
              <a:t>Omobolaji E Adeyan · Paper trading only · Not investment advice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